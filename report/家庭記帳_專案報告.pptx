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4b43316f-d365-7a8f-13dd-7b3b7e9c7b72}">
          <p14:sldIdLst>
            <p14:sldId id="256"/>
            <p14:sldId id="257"/>
            <p14:sldId id="258"/>
            <p14:sldId id="259"/>
          </p14:sldIdLst>
        </p14:section>
        <p14:section name="開始使用" id="{8a7f4a24-5950-e1eb-5505-6b46d2274b9f}">
          <p14:sldIdLst>
            <p14:sldId id="260"/>
            <p14:sldId id="261"/>
          </p14:sldIdLst>
        </p14:section>
        <p14:section name="記帳" id="{4e85259b-c9d9-636e-f902-c159259d0b40}">
          <p14:sldIdLst>
            <p14:sldId id="262"/>
            <p14:sldId id="263"/>
            <p14:sldId id="264"/>
            <p14:sldId id="265"/>
            <p14:sldId id="266"/>
          </p14:sldIdLst>
        </p14:section>
        <p14:section name="活動" id="{e3cf407c-06c7-892e-8519-8c249205c88c}">
          <p14:sldIdLst>
            <p14:sldId id="267"/>
            <p14:sldId id="268"/>
            <p14:sldId id="269"/>
            <p14:sldId id="270"/>
            <p14:sldId id="271"/>
          </p14:sldIdLst>
        </p14:section>
        <p14:section name="家庭" id="{3e2692ed-1ab9-ef79-c51b-8423d7afcbc6}">
          <p14:sldIdLst>
            <p14:sldId id="272"/>
            <p14:sldId id="273"/>
            <p14:sldId id="274"/>
            <p14:sldId id="275"/>
          </p14:sldIdLst>
        </p14:section>
        <p14:section name="回顧" id="{68591e51-a74a-1cb2-d869-da5e165d5ee4}">
          <p14:sldIdLst>
            <p14:sldId id="276"/>
            <p14:sldId id="277"/>
          </p14:sldIdLst>
        </p14:section>
        <p14:section name="手機" id="{19b6e3bd-a77b-9770-f59e-3eeaec95747e}">
          <p14:sldIdLst>
            <p14:sldId id="278"/>
          </p14:sldIdLst>
        </p14:section>
        <p14:section name="結語" id="{365cc928-12c1-1d75-0bfc-27e972af876d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大家好，我們是家庭記帳 FamBudget。接下來用一個空帳號，把整個產品從註冊到看建議完整走一輪，每一頁都會講到畫面上的細節。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我們想解決三件事：記帳太麻煩、錢分散在不同地方算不清楚、看了數字不知道怎麼辦。對應的做法是：說一段話由 AI 拆帳；個人、活動、家庭三種視角；以及每個數字都有出處的 AI 財務建議。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這個產品有三種視角，用的是同一套記帳。個人是自己的總帳本；活動是個人底下的小帳本，例如一趟旅行；家庭是全家合起來看。右上角一鍵切換，頁面名稱也跟著換，看名字就知道現在算的是誰的錢。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這是還沒登入時看到的首頁。接下來照這六個步驟走：開始使用、記帳、活動、家庭、回顧，最後看手機版。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註冊只要名字、email、密碼，點了驗證信才開始。接著三步設定：收入與存錢、理財習慣、主題。收入的部分可以選收入怎麼來和怎麼估；月薪設了入帳日，到了那天會自動記一筆。每一步都可以跳過。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最後一步挑主題，按一下整個系統就換成那個樣子，設定存在帳號上。進到總覽，第一次會問要不要導覽，照畫面上的東西一步一步帶。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總覽。上面兩條是本月收入和支出，點進去只看那一類。中間最大的數字是這個月還可以花多少：收入減掉每月想存就是可花上限，再扣掉已經花的。下面是進度、常用功能，最下面是今天的紀錄和預算的分頁面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記帳時直接打一段話，例如「早餐蛋餅 45，捷運 30，午餐便當 95，晚上全聯買牙膏 89」。AI 把它拆成四筆：每一筆標出原句、日期自動換算、金額、分類都填好，連店家全聯都抓出來。沒講的金額會留空讓你補，不會亂填。看過沒問題，按確認一次寫入。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記帳準不準，我們用同一份 101 題來量：上線用的 AI 整題完全正確 100.0%，只用規則是 63.4%；一句話大約 2.06 秒就拆好。沒講金額的時候，AI 不會自己亂填。AI 給的每一筆，程式還會逐筆對回原句再確認一次；最後每一筆都由使用者看過、按確認才寫入。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記完回到總覽，下方的面板第一頁就是今天的紀錄，格式跟明細一樣，可以直接修改或刪除。刪除要輸入自己的密碼，避免誤刪。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個人帳本放所有紀錄，可以依收支、來源、活動篩選；每一筆都能修改，也可以選取多筆一次刪除，刪除要輸入密碼。上個月以前的紀錄會自動收進年月包裹，畫面不會越來越長。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活動是個人底下的小帳本，旅行、聚餐都可以開一個。填名稱和一句說明就好。開始日可以訂在以後，這樣會先放在預先規劃，到了那天才放進活動選單，並通知每位成員。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右上角的活動選單只放進行中的活動，預先規劃的要到開始日才會出現，同時通知每位成員。選了某個活動，總覽、帳本、財務狀況、建議都會換成這個活動的；按回到個人就回來。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點開活動可以改所有設定，但只有建立者能改，避免大家各改各的。邀請朋友可以用完整的 email 找人，也可以產生只能用一次的邀請碼。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切到活動之後，總覽的主卡變成這個活動是什麼：說明、期間、成員、筆數和目標金額的進度。上面的收支只算活動裡的帳，不會混進個人。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換到被邀請的人這邊，活動管理最上面就是邀請，按加入就進來了。成員看得到所有資訊，但設定只有建立者能改。想離開可以退出，退出時可以把自己記的那幾筆合併回個人帳本。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接著建立家庭、邀請家人。用完整的 email 找到人，選好身分再送出。換成孩子的帳號，總覽最上面就是邀請，按加入就進來了。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孩子加入家庭之後，家長按開始照看，才看得到孩子的帳、才能給零用金；孩子也看得到是誰在照看。反過來，孩子看不到家長的帳，也看不到家庭的帳務。孩子可以自己退出家庭。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家長在孩子的頁面設定每月零用金和發放日。到了發放日，系統自動記一對帳：家長那邊一筆支出、孩子那邊一筆收入；之後改金額只會調原本那一對，不會多記。孩子的鈴鐺會馬上收到通知。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所有通知都即時進鈴鐺：家庭和活動的邀請、零用金、固定收入入帳、目標金額到了、活動開始、孩子記帳，還有花到自己設的比例時的提醒。每一則都可以刪。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回顧的第一步是統計：收支對照、近六個月的趨勢，還有錢花在哪。這些數字跟總覽、明細是同一個來源。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財務建議按一下就產生。每一則有等級、標題、AI 寫的說明，下面的依據列出每個數字和算式——這些數字由資料庫先算好，AI 只負責寫成好懂的句子；最後是具體的建議。檢查不通過的那則不會顯示，也不會推薦投資或保險。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同一套功能在手機上也能用：底部是分頁列，總覽和表格都照手機寬度重新排過。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最後用一頁整理今天看到的：開始使用、記帳、活動、家庭、回顧五大塊，手機、平板、電腦都能用。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接下來要上線的有兩件事。第一，AI 從現在的 Anthropic API，換成 Hugging Face 上的開源模型：用我們的記帳資料再訓練，上線前用同一份題目評測，準確率跟現在一樣才換；部署在 Hugging Face Space 或自己的伺服器，就不用再付商業 API 的費用。第二，記帳更省事：除了打字，還能直接說一段話，或拍一張收據、發票，一樣由 AI 拆成好幾筆，最後由你確認才寫入。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以上是完整用一輪的過程，完整的操作影片大約六分鐘。謝謝大家，歡迎提問。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家庭記帳 FamBudget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家庭記帳 FamBudget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產品介紹：說一段話就記好帳，個人、活動、家庭一起看得懂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冠文・宇傑・明樺・囷洧　｜　2026 年 10 月　｜　LLM 應用期末專題</a:t>
            </a:r>
            <a:endParaRPr lang="en-US" sz="1600" dirty="0"/>
          </a:p>
        </p:txBody>
      </p:sp>
      <p:sp>
        <p:nvSpPr>
          <p:cNvPr id="5" name="qr-cover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cover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cover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為什麼做這個產品</a:t>
            </a:r>
            <a:endParaRPr lang="en-US" sz="3200" dirty="0"/>
          </a:p>
        </p:txBody>
      </p:sp>
      <p:sp>
        <p:nvSpPr>
          <p:cNvPr id="3" name="why-0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hy-ic-0-circl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hy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記帳太麻煩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早餐、午餐、加油……一筆一筆選日期、分類、填金額，三天就放棄。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說一段話，AI 拆成好幾筆、欄位都填好，你只要看過按確認</a:t>
            </a:r>
            <a:endParaRPr lang="en-US" sz="1500" dirty="0"/>
          </a:p>
        </p:txBody>
      </p:sp>
      <p:sp>
        <p:nvSpPr>
          <p:cNvPr id="10" name="why-1"/>
          <p:cNvSpPr/>
          <p:nvPr/>
        </p:nvSpPr>
        <p:spPr>
          <a:xfrm>
            <a:off x="429768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why-ic-1-circle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why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275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錢分散在不同地方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自己的生活費、一趟旅行、家裡給孩子的零用錢，混在一起算不清楚。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個人、活動、家庭三種視角，各算各的，也能合起來看</a:t>
            </a:r>
            <a:endParaRPr lang="en-US" sz="1500" dirty="0"/>
          </a:p>
        </p:txBody>
      </p:sp>
      <p:sp>
        <p:nvSpPr>
          <p:cNvPr id="17" name="why-2"/>
          <p:cNvSpPr/>
          <p:nvPr/>
        </p:nvSpPr>
        <p:spPr>
          <a:xfrm>
            <a:off x="804672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why-ic-2-circle"/>
          <p:cNvSpPr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why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9275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看了數字不知道怎麼辦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知道花了多少，卻不知道算不算多、下個月該怎麼調。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財務建議，每個數字都附算式、找得到出處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三種視角，同一套記帳</a:t>
            </a:r>
            <a:endParaRPr lang="en-US" sz="3200" dirty="0"/>
          </a:p>
        </p:txBody>
      </p:sp>
      <p:sp>
        <p:nvSpPr>
          <p:cNvPr id="3" name="v2-view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v2-view-0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個人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自己的總帳本：這個月還可以花多少、今天記了什麼</a:t>
            </a:r>
            <a:endParaRPr lang="en-US" sz="1400" dirty="0"/>
          </a:p>
        </p:txBody>
      </p:sp>
      <p:sp>
        <p:nvSpPr>
          <p:cNvPr id="7" name="v2-view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v2-view-1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9768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活動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個人底下的小帳本：一趟旅行、一場聚餐，有自己的總覽和目標</a:t>
            </a:r>
            <a:endParaRPr lang="en-US" sz="1400" dirty="0"/>
          </a:p>
        </p:txBody>
      </p:sp>
      <p:sp>
        <p:nvSpPr>
          <p:cNvPr id="11" name="v2-view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view-2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家庭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全家合起來看：家庭的收支、長期目標、照看孩子與零用金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右上角一鍵切換「個人｜家庭」、選活動；底部分頁和常用功能跟著換名字：個人帳本、活動帳本、家庭帳本。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完整用一輪：六個步驟</a:t>
            </a:r>
            <a:endParaRPr lang="en-US" sz="3200" dirty="0"/>
          </a:p>
        </p:txBody>
      </p:sp>
      <p:sp>
        <p:nvSpPr>
          <p:cNvPr id="3" name="demo-landing-frame"/>
          <p:cNvSpPr/>
          <p:nvPr/>
        </p:nvSpPr>
        <p:spPr>
          <a:xfrm>
            <a:off x="466344" y="1289304"/>
            <a:ext cx="6199632" cy="3936492"/>
          </a:xfrm>
          <a:prstGeom prst="roundRect">
            <a:avLst>
              <a:gd name="adj" fmla="val 2787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demo-landing" descr="C:\Users\User\Desktop\agent\final_project\report\assets\demo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771900"/>
          </a:xfrm>
          <a:prstGeom prst="rect">
            <a:avLst/>
          </a:prstGeom>
        </p:spPr>
      </p:pic>
      <p:sp>
        <p:nvSpPr>
          <p:cNvPr id="5" name="flow-0-circle"/>
          <p:cNvSpPr/>
          <p:nvPr/>
        </p:nvSpPr>
        <p:spPr>
          <a:xfrm>
            <a:off x="6949440" y="13258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low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32" y="1463772"/>
            <a:ext cx="254569" cy="2545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35240" y="1289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　開始使用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註冊、收驗證信、設定收入與存錢</a:t>
            </a:r>
            <a:endParaRPr lang="en-US" sz="1250" dirty="0"/>
          </a:p>
        </p:txBody>
      </p:sp>
      <p:sp>
        <p:nvSpPr>
          <p:cNvPr id="9" name="flow-1-circle"/>
          <p:cNvSpPr/>
          <p:nvPr/>
        </p:nvSpPr>
        <p:spPr>
          <a:xfrm>
            <a:off x="6949440" y="211226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low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332" y="2250156"/>
            <a:ext cx="254569" cy="2545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35240" y="2075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　記帳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635240" y="2414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說一句話，AI 幫你拆成好幾筆</a:t>
            </a:r>
            <a:endParaRPr lang="en-US" sz="1250" dirty="0"/>
          </a:p>
        </p:txBody>
      </p:sp>
      <p:sp>
        <p:nvSpPr>
          <p:cNvPr id="13" name="flow-2-circle"/>
          <p:cNvSpPr/>
          <p:nvPr/>
        </p:nvSpPr>
        <p:spPr>
          <a:xfrm>
            <a:off x="6949440" y="289864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low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332" y="3036540"/>
            <a:ext cx="254569" cy="25456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35240" y="2862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　活動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6352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旅行、聚餐各記各的，也能先規劃</a:t>
            </a:r>
            <a:endParaRPr lang="en-US" sz="1250" dirty="0"/>
          </a:p>
        </p:txBody>
      </p:sp>
      <p:sp>
        <p:nvSpPr>
          <p:cNvPr id="17" name="flow-3-circle"/>
          <p:cNvSpPr/>
          <p:nvPr/>
        </p:nvSpPr>
        <p:spPr>
          <a:xfrm>
            <a:off x="6949440" y="368503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low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332" y="3822924"/>
            <a:ext cx="254569" cy="25456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35240" y="3648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　家庭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63524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邀請家人、照看孩子，零用金自動記</a:t>
            </a:r>
            <a:endParaRPr lang="en-US" sz="1250" dirty="0"/>
          </a:p>
        </p:txBody>
      </p:sp>
      <p:sp>
        <p:nvSpPr>
          <p:cNvPr id="21" name="flow-4-circle"/>
          <p:cNvSpPr/>
          <p:nvPr/>
        </p:nvSpPr>
        <p:spPr>
          <a:xfrm>
            <a:off x="6949440" y="447141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flow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332" y="4609308"/>
            <a:ext cx="254569" cy="25456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3524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　回顧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635240" y="4773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錢花在哪；AI 財務建議，數字都有出處</a:t>
            </a:r>
            <a:endParaRPr lang="en-US" sz="1250" dirty="0"/>
          </a:p>
        </p:txBody>
      </p:sp>
      <p:sp>
        <p:nvSpPr>
          <p:cNvPr id="25" name="flow-5-circle"/>
          <p:cNvSpPr/>
          <p:nvPr/>
        </p:nvSpPr>
        <p:spPr>
          <a:xfrm>
            <a:off x="6949440" y="52578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low-5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7332" y="5395692"/>
            <a:ext cx="254569" cy="25456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35240" y="5221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　手機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7635240" y="5559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同一套功能，手機上一樣好用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開始使用：註冊後三步設定</a:t>
            </a:r>
            <a:endParaRPr lang="en-US" sz="3200" dirty="0"/>
          </a:p>
        </p:txBody>
      </p:sp>
      <p:sp>
        <p:nvSpPr>
          <p:cNvPr id="5" name="v2-tri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tri-0" descr="C:\Users\User\Desktop\agent\final_project\report\assets\demo\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註冊：名字、email、密碼（至少 8 個字）。寄驗證信，點了才開始用。</a:t>
            </a:r>
            <a:endParaRPr lang="en-US" sz="1400" dirty="0"/>
          </a:p>
        </p:txBody>
      </p:sp>
      <p:sp>
        <p:nvSpPr>
          <p:cNvPr id="8" name="v2-tri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9" name="v2-tri-1" descr="C:\Users\User\Desktop\agent\final_project\report\assets\demo\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收入與存錢：收入怎麼來（月薪、打工、接案…）、怎麼估、每月想存多少。月薪設入帳日，到了自動記。</a:t>
            </a:r>
            <a:endParaRPr lang="en-US" sz="1400" dirty="0"/>
          </a:p>
        </p:txBody>
      </p:sp>
      <p:sp>
        <p:nvSpPr>
          <p:cNvPr id="11" name="v2-tri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tri-2" descr="C:\Users\User\Desktop\agent\final_project\report\assets\demo\fi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理財習慣：理財風格、最在意的事。只拿來讓 AI 建議更貼近你，每一步都能跳過。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挑主題、走一遍導覽</a:t>
            </a:r>
            <a:endParaRPr lang="en-US" sz="3200" dirty="0"/>
          </a:p>
        </p:txBody>
      </p:sp>
      <p:sp>
        <p:nvSpPr>
          <p:cNvPr id="5" name="demo-them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heme" descr="C:\Users\User\Desktop\agent\final_project\report\assets\demo\t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tou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tour" descr="C:\Users\User\Desktop\agent\final_project\report\assets\demo\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八套主題，按一下整個系統就換；存在帳號上，換裝置也一樣。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第一次進來會問要不要導覽，照畫面上看得到的東西一步一步帶，隨時可以跳過。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總覽：打開就知道這個月還可以花多少</a:t>
            </a:r>
            <a:endParaRPr lang="en-US" sz="3200" dirty="0"/>
          </a:p>
        </p:txBody>
      </p:sp>
      <p:sp>
        <p:nvSpPr>
          <p:cNvPr id="5" name="v2-home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home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home-m0"/>
          <p:cNvSpPr/>
          <p:nvPr/>
        </p:nvSpPr>
        <p:spPr>
          <a:xfrm>
            <a:off x="899970" y="287490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home-mt0"/>
          <p:cNvSpPr/>
          <p:nvPr/>
        </p:nvSpPr>
        <p:spPr>
          <a:xfrm>
            <a:off x="899970" y="28749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home-m1"/>
          <p:cNvSpPr/>
          <p:nvPr/>
        </p:nvSpPr>
        <p:spPr>
          <a:xfrm>
            <a:off x="1302306" y="317339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home-mt1"/>
          <p:cNvSpPr/>
          <p:nvPr/>
        </p:nvSpPr>
        <p:spPr>
          <a:xfrm>
            <a:off x="1302306" y="3173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home-m2"/>
          <p:cNvSpPr/>
          <p:nvPr/>
        </p:nvSpPr>
        <p:spPr>
          <a:xfrm>
            <a:off x="1041059" y="3737971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home-mt2"/>
          <p:cNvSpPr/>
          <p:nvPr/>
        </p:nvSpPr>
        <p:spPr>
          <a:xfrm>
            <a:off x="1041059" y="37379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home-m3"/>
          <p:cNvSpPr/>
          <p:nvPr/>
        </p:nvSpPr>
        <p:spPr>
          <a:xfrm>
            <a:off x="1041059" y="412847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home-mt3"/>
          <p:cNvSpPr/>
          <p:nvPr/>
        </p:nvSpPr>
        <p:spPr>
          <a:xfrm>
            <a:off x="1041059" y="41284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home-m4"/>
          <p:cNvSpPr/>
          <p:nvPr/>
        </p:nvSpPr>
        <p:spPr>
          <a:xfrm>
            <a:off x="4059483" y="287490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home-mt4"/>
          <p:cNvSpPr/>
          <p:nvPr/>
        </p:nvSpPr>
        <p:spPr>
          <a:xfrm>
            <a:off x="4059483" y="28749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home-m5"/>
          <p:cNvSpPr/>
          <p:nvPr/>
        </p:nvSpPr>
        <p:spPr>
          <a:xfrm>
            <a:off x="899970" y="503629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home-mt5"/>
          <p:cNvSpPr/>
          <p:nvPr/>
        </p:nvSpPr>
        <p:spPr>
          <a:xfrm>
            <a:off x="899970" y="50362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本月收入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點進去只看這個月的收入；月薪已經自動記進來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7627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148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本月支出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點進去只看這個月的支出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98094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953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這個月還可以花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收入 − 每月想存 ＝ 可花上限，再扣掉已經花的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78561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已用幾成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0782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進度條、可花上限、每月想存，超過會變紅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59028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常用功能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882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記一筆、個人帳本、活動、財務狀況與建議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3949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367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下方面板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687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今天的紀錄｜預算使用狀況，在面板裡捲動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一句話，記好幾筆</a:t>
            </a:r>
            <a:endParaRPr lang="en-US" sz="3200" dirty="0"/>
          </a:p>
        </p:txBody>
      </p:sp>
      <p:sp>
        <p:nvSpPr>
          <p:cNvPr id="5" name="v2-parse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parse" descr="C:\Users\User\Desktop\agent\final_project\report\assets\demo\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parse-m0"/>
          <p:cNvSpPr/>
          <p:nvPr/>
        </p:nvSpPr>
        <p:spPr>
          <a:xfrm>
            <a:off x="1481257" y="297181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parse-mt0"/>
          <p:cNvSpPr/>
          <p:nvPr/>
        </p:nvSpPr>
        <p:spPr>
          <a:xfrm>
            <a:off x="1481257" y="2971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parse-m1"/>
          <p:cNvSpPr/>
          <p:nvPr/>
        </p:nvSpPr>
        <p:spPr>
          <a:xfrm>
            <a:off x="2767989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parse-mt1"/>
          <p:cNvSpPr/>
          <p:nvPr/>
        </p:nvSpPr>
        <p:spPr>
          <a:xfrm>
            <a:off x="2767989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arse-m2"/>
          <p:cNvSpPr/>
          <p:nvPr/>
        </p:nvSpPr>
        <p:spPr>
          <a:xfrm>
            <a:off x="3591949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parse-mt2"/>
          <p:cNvSpPr/>
          <p:nvPr/>
        </p:nvSpPr>
        <p:spPr>
          <a:xfrm>
            <a:off x="3591949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parse-m3"/>
          <p:cNvSpPr/>
          <p:nvPr/>
        </p:nvSpPr>
        <p:spPr>
          <a:xfrm>
            <a:off x="4822246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parse-mt3"/>
          <p:cNvSpPr/>
          <p:nvPr/>
        </p:nvSpPr>
        <p:spPr>
          <a:xfrm>
            <a:off x="4822246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parse-m4"/>
          <p:cNvSpPr/>
          <p:nvPr/>
        </p:nvSpPr>
        <p:spPr>
          <a:xfrm>
            <a:off x="5533334" y="4210487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parse-mt4"/>
          <p:cNvSpPr/>
          <p:nvPr/>
        </p:nvSpPr>
        <p:spPr>
          <a:xfrm>
            <a:off x="5533334" y="42104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parse-m5"/>
          <p:cNvSpPr/>
          <p:nvPr/>
        </p:nvSpPr>
        <p:spPr>
          <a:xfrm>
            <a:off x="1148286" y="4648745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parse-mt5"/>
          <p:cNvSpPr/>
          <p:nvPr/>
        </p:nvSpPr>
        <p:spPr>
          <a:xfrm>
            <a:off x="1148286" y="4648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parse-in"/>
          <p:cNvSpPr/>
          <p:nvPr/>
        </p:nvSpPr>
        <p:spPr>
          <a:xfrm>
            <a:off x="8183880" y="1325880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371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輸入：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早餐蛋餅 45，捷運 30，午餐便當 95，晚上全聯買牙膏 89</a:t>
            </a:r>
            <a:endParaRPr lang="en-US" sz="1250" dirty="0"/>
          </a:p>
        </p:txBody>
      </p:sp>
      <p:sp>
        <p:nvSpPr>
          <p:cNvPr id="21" name="lg-c0"/>
          <p:cNvSpPr/>
          <p:nvPr/>
        </p:nvSpPr>
        <p:spPr>
          <a:xfrm>
            <a:off x="8183880" y="237744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2" name="lg-n0"/>
          <p:cNvSpPr/>
          <p:nvPr/>
        </p:nvSpPr>
        <p:spPr>
          <a:xfrm>
            <a:off x="81838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23500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原句對照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641080" y="2670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每一筆都標出是從哪一句拆出來的</a:t>
            </a:r>
            <a:endParaRPr lang="en-US" sz="1200" dirty="0"/>
          </a:p>
        </p:txBody>
      </p:sp>
      <p:sp>
        <p:nvSpPr>
          <p:cNvPr id="25" name="lg-c1"/>
          <p:cNvSpPr/>
          <p:nvPr/>
        </p:nvSpPr>
        <p:spPr>
          <a:xfrm>
            <a:off x="8183880" y="305409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6" name="lg-n1"/>
          <p:cNvSpPr/>
          <p:nvPr/>
        </p:nvSpPr>
        <p:spPr>
          <a:xfrm>
            <a:off x="818388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41080" y="3026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日期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641080" y="3346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「昨天」「上禮拜三」會自動換算</a:t>
            </a:r>
            <a:endParaRPr lang="en-US" sz="1200" dirty="0"/>
          </a:p>
        </p:txBody>
      </p:sp>
      <p:sp>
        <p:nvSpPr>
          <p:cNvPr id="29" name="lg-c2"/>
          <p:cNvSpPr/>
          <p:nvPr/>
        </p:nvSpPr>
        <p:spPr>
          <a:xfrm>
            <a:off x="8183880" y="373075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0" name="lg-n2"/>
          <p:cNvSpPr/>
          <p:nvPr/>
        </p:nvSpPr>
        <p:spPr>
          <a:xfrm>
            <a:off x="818388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641080" y="3703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金額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641080" y="4023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沒講金額的留空，不會亂填</a:t>
            </a:r>
            <a:endParaRPr lang="en-US" sz="1200" dirty="0"/>
          </a:p>
        </p:txBody>
      </p:sp>
      <p:sp>
        <p:nvSpPr>
          <p:cNvPr id="33" name="lg-c3"/>
          <p:cNvSpPr/>
          <p:nvPr/>
        </p:nvSpPr>
        <p:spPr>
          <a:xfrm>
            <a:off x="8183880" y="440740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4" name="lg-n3"/>
          <p:cNvSpPr/>
          <p:nvPr/>
        </p:nvSpPr>
        <p:spPr>
          <a:xfrm>
            <a:off x="81838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641080" y="43799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分類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641080" y="4700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照你家的分類挑；家庭自訂的也行</a:t>
            </a:r>
            <a:endParaRPr lang="en-US" sz="1200" dirty="0"/>
          </a:p>
        </p:txBody>
      </p:sp>
      <p:sp>
        <p:nvSpPr>
          <p:cNvPr id="37" name="lg-c4"/>
          <p:cNvSpPr/>
          <p:nvPr/>
        </p:nvSpPr>
        <p:spPr>
          <a:xfrm>
            <a:off x="8183880" y="508406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8" name="lg-n4"/>
          <p:cNvSpPr/>
          <p:nvPr/>
        </p:nvSpPr>
        <p:spPr>
          <a:xfrm>
            <a:off x="818388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64108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店家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641080" y="5376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「全聯」這類店名自動抓出來</a:t>
            </a:r>
            <a:endParaRPr lang="en-US" sz="1200" dirty="0"/>
          </a:p>
        </p:txBody>
      </p:sp>
      <p:sp>
        <p:nvSpPr>
          <p:cNvPr id="41" name="lg-c5"/>
          <p:cNvSpPr/>
          <p:nvPr/>
        </p:nvSpPr>
        <p:spPr>
          <a:xfrm>
            <a:off x="8183880" y="576072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2" name="lg-n5"/>
          <p:cNvSpPr/>
          <p:nvPr/>
        </p:nvSpPr>
        <p:spPr>
          <a:xfrm>
            <a:off x="8183880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641080" y="5733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確認寫入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641080" y="6053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看過、改過，一次寫入全部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記帳：準、快，最後由你確認</a:t>
            </a:r>
            <a:endParaRPr lang="en-US" sz="3200" dirty="0"/>
          </a:p>
        </p:txBody>
      </p:sp>
      <p:sp>
        <p:nvSpPr>
          <p:cNvPr id="5" name="ai-big-0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整題完全正確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同一份 101 題；只用規則是 63.4%</a:t>
            </a:r>
            <a:endParaRPr lang="en-US" sz="1300" dirty="0"/>
          </a:p>
        </p:txBody>
      </p:sp>
      <p:sp>
        <p:nvSpPr>
          <p:cNvPr id="9" name="ai-big-1"/>
          <p:cNvSpPr/>
          <p:nvPr/>
        </p:nvSpPr>
        <p:spPr>
          <a:xfrm>
            <a:off x="429768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 秒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一句話解析完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大部分在 5.16 秒內</a:t>
            </a:r>
            <a:endParaRPr lang="en-US" sz="1300" dirty="0"/>
          </a:p>
        </p:txBody>
      </p:sp>
      <p:sp>
        <p:nvSpPr>
          <p:cNvPr id="13" name="ai-big-2"/>
          <p:cNvSpPr/>
          <p:nvPr/>
        </p:nvSpPr>
        <p:spPr>
          <a:xfrm>
            <a:off x="804672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沒講金額卻亂填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沒講的就留空，讓你自己補</a:t>
            </a:r>
            <a:endParaRPr lang="en-US" sz="1300" dirty="0"/>
          </a:p>
        </p:txBody>
      </p:sp>
      <p:sp>
        <p:nvSpPr>
          <p:cNvPr id="17" name="ai-how-0"/>
          <p:cNvSpPr/>
          <p:nvPr/>
        </p:nvSpPr>
        <p:spPr>
          <a:xfrm>
            <a:off x="54864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ai-how-ic-0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i-how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聽得懂口語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「昨天」「上禮拜三」、中文數字、店名都認得，一段話裡有幾筆就拆幾筆</a:t>
            </a:r>
            <a:endParaRPr lang="en-US" sz="1350" dirty="0"/>
          </a:p>
        </p:txBody>
      </p:sp>
      <p:sp>
        <p:nvSpPr>
          <p:cNvPr id="22" name="ai-how-1"/>
          <p:cNvSpPr/>
          <p:nvPr/>
        </p:nvSpPr>
        <p:spPr>
          <a:xfrm>
            <a:off x="429768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ai-how-ic-1-circle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ai-how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407456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程式再對一次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 給的每一筆，程式逐筆對回原句；金額、日期對不上就不採用</a:t>
            </a:r>
            <a:endParaRPr lang="en-US" sz="1350" dirty="0"/>
          </a:p>
        </p:txBody>
      </p:sp>
      <p:sp>
        <p:nvSpPr>
          <p:cNvPr id="27" name="ai-how-2"/>
          <p:cNvSpPr/>
          <p:nvPr/>
        </p:nvSpPr>
        <p:spPr>
          <a:xfrm>
            <a:off x="804672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ai-how-ic-2-circle"/>
          <p:cNvSpPr/>
          <p:nvPr/>
        </p:nvSpPr>
        <p:spPr>
          <a:xfrm>
            <a:off x="832104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ai-how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4074566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0684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你說了算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每一筆都能改，按確認才寫入；改過的都有記錄，之後拿來讓 AI 更準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測試題目由 AI 產生、句子比真人說話整齊，100% 不代表不會錯；所以每一筆最後都由你確認。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今天記了什麼，一眼看完</a:t>
            </a:r>
            <a:endParaRPr lang="en-US" sz="3200" dirty="0"/>
          </a:p>
        </p:txBody>
      </p:sp>
      <p:sp>
        <p:nvSpPr>
          <p:cNvPr id="5" name="demo-toda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oday" descr="C:\Users\User\Desktop\agent\final_project\report\assets\demo\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dange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danger" descr="C:\Users\User\Desktop\agent\final_project\report\assets\demo\da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總覽下方的面板：第一頁是今天的紀錄，格式跟明細一樣，可以直接改、刪。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刪除前要輸入自己的密碼，不會一不小心就刪掉。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個人帳本：所有紀錄都在這裡</a:t>
            </a:r>
            <a:endParaRPr lang="en-US" sz="3200" dirty="0"/>
          </a:p>
        </p:txBody>
      </p:sp>
      <p:sp>
        <p:nvSpPr>
          <p:cNvPr id="5" name="v2-entry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entry" descr="C:\Users\User\Desktop\agent\final_project\report\assets\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904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8557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63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收支、來源（AI 解析／手動／自動入帳）、活動都能篩</a:t>
            </a:r>
            <a:endParaRPr lang="en-US" sz="145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5420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6371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14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每一筆都能改；選取多筆一次刪除（要密碼）</a:t>
            </a:r>
            <a:endParaRPr lang="en-US" sz="145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593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68869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上個月以前自動收進「年月包裹」，點開才展開</a:t>
            </a:r>
            <a:endParaRPr lang="en-US" sz="145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74025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右上角搜尋，直接找某一筆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活動：旅行、聚餐各記各的</a:t>
            </a:r>
            <a:endParaRPr lang="en-US" sz="3200" dirty="0"/>
          </a:p>
        </p:txBody>
      </p:sp>
      <p:sp>
        <p:nvSpPr>
          <p:cNvPr id="5" name="demo-crea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create" descr="C:\Users\User\Desktop\agent\final_project\report\assets\demo\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planne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planned" descr="C:\Users\User\Desktop\agent\final_project\report\assets\demo\plan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填名稱和一句說明；開始日預設今天，結束日選填。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開始日訂在以後就是「預先規劃」：到了那天才放進活動選單，並通知成員。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活動選單：只放進行中的活動</a:t>
            </a:r>
            <a:endParaRPr lang="en-US" sz="3200" dirty="0"/>
          </a:p>
        </p:txBody>
      </p:sp>
      <p:sp>
        <p:nvSpPr>
          <p:cNvPr id="5" name="v2-dropdown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dropdown" descr="C:\Users\User\Desktop\agent\final_project\report\assets\demo\dr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904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8557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63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預先規劃（還沒開始）的不會出現在選單</a:t>
            </a:r>
            <a:endParaRPr lang="en-US" sz="145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5420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6371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14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到了開始日自動放上去，並通知每位成員</a:t>
            </a:r>
            <a:endParaRPr lang="en-US" sz="145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593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68869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選了活動，總覽、帳本、狀況、建議都換成這個活動的</a:t>
            </a:r>
            <a:endParaRPr lang="en-US" sz="145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74025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按「回到個人」一鍵回到自己的帳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活動的設定與邀請朋友</a:t>
            </a:r>
            <a:endParaRPr lang="en-US" sz="3200" dirty="0"/>
          </a:p>
        </p:txBody>
      </p:sp>
      <p:sp>
        <p:nvSpPr>
          <p:cNvPr id="5" name="demo-settings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ettings" descr="C:\Users\User\Desktop\agent\final_project\report\assets\demo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invite_frien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invite_friend" descr="C:\Users\User\Desktop\agent\final_project\report\assets\demo\invite_fri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名稱、說明、開始日、結束日、顏色、目標金額，建立後都能改——只有建立者能改。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找到朋友再送出；或產生只能用一次、7 天有效的邀請碼。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活動總覽：一張卡看懂這個活動</a:t>
            </a:r>
            <a:endParaRPr lang="en-US" sz="3200" dirty="0"/>
          </a:p>
        </p:txBody>
      </p:sp>
      <p:sp>
        <p:nvSpPr>
          <p:cNvPr id="5" name="v2-act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act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act-m0"/>
          <p:cNvSpPr/>
          <p:nvPr/>
        </p:nvSpPr>
        <p:spPr>
          <a:xfrm>
            <a:off x="1041059" y="3515888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act-mt0"/>
          <p:cNvSpPr/>
          <p:nvPr/>
        </p:nvSpPr>
        <p:spPr>
          <a:xfrm>
            <a:off x="1041059" y="351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act-m1"/>
          <p:cNvSpPr/>
          <p:nvPr/>
        </p:nvSpPr>
        <p:spPr>
          <a:xfrm>
            <a:off x="1041059" y="393567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act-mt1"/>
          <p:cNvSpPr/>
          <p:nvPr/>
        </p:nvSpPr>
        <p:spPr>
          <a:xfrm>
            <a:off x="1041059" y="3935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act-m2"/>
          <p:cNvSpPr/>
          <p:nvPr/>
        </p:nvSpPr>
        <p:spPr>
          <a:xfrm>
            <a:off x="1368385" y="432384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act-mt2"/>
          <p:cNvSpPr/>
          <p:nvPr/>
        </p:nvSpPr>
        <p:spPr>
          <a:xfrm>
            <a:off x="1368385" y="43238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act-m3"/>
          <p:cNvSpPr/>
          <p:nvPr/>
        </p:nvSpPr>
        <p:spPr>
          <a:xfrm>
            <a:off x="1704642" y="317339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act-mt3"/>
          <p:cNvSpPr/>
          <p:nvPr/>
        </p:nvSpPr>
        <p:spPr>
          <a:xfrm>
            <a:off x="1704642" y="3173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act-m4"/>
          <p:cNvSpPr/>
          <p:nvPr/>
        </p:nvSpPr>
        <p:spPr>
          <a:xfrm>
            <a:off x="5470814" y="329111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act-mt4"/>
          <p:cNvSpPr/>
          <p:nvPr/>
        </p:nvSpPr>
        <p:spPr>
          <a:xfrm>
            <a:off x="5470814" y="32911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act-m5"/>
          <p:cNvSpPr/>
          <p:nvPr/>
        </p:nvSpPr>
        <p:spPr>
          <a:xfrm>
            <a:off x="899970" y="506081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ct-mt5"/>
          <p:cNvSpPr/>
          <p:nvPr/>
        </p:nvSpPr>
        <p:spPr>
          <a:xfrm>
            <a:off x="899970" y="5060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說明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建立者寫的一句話：這個活動在做什麼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7627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148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期間、成員、紀錄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幾號開始、還有幾天結束；誰在裡面；記了幾筆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98094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953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目標金額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到了幾成；到了通知全部成員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78561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活動的支出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0782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只算這個活動裡的帳，不混進個人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59028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回到個人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882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一鍵離開活動，回到自己的總覽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3949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367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活動今天的紀錄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687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下方面板也換成這個活動的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朋友這邊：收到邀請、加入、看得到不能改</a:t>
            </a:r>
            <a:endParaRPr lang="en-US" sz="3200" dirty="0"/>
          </a:p>
        </p:txBody>
      </p:sp>
      <p:sp>
        <p:nvSpPr>
          <p:cNvPr id="5" name="demo-kid_activity_invi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kid_activity_invite" descr="C:\Users\User\Desktop\agent\final_project\report\assets\demo\kid_activity_inv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readonly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readonly" descr="C:\Users\User\Desktop\agent\final_project\report\assets\demo\kid_read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活動管理最上面就是邀請，按「加入」。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看得到說明、期間、建立者訂的目標金額；設定只有建立者能改。想離開可以退出，自己記的可以合併回個人帳本。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家庭：邀請家人一起記</a:t>
            </a:r>
            <a:endParaRPr lang="en-US" sz="3200" dirty="0"/>
          </a:p>
        </p:txBody>
      </p:sp>
      <p:sp>
        <p:nvSpPr>
          <p:cNvPr id="5" name="demo-famil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family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invite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invite" descr="C:\Users\User\Desktop\agent\final_project\report\assets\demo\kid_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找到人，選身分（子女／家長）再送出。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對方的總覽最上面就是邀請，按「加入」就進這個家庭。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照看：家長看得到孩子的帳</a:t>
            </a:r>
            <a:endParaRPr lang="en-US" sz="3200" dirty="0"/>
          </a:p>
        </p:txBody>
      </p:sp>
      <p:sp>
        <p:nvSpPr>
          <p:cNvPr id="5" name="v2-guardian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guardian" descr="C:\Users\User\Desktop\agent\final_project\report\assets\demo\guar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447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3985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1732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孩子加入後，家長按「開始照看」</a:t>
            </a:r>
            <a:endParaRPr lang="en-US" sz="140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34086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435962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31343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孩子看得到是誰在照看</a:t>
            </a:r>
            <a:endParaRPr lang="en-US" sz="140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23697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332074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209544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家長看得到孩子的帳，也能給零用金</a:t>
            </a:r>
            <a:endParaRPr lang="en-US" sz="140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1330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228186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10565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孩子看不到家長的帳，也看不到家庭帳務</a:t>
            </a:r>
            <a:endParaRPr lang="en-US" sz="1400" dirty="0"/>
          </a:p>
        </p:txBody>
      </p:sp>
      <p:sp>
        <p:nvSpPr>
          <p:cNvPr id="19" name="v2-ck-4-circle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v2-ck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978" y="5124298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686800" y="500176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孩子可以自己退出家庭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零用金：到了發放日自動記帳</a:t>
            </a:r>
            <a:endParaRPr lang="en-US" sz="3200" dirty="0"/>
          </a:p>
        </p:txBody>
      </p:sp>
      <p:sp>
        <p:nvSpPr>
          <p:cNvPr id="5" name="v2-tri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tri-0" descr="C:\Users\User\Desktop\agent\final_project\report\assets\demo\allowance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設定每月零用金和發放日（1～28 號，沒選就是每月 1 號），改完離開欄位就存好。</a:t>
            </a:r>
            <a:endParaRPr lang="en-US" sz="1400" dirty="0"/>
          </a:p>
        </p:txBody>
      </p:sp>
      <p:sp>
        <p:nvSpPr>
          <p:cNvPr id="8" name="v2-tri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9" name="v2-tri-1" descr="C:\Users\User\Desktop\agent\final_project\report\assets\demo\allow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到了發放日自動記一對帳：家長一筆支出、孩子一筆收入。改金額只調原本那一對。</a:t>
            </a:r>
            <a:endParaRPr lang="en-US" sz="1400" dirty="0"/>
          </a:p>
        </p:txBody>
      </p:sp>
      <p:sp>
        <p:nvSpPr>
          <p:cNvPr id="11" name="v2-tri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tri-2" descr="C:\Users\User\Desktop\agent\final_project\report\assets\demo\kid_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孩子的鈴鐺馬上收到；零用金也算進孩子這個月可以花的錢裡。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所有通知都即時進鈴鐺</a:t>
            </a:r>
            <a:endParaRPr lang="en-US" sz="3200" dirty="0"/>
          </a:p>
        </p:txBody>
      </p:sp>
      <p:sp>
        <p:nvSpPr>
          <p:cNvPr id="5" name="bell-0"/>
          <p:cNvSpPr/>
          <p:nvPr/>
        </p:nvSpPr>
        <p:spPr>
          <a:xfrm>
            <a:off x="548640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ell-ic-0-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bell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家庭邀請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有人用帳號邀你加入家庭</a:t>
            </a:r>
            <a:endParaRPr lang="en-US" sz="1250" dirty="0"/>
          </a:p>
        </p:txBody>
      </p:sp>
      <p:sp>
        <p:nvSpPr>
          <p:cNvPr id="10" name="bell-1"/>
          <p:cNvSpPr/>
          <p:nvPr/>
        </p:nvSpPr>
        <p:spPr>
          <a:xfrm>
            <a:off x="3364992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ell-ic-1-circle"/>
          <p:cNvSpPr/>
          <p:nvPr/>
        </p:nvSpPr>
        <p:spPr>
          <a:xfrm>
            <a:off x="3639312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bell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958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活動邀請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朋友邀你加入一個活動</a:t>
            </a:r>
            <a:endParaRPr lang="en-US" sz="1250" dirty="0"/>
          </a:p>
        </p:txBody>
      </p:sp>
      <p:sp>
        <p:nvSpPr>
          <p:cNvPr id="15" name="bell-2"/>
          <p:cNvSpPr/>
          <p:nvPr/>
        </p:nvSpPr>
        <p:spPr>
          <a:xfrm>
            <a:off x="6181344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ell-ic-2-circle"/>
          <p:cNvSpPr/>
          <p:nvPr/>
        </p:nvSpPr>
        <p:spPr>
          <a:xfrm>
            <a:off x="6455664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bell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18342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零用金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發放、調整、取消都會通知孩子</a:t>
            </a:r>
            <a:endParaRPr lang="en-US" sz="1250" dirty="0"/>
          </a:p>
        </p:txBody>
      </p:sp>
      <p:sp>
        <p:nvSpPr>
          <p:cNvPr id="20" name="bell-3"/>
          <p:cNvSpPr/>
          <p:nvPr/>
        </p:nvSpPr>
        <p:spPr>
          <a:xfrm>
            <a:off x="8997696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ell-ic-3-circle"/>
          <p:cNvSpPr/>
          <p:nvPr/>
        </p:nvSpPr>
        <p:spPr>
          <a:xfrm>
            <a:off x="9272016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bell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62" y="18342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固定收入入帳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月薪到了入帳日自動記一筆</a:t>
            </a:r>
            <a:endParaRPr lang="en-US" sz="1250" dirty="0"/>
          </a:p>
        </p:txBody>
      </p:sp>
      <p:sp>
        <p:nvSpPr>
          <p:cNvPr id="25" name="bell-4"/>
          <p:cNvSpPr/>
          <p:nvPr/>
        </p:nvSpPr>
        <p:spPr>
          <a:xfrm>
            <a:off x="548640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ell-ic-4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bell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296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目標金額到了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活動到了目標，全部成員都收到</a:t>
            </a:r>
            <a:endParaRPr lang="en-US" sz="1250" dirty="0"/>
          </a:p>
        </p:txBody>
      </p:sp>
      <p:sp>
        <p:nvSpPr>
          <p:cNvPr id="30" name="bell-5"/>
          <p:cNvSpPr/>
          <p:nvPr/>
        </p:nvSpPr>
        <p:spPr>
          <a:xfrm>
            <a:off x="3364992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bell-ic-5-circle"/>
          <p:cNvSpPr/>
          <p:nvPr/>
        </p:nvSpPr>
        <p:spPr>
          <a:xfrm>
            <a:off x="3639312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bell-ic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958" y="407456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639312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活動開始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3639312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預先規劃的活動到了開始日</a:t>
            </a:r>
            <a:endParaRPr lang="en-US" sz="1250" dirty="0"/>
          </a:p>
        </p:txBody>
      </p:sp>
      <p:sp>
        <p:nvSpPr>
          <p:cNvPr id="35" name="bell-6"/>
          <p:cNvSpPr/>
          <p:nvPr/>
        </p:nvSpPr>
        <p:spPr>
          <a:xfrm>
            <a:off x="6181344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ell-ic-6-circle"/>
          <p:cNvSpPr/>
          <p:nvPr/>
        </p:nvSpPr>
        <p:spPr>
          <a:xfrm>
            <a:off x="6455664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bell-ic-6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4074566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455664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孩子記帳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6455664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照看的孩子記了一筆</a:t>
            </a:r>
            <a:endParaRPr lang="en-US" sz="1250" dirty="0"/>
          </a:p>
        </p:txBody>
      </p:sp>
      <p:sp>
        <p:nvSpPr>
          <p:cNvPr id="40" name="bell-7"/>
          <p:cNvSpPr/>
          <p:nvPr/>
        </p:nvSpPr>
        <p:spPr>
          <a:xfrm>
            <a:off x="8997696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bell-ic-7-circle"/>
          <p:cNvSpPr/>
          <p:nvPr/>
        </p:nvSpPr>
        <p:spPr>
          <a:xfrm>
            <a:off x="9272016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bell-ic-7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4662" y="4074566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72016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階段性提醒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9272016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這個月花到你設的比例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打開系統時每 5 秒更新一次；做完會產生通知的動作，馬上再問一次。每一則都能刪，已讀的可以一次清掉。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回顧：錢花在哪</a:t>
            </a:r>
            <a:endParaRPr lang="en-US" sz="3200" dirty="0"/>
          </a:p>
        </p:txBody>
      </p:sp>
      <p:sp>
        <p:nvSpPr>
          <p:cNvPr id="5" name="demo-stats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tats" descr="C:\Users\User\Desktop\agent\final_project\report\assets\demo\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收支對照：按月、按年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近六個月的趨勢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錢花在哪：各分類比例</a:t>
            </a:r>
            <a:endParaRPr lang="en-US" sz="1500" dirty="0"/>
          </a:p>
        </p:txBody>
      </p:sp>
      <p:sp>
        <p:nvSpPr>
          <p:cNvPr id="16" name="demo-pt-3-circle"/>
          <p:cNvSpPr/>
          <p:nvPr/>
        </p:nvSpPr>
        <p:spPr>
          <a:xfrm>
            <a:off x="8549640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emo-pt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92" y="462613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52560" y="44897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數字跟總覽、明細同一個來源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財務建議：每個數字都找得到出處</a:t>
            </a:r>
            <a:endParaRPr lang="en-US" sz="3200" dirty="0"/>
          </a:p>
        </p:txBody>
      </p:sp>
      <p:sp>
        <p:nvSpPr>
          <p:cNvPr id="5" name="v2-adv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adv" descr="C:\Users\User\Desktop\agent\final_project\report\assets\demo\ad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adv-m0"/>
          <p:cNvSpPr/>
          <p:nvPr/>
        </p:nvSpPr>
        <p:spPr>
          <a:xfrm>
            <a:off x="1029772" y="293191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adv-mt0"/>
          <p:cNvSpPr/>
          <p:nvPr/>
        </p:nvSpPr>
        <p:spPr>
          <a:xfrm>
            <a:off x="1029772" y="293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adv-m1"/>
          <p:cNvSpPr/>
          <p:nvPr/>
        </p:nvSpPr>
        <p:spPr>
          <a:xfrm>
            <a:off x="1402247" y="293195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adv-mt1"/>
          <p:cNvSpPr/>
          <p:nvPr/>
        </p:nvSpPr>
        <p:spPr>
          <a:xfrm>
            <a:off x="1402247" y="29319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adv-m2"/>
          <p:cNvSpPr/>
          <p:nvPr/>
        </p:nvSpPr>
        <p:spPr>
          <a:xfrm>
            <a:off x="2112621" y="324658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adv-mt2"/>
          <p:cNvSpPr/>
          <p:nvPr/>
        </p:nvSpPr>
        <p:spPr>
          <a:xfrm>
            <a:off x="2112621" y="324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adv-m3"/>
          <p:cNvSpPr/>
          <p:nvPr/>
        </p:nvSpPr>
        <p:spPr>
          <a:xfrm>
            <a:off x="1402247" y="340654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adv-mt3"/>
          <p:cNvSpPr/>
          <p:nvPr/>
        </p:nvSpPr>
        <p:spPr>
          <a:xfrm>
            <a:off x="1402247" y="340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adv-m4"/>
          <p:cNvSpPr/>
          <p:nvPr/>
        </p:nvSpPr>
        <p:spPr>
          <a:xfrm>
            <a:off x="1402247" y="409294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adv-mt4"/>
          <p:cNvSpPr/>
          <p:nvPr/>
        </p:nvSpPr>
        <p:spPr>
          <a:xfrm>
            <a:off x="1402247" y="40929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adv-m5"/>
          <p:cNvSpPr/>
          <p:nvPr/>
        </p:nvSpPr>
        <p:spPr>
          <a:xfrm>
            <a:off x="1903289" y="258910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dv-mt5"/>
          <p:cNvSpPr/>
          <p:nvPr/>
        </p:nvSpPr>
        <p:spPr>
          <a:xfrm>
            <a:off x="1903289" y="25891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等級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良好、參考……一眼看這一則的狀況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0312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075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標題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3957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一句話說重點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83464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8072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說明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1272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寫成好懂的句子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5661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538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依據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每個數字都附算式，資料庫先算好的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29768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2702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建議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590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接下來可以怎麼做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0292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0017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產生建議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321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按一下，依這個月的帳重新寫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5806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檢查不過的那則不顯示；不推薦投資、保險。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6／6・手機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手機也能用</a:t>
            </a:r>
            <a:endParaRPr lang="en-US" sz="3200" dirty="0"/>
          </a:p>
        </p:txBody>
      </p:sp>
      <p:sp>
        <p:nvSpPr>
          <p:cNvPr id="5" name="demo-mobile-frame"/>
          <p:cNvSpPr/>
          <p:nvPr/>
        </p:nvSpPr>
        <p:spPr>
          <a:xfrm>
            <a:off x="74066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mobile" descr="C:\Users\User\Desktop\agent\final_project\report\assets\demo\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240280" cy="4850953"/>
          </a:xfrm>
          <a:prstGeom prst="rect">
            <a:avLst/>
          </a:prstGeom>
        </p:spPr>
      </p:pic>
      <p:sp>
        <p:nvSpPr>
          <p:cNvPr id="7" name="demo-mobile2-frame"/>
          <p:cNvSpPr/>
          <p:nvPr/>
        </p:nvSpPr>
        <p:spPr>
          <a:xfrm>
            <a:off x="334670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mobile2" descr="C:\Users\User\Desktop\agent\final_project\report\assets\demo\mob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2240280" cy="4850953"/>
          </a:xfrm>
          <a:prstGeom prst="rect">
            <a:avLst/>
          </a:prstGeom>
        </p:spPr>
      </p:pic>
      <p:sp>
        <p:nvSpPr>
          <p:cNvPr id="9" name="mob-pt-0-circle"/>
          <p:cNvSpPr/>
          <p:nvPr/>
        </p:nvSpPr>
        <p:spPr>
          <a:xfrm>
            <a:off x="6400800" y="177393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mob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17" y="1888053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5160" y="1737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底部分頁列：總覽、帳本、記一筆、狀況、建議</a:t>
            </a:r>
            <a:endParaRPr lang="en-US" sz="1700" dirty="0"/>
          </a:p>
        </p:txBody>
      </p:sp>
      <p:sp>
        <p:nvSpPr>
          <p:cNvPr id="12" name="mob-pt-1-circle"/>
          <p:cNvSpPr/>
          <p:nvPr/>
        </p:nvSpPr>
        <p:spPr>
          <a:xfrm>
            <a:off x="6400800" y="296265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mob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917" y="3076773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總覽、面板、表格都照手機寬度重排</a:t>
            </a:r>
            <a:endParaRPr lang="en-US" sz="1700" dirty="0"/>
          </a:p>
        </p:txBody>
      </p:sp>
      <p:sp>
        <p:nvSpPr>
          <p:cNvPr id="15" name="mob-pt-2-circle"/>
          <p:cNvSpPr/>
          <p:nvPr/>
        </p:nvSpPr>
        <p:spPr>
          <a:xfrm>
            <a:off x="6400800" y="41513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mob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917" y="4265493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9516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從註冊到零用金，整輪在手機上都做得到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一頁看完：做了哪些事</a:t>
            </a:r>
            <a:endParaRPr lang="en-US" sz="3200" dirty="0"/>
          </a:p>
        </p:txBody>
      </p:sp>
      <p:sp>
        <p:nvSpPr>
          <p:cNvPr id="3" name="sum-0"/>
          <p:cNvSpPr/>
          <p:nvPr/>
        </p:nvSpPr>
        <p:spPr>
          <a:xfrm>
            <a:off x="548640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um-ic-0-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um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開始使用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註冊與驗證信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收入與存錢設定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理財習慣、主題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新手導覽</a:t>
            </a:r>
            <a:endParaRPr lang="en-US" sz="1300" dirty="0"/>
          </a:p>
        </p:txBody>
      </p:sp>
      <p:sp>
        <p:nvSpPr>
          <p:cNvPr id="8" name="sum-1"/>
          <p:cNvSpPr/>
          <p:nvPr/>
        </p:nvSpPr>
        <p:spPr>
          <a:xfrm>
            <a:off x="2798064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um-ic-1-circle"/>
          <p:cNvSpPr/>
          <p:nvPr/>
        </p:nvSpPr>
        <p:spPr>
          <a:xfrm>
            <a:off x="3026664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um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17885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26664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記帳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26664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一句話記好幾筆（AI）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今天的紀錄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個人帳本與年月包裹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固定收入自動入帳</a:t>
            </a:r>
            <a:endParaRPr lang="en-US" sz="1300" dirty="0"/>
          </a:p>
        </p:txBody>
      </p:sp>
      <p:sp>
        <p:nvSpPr>
          <p:cNvPr id="13" name="sum-2"/>
          <p:cNvSpPr/>
          <p:nvPr/>
        </p:nvSpPr>
        <p:spPr>
          <a:xfrm>
            <a:off x="5047488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um-ic-2-circle"/>
          <p:cNvSpPr/>
          <p:nvPr/>
        </p:nvSpPr>
        <p:spPr>
          <a:xfrm>
            <a:off x="5276088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um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34" y="17885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活動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76088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說明、期間、目標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預先規劃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邀請朋友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退出可合併</a:t>
            </a:r>
            <a:endParaRPr lang="en-US" sz="1300" dirty="0"/>
          </a:p>
        </p:txBody>
      </p:sp>
      <p:sp>
        <p:nvSpPr>
          <p:cNvPr id="18" name="sum-3"/>
          <p:cNvSpPr/>
          <p:nvPr/>
        </p:nvSpPr>
        <p:spPr>
          <a:xfrm>
            <a:off x="7296912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um-ic-3-circle"/>
          <p:cNvSpPr/>
          <p:nvPr/>
        </p:nvSpPr>
        <p:spPr>
          <a:xfrm>
            <a:off x="7525512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um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158" y="178856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25512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家庭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25512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邀請家人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照看孩子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零用金自動記帳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鈴鐺即時通知</a:t>
            </a:r>
            <a:endParaRPr lang="en-US" sz="1300" dirty="0"/>
          </a:p>
        </p:txBody>
      </p:sp>
      <p:sp>
        <p:nvSpPr>
          <p:cNvPr id="23" name="sum-4"/>
          <p:cNvSpPr/>
          <p:nvPr/>
        </p:nvSpPr>
        <p:spPr>
          <a:xfrm>
            <a:off x="9546336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um-ic-4-circle"/>
          <p:cNvSpPr/>
          <p:nvPr/>
        </p:nvSpPr>
        <p:spPr>
          <a:xfrm>
            <a:off x="9774936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um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582" y="178856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74936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回顧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74936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收支對照與趨勢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錢花在哪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預算與提醒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財務建議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手機、平板、電腦都能用；每一頁都照螢幕寬度重新排。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未來展望：接下來上線的兩件事</a:t>
            </a:r>
            <a:endParaRPr lang="en-US" sz="3200" dirty="0"/>
          </a:p>
        </p:txBody>
      </p:sp>
      <p:sp>
        <p:nvSpPr>
          <p:cNvPr id="3" name="plan-0"/>
          <p:cNvSpPr/>
          <p:nvPr/>
        </p:nvSpPr>
        <p:spPr>
          <a:xfrm>
            <a:off x="548640" y="1371600"/>
            <a:ext cx="5440680" cy="4709160"/>
          </a:xfrm>
          <a:prstGeom prst="roundRect">
            <a:avLst>
              <a:gd name="adj" fmla="val 27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-ic-0-circle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lan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AI：換成 Hugging Face 的開源模型</a:t>
            </a:r>
            <a:endParaRPr lang="en-US" sz="2000" dirty="0"/>
          </a:p>
        </p:txBody>
      </p:sp>
      <p:sp>
        <p:nvSpPr>
          <p:cNvPr id="7" name="plan-from-0"/>
          <p:cNvSpPr/>
          <p:nvPr/>
        </p:nvSpPr>
        <p:spPr>
          <a:xfrm>
            <a:off x="868680" y="251460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Anthropic API</a:t>
            </a:r>
            <a:endParaRPr lang="en-US" sz="1300" dirty="0"/>
          </a:p>
        </p:txBody>
      </p:sp>
      <p:sp>
        <p:nvSpPr>
          <p:cNvPr id="9" name="plan-arrow-0"/>
          <p:cNvSpPr/>
          <p:nvPr/>
        </p:nvSpPr>
        <p:spPr>
          <a:xfrm>
            <a:off x="2926080" y="2761488"/>
            <a:ext cx="502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plan-to-0"/>
          <p:cNvSpPr/>
          <p:nvPr/>
        </p:nvSpPr>
        <p:spPr>
          <a:xfrm>
            <a:off x="3520440" y="2514600"/>
            <a:ext cx="21488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Hugging Face 開源模型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從 Hugging Face 挑合適的開源模型，用我們的記帳資料再訓練：1,500 題訓練資料，加上使用者改過的解析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上線前用同一份 101 題評測，準確率跟現在一樣才換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部署在 Hugging Face Space（或自己的伺服器），不用再付商業 API 的費用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延伸：財務建議也換成同一個模型</a:t>
            </a:r>
            <a:endParaRPr lang="en-US" sz="1450" dirty="0"/>
          </a:p>
        </p:txBody>
      </p:sp>
      <p:sp>
        <p:nvSpPr>
          <p:cNvPr id="13" name="plan-1"/>
          <p:cNvSpPr/>
          <p:nvPr/>
        </p:nvSpPr>
        <p:spPr>
          <a:xfrm>
            <a:off x="6172200" y="1371600"/>
            <a:ext cx="5440680" cy="4709160"/>
          </a:xfrm>
          <a:prstGeom prst="roundRect">
            <a:avLst>
              <a:gd name="adj" fmla="val 27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-ic-1-circle"/>
          <p:cNvSpPr/>
          <p:nvPr/>
        </p:nvSpPr>
        <p:spPr>
          <a:xfrm>
            <a:off x="649224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lan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76662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1520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記帳更省事：語音與圖片</a:t>
            </a:r>
            <a:endParaRPr lang="en-US" sz="2000" dirty="0"/>
          </a:p>
        </p:txBody>
      </p:sp>
      <p:sp>
        <p:nvSpPr>
          <p:cNvPr id="17" name="plan-from-1"/>
          <p:cNvSpPr/>
          <p:nvPr/>
        </p:nvSpPr>
        <p:spPr>
          <a:xfrm>
            <a:off x="6492240" y="251460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92240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打一段字</a:t>
            </a:r>
            <a:endParaRPr lang="en-US" sz="1300" dirty="0"/>
          </a:p>
        </p:txBody>
      </p:sp>
      <p:sp>
        <p:nvSpPr>
          <p:cNvPr id="19" name="plan-arrow-1"/>
          <p:cNvSpPr/>
          <p:nvPr/>
        </p:nvSpPr>
        <p:spPr>
          <a:xfrm>
            <a:off x="8549640" y="2761488"/>
            <a:ext cx="5029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plan-to-1"/>
          <p:cNvSpPr/>
          <p:nvPr/>
        </p:nvSpPr>
        <p:spPr>
          <a:xfrm>
            <a:off x="9144000" y="2514600"/>
            <a:ext cx="21488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14400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說一段話／拍一張照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9224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語音：按住說話，轉成文字後走同一套 AI 拆帳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圖片：拍收據或發票，讀出店家、品項、金額，拆成好幾筆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跟現在一樣：拆好之後由你看過、按確認才寫入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延伸：電子發票載具自動匯入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謝謝觀看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Q &amp; 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完整操作影片：家庭記帳_完整流程.mp4（約 6 分鐘）　｜　fambudget-web.onrender.com</a:t>
            </a:r>
            <a:endParaRPr lang="en-US" sz="1600" dirty="0"/>
          </a:p>
        </p:txBody>
      </p:sp>
      <p:sp>
        <p:nvSpPr>
          <p:cNvPr id="5" name="qr-end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end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end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Budget">
  <a:themeElements>
    <a:clrScheme name="FamBudget">
      <a:dk1>
        <a:srgbClr val="16233F"/>
      </a:dk1>
      <a:lt1>
        <a:srgbClr val="FFFFFF"/>
      </a:lt1>
      <a:dk2>
        <a:srgbClr val="0B2A5B"/>
      </a:dk2>
      <a:lt2>
        <a:srgbClr val="EEF3FA"/>
      </a:lt2>
      <a:accent1>
        <a:srgbClr val="1F5FBF"/>
      </a:accent1>
      <a:accent2>
        <a:srgbClr val="13A07A"/>
      </a:accent2>
      <a:accent3>
        <a:srgbClr val="E8663D"/>
      </a:accent3>
      <a:accent4>
        <a:srgbClr val="F2B33D"/>
      </a:accent4>
      <a:accent5>
        <a:srgbClr val="6B7A99"/>
      </a:accent5>
      <a:accent6>
        <a:srgbClr val="9DBDF0"/>
      </a:accent6>
      <a:hlink>
        <a:srgbClr val="1F5FBF"/>
      </a:hlink>
      <a:folHlink>
        <a:srgbClr val="6B7A99"/>
      </a:folHlink>
    </a:clrScheme>
    <a:fontScheme name="FamBud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 期末報告</dc:title>
  <dc:subject>PptxGenJS Presentation</dc:subject>
  <dc:creator>冠文、宇傑、明樺、囷洧</dc:creator>
  <cp:lastModifiedBy>冠文、宇傑、明樺、囷洧</cp:lastModifiedBy>
  <cp:revision>1</cp:revision>
  <dcterms:created xsi:type="dcterms:W3CDTF">2026-10-28T05:46:45Z</dcterms:created>
  <dcterms:modified xsi:type="dcterms:W3CDTF">2026-10-28T05:46:45Z</dcterms:modified>
</cp:coreProperties>
</file>