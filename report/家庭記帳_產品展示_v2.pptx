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69a23db1-6d42-3832-e01c-59473283fc4f}">
          <p14:sldIdLst>
            <p14:sldId id="256"/>
            <p14:sldId id="257"/>
            <p14:sldId id="258"/>
            <p14:sldId id="259"/>
          </p14:sldIdLst>
        </p14:section>
        <p14:section name="開始使用" id="{7c232cf0-da98-b69e-fb00-834369c81e81}">
          <p14:sldIdLst>
            <p14:sldId id="260"/>
            <p14:sldId id="261"/>
          </p14:sldIdLst>
        </p14:section>
        <p14:section name="記帳" id="{a2a286c6-8cda-bf9d-b7db-ae6e717a55d8}">
          <p14:sldIdLst>
            <p14:sldId id="262"/>
            <p14:sldId id="263"/>
            <p14:sldId id="264"/>
            <p14:sldId id="265"/>
            <p14:sldId id="266"/>
          </p14:sldIdLst>
        </p14:section>
        <p14:section name="活動" id="{3f961d37-57f9-7fa5-1903-963887df9c8f}">
          <p14:sldIdLst>
            <p14:sldId id="267"/>
            <p14:sldId id="268"/>
            <p14:sldId id="269"/>
            <p14:sldId id="270"/>
            <p14:sldId id="271"/>
          </p14:sldIdLst>
        </p14:section>
        <p14:section name="家庭" id="{4b915da3-0ed0-9572-01d6-916f418b0e4a}">
          <p14:sldIdLst>
            <p14:sldId id="272"/>
            <p14:sldId id="273"/>
            <p14:sldId id="274"/>
            <p14:sldId id="275"/>
          </p14:sldIdLst>
        </p14:section>
        <p14:section name="回顧" id="{c4a887c5-e5ea-006e-a1e8-5ee252009914}">
          <p14:sldIdLst>
            <p14:sldId id="276"/>
            <p14:sldId id="277"/>
          </p14:sldIdLst>
        </p14:section>
        <p14:section name="手機" id="{7ce84744-fa74-b250-0958-bea0685715b4}">
          <p14:sldIdLst>
            <p14:sldId id="278"/>
          </p14:sldIdLst>
        </p14:section>
        <p14:section name="結語" id="{4345a124-c5d3-8aa2-8244-c6c7b294daa0}">
          <p14:sldIdLst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大家好，我們是家庭記帳 FamBudget。接下來用一個空帳號，把整個產品從註冊到看建議完整走一輪，每一頁都會講到畫面上的細節。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我們想解決三件事：記帳太麻煩、錢分散在不同地方算不清楚、看了數字不知道怎麼辦。對應的做法是：說一段話由 AI 拆帳；個人、活動、家庭三種視角；以及每個數字都有出處的 AI 財務建議。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這個產品有三種視角，用的是同一套記帳。個人是自己的總帳本；活動是個人底下的小帳本，例如一趟旅行；家庭是全家合起來看。右上角一鍵切換，頁面名稱也跟著換，看名字就知道現在算的是誰的錢。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這是還沒登入時看到的首頁。接下來照這六個步驟走：開始使用、記帳、活動、家庭、回顧，最後看手機版。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註冊只要名字、email、密碼，點了驗證信才開始。接著三步設定：收入與存錢、理財習慣、主題。收入的部分可以選收入怎麼來和怎麼估；月薪設了入帳日，到了那天會自動記一筆。每一步都可以跳過。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最後一步挑主題，按一下整個系統就換成那個樣子，設定存在帳號上。進到總覽，第一次會問要不要導覽，照畫面上的東西一步一步帶。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總覽。上面兩條是本月收入和支出，點進去只看那一類。中間最大的數字是這個月還可以花多少：收入減掉每月想存就是可花上限，再扣掉已經花的。下面是進度、常用功能，最下面是今天的紀錄和預算的分頁面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記帳時直接打一段話，例如「早餐蛋餅 45，捷運 30，午餐便當 95，晚上全聯買牙膏 89」。AI 把它拆成四筆：每一筆標出原句、日期自動換算、金額、分類都填好，連店家全聯都抓出來。沒講的金額會留空讓你補，不會亂填。看過沒問題，按確認一次寫入。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記帳準不準，我們用同一份 101 題來量：上線用的 AI 整題完全正確 100.0%，只用規則是 63.4%；一句話大約 2.06 秒就拆好。沒講金額的時候，AI 不會自己亂填。AI 給的每一筆，程式還會逐筆對回原句再確認一次；最後每一筆都由使用者看過、按確認才寫入。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記完回到總覽，下方的面板第一頁就是今天的紀錄，格式跟明細一樣，可以直接修改或刪除。刪除要輸入自己的密碼，避免誤刪。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個人帳本放所有紀錄，可以依收支、來源、活動篩選；每一筆都能修改，也可以選取多筆一次刪除，刪除要輸入密碼。上個月以前的紀錄會自動收進年月包裹，畫面不會越來越長。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活動是個人底下的小帳本，旅行、聚餐都可以開一個。填名稱和一句說明就好。開始日可以訂在以後，這樣會先放在預先規劃，到了那天才放進活動選單，並通知每位成員。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右上角的活動選單只放進行中的活動，預先規劃的要到開始日才會出現，同時通知每位成員。選了某個活動，總覽、帳本、財務狀況、建議都會換成這個活動的；按回到個人就回來。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點開活動可以改所有設定，但只有建立者能改，避免大家各改各的。邀請朋友可以用完整的 email 找人，也可以產生只能用一次的邀請碼。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切到活動之後，總覽的主卡變成這個活動是什麼：說明、期間、成員、筆數和目標金額的進度。上面的收支只算活動裡的帳，不會混進個人。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換到被邀請的人這邊，活動管理最上面就是邀請，按加入就進來了。成員看得到所有資訊，但設定只有建立者能改。想離開可以退出，退出時可以把自己記的那幾筆合併回個人帳本。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接著建立家庭、邀請家人。用完整的 email 找到人，選好身分再送出。換成孩子的帳號，總覽最上面就是邀請，按加入就進來了。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孩子加入家庭之後，家長按開始照看，才看得到孩子的帳、才能給零用金；孩子也看得到是誰在照看。反過來，孩子看不到家長的帳，也看不到家庭的帳務。孩子可以自己退出家庭。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家長在孩子的頁面設定每月零用金和發放日。到了發放日，系統自動記一對帳：家長那邊一筆支出、孩子那邊一筆收入；之後改金額只會調原本那一對，不會多記。孩子的鈴鐺會馬上收到通知。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所有通知都即時進鈴鐺：家庭和活動的邀請、零用金、固定收入入帳、目標金額到了、活動開始、孩子記帳，還有花到自己設的比例時的提醒。每一則都可以刪。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回顧的第一步是統計：收支對照、近六個月的趨勢，還有錢花在哪。這些數字跟總覽、明細是同一個來源。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財務建議按一下就產生。每一則有等級、標題、AI 寫的說明，下面的依據列出每個數字和算式——這些數字由資料庫先算好，AI 只負責寫成好懂的句子；最後是具體的建議。檢查不通過的那則不會顯示，也不會推薦投資或保險。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同一套功能在手機上也能用：底部是分頁列，總覽和表格都照手機寬度重新排過。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最後用一頁整理今天看到的：開始使用、記帳、活動、家庭、回顧五大塊，手機、平板、電腦都能用。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最後是未來展望，分四個方向。AI 方面，把使用者真的改過的解析收回來，變成真實的評測和微調資料，讓自己的小模型上線、降低成本。記帳方面，拍收據、讀電子發票載具，讓記帳更省事。產品方面，做成可以加到主畫面的 PWA，用推播取代輪詢、用排程器取代現在的補做。家庭方面，加上子女的存錢任務，讓這套系統也能拿來教孩子理財。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以上是完整用一輪的過程，完整的操作影片大約六分鐘。謝謝大家，歡迎提問。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15468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家庭記帳 FamBudget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2044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家庭記帳 FamBudget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154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accent6"/>
                </a:solidFill>
              </a:rPr>
              <a:t>產品介紹：說一段話就記好帳，個人、活動、家庭一起看得懂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冠文・宇傑・明樺・囷洧　｜　2026 年 10 月　｜　LLM 應用期末專題</a:t>
            </a:r>
            <a:endParaRPr lang="en-US" sz="1600" dirty="0"/>
          </a:p>
        </p:txBody>
      </p:sp>
      <p:sp>
        <p:nvSpPr>
          <p:cNvPr id="5" name="qr-cover-card"/>
          <p:cNvSpPr/>
          <p:nvPr/>
        </p:nvSpPr>
        <p:spPr>
          <a:xfrm>
            <a:off x="9464040" y="685800"/>
            <a:ext cx="2103120" cy="25146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qr-cover" descr="C:\Users\User\Desktop\agent\final_project\report\assets\qr_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822960"/>
            <a:ext cx="1737360" cy="1737360"/>
          </a:xfrm>
          <a:prstGeom prst="rect">
            <a:avLst/>
          </a:prstGeom>
        </p:spPr>
      </p:pic>
      <p:sp>
        <p:nvSpPr>
          <p:cNvPr id="7" name="qr-cover-cap"/>
          <p:cNvSpPr/>
          <p:nvPr/>
        </p:nvSpPr>
        <p:spPr>
          <a:xfrm>
            <a:off x="9555480" y="25877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3F"/>
                </a:solidFill>
              </a:rPr>
              <a:t>掃描開啟網站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6233F"/>
                </a:solidFill>
              </a:rPr>
              <a:t>fambudget-web.onrender.com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為什麼做這個產品</a:t>
            </a:r>
            <a:endParaRPr lang="en-US" sz="3200" dirty="0"/>
          </a:p>
        </p:txBody>
      </p:sp>
      <p:sp>
        <p:nvSpPr>
          <p:cNvPr id="3" name="why-0"/>
          <p:cNvSpPr/>
          <p:nvPr/>
        </p:nvSpPr>
        <p:spPr>
          <a:xfrm>
            <a:off x="548640" y="1417320"/>
            <a:ext cx="3520440" cy="46634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why-ic-0-circle"/>
          <p:cNvSpPr/>
          <p:nvPr/>
        </p:nvSpPr>
        <p:spPr>
          <a:xfrm>
            <a:off x="868680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why-ic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" y="19275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697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記帳太麻煩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2461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accent5"/>
                </a:solidFill>
              </a:rPr>
              <a:t>早餐、午餐、加油……一筆一筆選日期、分類、填金額，三天就放棄。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5262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我們的做法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8463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說一段話，AI 拆成好幾筆、欄位都填好，你只要看過按確認</a:t>
            </a:r>
            <a:endParaRPr lang="en-US" sz="1500" dirty="0"/>
          </a:p>
        </p:txBody>
      </p:sp>
      <p:sp>
        <p:nvSpPr>
          <p:cNvPr id="10" name="why-1"/>
          <p:cNvSpPr/>
          <p:nvPr/>
        </p:nvSpPr>
        <p:spPr>
          <a:xfrm>
            <a:off x="4297680" y="1417320"/>
            <a:ext cx="3520440" cy="46634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why-ic-1-circle"/>
          <p:cNvSpPr/>
          <p:nvPr/>
        </p:nvSpPr>
        <p:spPr>
          <a:xfrm>
            <a:off x="4617720" y="17373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why-ic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15" y="192755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7720" y="2697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錢分散在不同地方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32461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accent5"/>
                </a:solidFill>
              </a:rPr>
              <a:t>自己的生活費、一趟旅行、家裡給孩子的零用錢，混在一起算不清楚。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45262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我們的做法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617720" y="48463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個人、活動、家庭三種視角，各算各的，也能合起來看</a:t>
            </a:r>
            <a:endParaRPr lang="en-US" sz="1500" dirty="0"/>
          </a:p>
        </p:txBody>
      </p:sp>
      <p:sp>
        <p:nvSpPr>
          <p:cNvPr id="17" name="why-2"/>
          <p:cNvSpPr/>
          <p:nvPr/>
        </p:nvSpPr>
        <p:spPr>
          <a:xfrm>
            <a:off x="8046720" y="1417320"/>
            <a:ext cx="3520440" cy="46634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why-ic-2-circle"/>
          <p:cNvSpPr/>
          <p:nvPr/>
        </p:nvSpPr>
        <p:spPr>
          <a:xfrm>
            <a:off x="8366760" y="1737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9" name="why-ic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955" y="1927555"/>
            <a:ext cx="351130" cy="35113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66760" y="2697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看了數字不知道怎麼辦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8366760" y="32461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accent5"/>
                </a:solidFill>
              </a:rPr>
              <a:t>知道花了多少，卻不知道算不算多、下個月該怎麼調。</a:t>
            </a:r>
            <a:endParaRPr lang="en-US" sz="1450" dirty="0"/>
          </a:p>
        </p:txBody>
      </p:sp>
      <p:sp>
        <p:nvSpPr>
          <p:cNvPr id="22" name="Text 17"/>
          <p:cNvSpPr txBox="1"/>
          <p:nvPr/>
        </p:nvSpPr>
        <p:spPr>
          <a:xfrm>
            <a:off x="8366760" y="45262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我們的做法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8366760" y="48463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財務建議，每個數字都附算式、找得到出處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三種視角，同一套記帳</a:t>
            </a:r>
            <a:endParaRPr lang="en-US" sz="3200" dirty="0"/>
          </a:p>
        </p:txBody>
      </p:sp>
      <p:sp>
        <p:nvSpPr>
          <p:cNvPr id="3" name="v2-view-0-frame"/>
          <p:cNvSpPr/>
          <p:nvPr/>
        </p:nvSpPr>
        <p:spPr>
          <a:xfrm>
            <a:off x="466344" y="1335024"/>
            <a:ext cx="3685032" cy="2364867"/>
          </a:xfrm>
          <a:prstGeom prst="roundRect">
            <a:avLst>
              <a:gd name="adj" fmla="val 4640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4" name="v2-view-0" descr="C:\Users\User\Desktop\agent\final_project\report\assets\demo\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3520440" cy="220027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個人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315968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自己的總帳本：這個月還可以花多少、今天記了什麼</a:t>
            </a:r>
            <a:endParaRPr lang="en-US" sz="1400" dirty="0"/>
          </a:p>
        </p:txBody>
      </p:sp>
      <p:sp>
        <p:nvSpPr>
          <p:cNvPr id="7" name="v2-view-1-frame"/>
          <p:cNvSpPr/>
          <p:nvPr/>
        </p:nvSpPr>
        <p:spPr>
          <a:xfrm>
            <a:off x="4215384" y="1335024"/>
            <a:ext cx="3685032" cy="2364867"/>
          </a:xfrm>
          <a:prstGeom prst="roundRect">
            <a:avLst>
              <a:gd name="adj" fmla="val 4640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8" name="v2-view-1" descr="C:\Users\User\Desktop\agent\final_project\report\assets\demo\activ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417320"/>
            <a:ext cx="3520440" cy="220027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297680" y="38404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活動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4297680" y="4315968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個人底下的小帳本：一趟旅行、一場聚餐，有自己的總覽和目標</a:t>
            </a:r>
            <a:endParaRPr lang="en-US" sz="1400" dirty="0"/>
          </a:p>
        </p:txBody>
      </p:sp>
      <p:sp>
        <p:nvSpPr>
          <p:cNvPr id="11" name="v2-view-2-frame"/>
          <p:cNvSpPr/>
          <p:nvPr/>
        </p:nvSpPr>
        <p:spPr>
          <a:xfrm>
            <a:off x="7964424" y="1335024"/>
            <a:ext cx="3685032" cy="2364867"/>
          </a:xfrm>
          <a:prstGeom prst="roundRect">
            <a:avLst>
              <a:gd name="adj" fmla="val 4640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12" name="v2-view-2" descr="C:\Users\User\Desktop\agent\final_project\report\assets\demo\famil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417320"/>
            <a:ext cx="3520440" cy="220027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046720" y="38404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家庭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8046720" y="4315968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全家合起來看：家庭的收支、長期目標、照看孩子與零用金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右上角一鍵切換「個人｜家庭」、選活動；底部分頁和常用功能跟著換名字：個人帳本、活動帳本、家庭帳本。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完整用一輪：六個步驟</a:t>
            </a:r>
            <a:endParaRPr lang="en-US" sz="3200" dirty="0"/>
          </a:p>
        </p:txBody>
      </p:sp>
      <p:sp>
        <p:nvSpPr>
          <p:cNvPr id="3" name="demo-landing-frame"/>
          <p:cNvSpPr/>
          <p:nvPr/>
        </p:nvSpPr>
        <p:spPr>
          <a:xfrm>
            <a:off x="466344" y="1289304"/>
            <a:ext cx="6199632" cy="3936492"/>
          </a:xfrm>
          <a:prstGeom prst="roundRect">
            <a:avLst>
              <a:gd name="adj" fmla="val 2787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4" name="demo-landing" descr="C:\Users\User\Desktop\agent\final_project\report\assets\demo\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035040" cy="3771900"/>
          </a:xfrm>
          <a:prstGeom prst="rect">
            <a:avLst/>
          </a:prstGeom>
        </p:spPr>
      </p:pic>
      <p:sp>
        <p:nvSpPr>
          <p:cNvPr id="5" name="flow-0-circle"/>
          <p:cNvSpPr/>
          <p:nvPr/>
        </p:nvSpPr>
        <p:spPr>
          <a:xfrm>
            <a:off x="6949440" y="1325880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flow-0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7332" y="1463772"/>
            <a:ext cx="254569" cy="25456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635240" y="128930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　開始使用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635240" y="16276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註冊、收驗證信、設定收入與存錢</a:t>
            </a:r>
            <a:endParaRPr lang="en-US" sz="1250" dirty="0"/>
          </a:p>
        </p:txBody>
      </p:sp>
      <p:sp>
        <p:nvSpPr>
          <p:cNvPr id="9" name="flow-1-circle"/>
          <p:cNvSpPr/>
          <p:nvPr/>
        </p:nvSpPr>
        <p:spPr>
          <a:xfrm>
            <a:off x="6949440" y="2112264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flow-1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7332" y="2250156"/>
            <a:ext cx="254569" cy="25456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635240" y="20756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　記帳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7635240" y="24140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說一句話，AI 幫你拆成好幾筆</a:t>
            </a:r>
            <a:endParaRPr lang="en-US" sz="1250" dirty="0"/>
          </a:p>
        </p:txBody>
      </p:sp>
      <p:sp>
        <p:nvSpPr>
          <p:cNvPr id="13" name="flow-2-circle"/>
          <p:cNvSpPr/>
          <p:nvPr/>
        </p:nvSpPr>
        <p:spPr>
          <a:xfrm>
            <a:off x="6949440" y="2898648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flow-2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7332" y="3036540"/>
            <a:ext cx="254569" cy="254569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635240" y="28620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　活動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7635240" y="3200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旅行、聚餐各記各的，也能先規劃</a:t>
            </a:r>
            <a:endParaRPr lang="en-US" sz="1250" dirty="0"/>
          </a:p>
        </p:txBody>
      </p:sp>
      <p:sp>
        <p:nvSpPr>
          <p:cNvPr id="17" name="flow-3-circle"/>
          <p:cNvSpPr/>
          <p:nvPr/>
        </p:nvSpPr>
        <p:spPr>
          <a:xfrm>
            <a:off x="6949440" y="3685032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flow-3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7332" y="3822924"/>
            <a:ext cx="254569" cy="254569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635240" y="36484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　家庭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7635240" y="39867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邀請家人、照看孩子，零用金自動記</a:t>
            </a:r>
            <a:endParaRPr lang="en-US" sz="1250" dirty="0"/>
          </a:p>
        </p:txBody>
      </p:sp>
      <p:sp>
        <p:nvSpPr>
          <p:cNvPr id="21" name="flow-4-circle"/>
          <p:cNvSpPr/>
          <p:nvPr/>
        </p:nvSpPr>
        <p:spPr>
          <a:xfrm>
            <a:off x="6949440" y="4471416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flow-4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7332" y="4609308"/>
            <a:ext cx="254569" cy="254569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635240" y="4434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　回顧</a:t>
            </a:r>
            <a:endParaRPr lang="en-US" sz="1600" dirty="0"/>
          </a:p>
        </p:txBody>
      </p:sp>
      <p:sp>
        <p:nvSpPr>
          <p:cNvPr id="24" name="Text 16"/>
          <p:cNvSpPr txBox="1"/>
          <p:nvPr/>
        </p:nvSpPr>
        <p:spPr>
          <a:xfrm>
            <a:off x="7635240" y="47731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錢花在哪；AI 財務建議，數字都有出處</a:t>
            </a:r>
            <a:endParaRPr lang="en-US" sz="1250" dirty="0"/>
          </a:p>
        </p:txBody>
      </p:sp>
      <p:sp>
        <p:nvSpPr>
          <p:cNvPr id="25" name="flow-5-circle"/>
          <p:cNvSpPr/>
          <p:nvPr/>
        </p:nvSpPr>
        <p:spPr>
          <a:xfrm>
            <a:off x="6949440" y="5257800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flow-5-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7332" y="5395692"/>
            <a:ext cx="254569" cy="254569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635240" y="522122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6　手機</a:t>
            </a:r>
            <a:endParaRPr lang="en-US" sz="1600" dirty="0"/>
          </a:p>
        </p:txBody>
      </p:sp>
      <p:sp>
        <p:nvSpPr>
          <p:cNvPr id="28" name="Text 19"/>
          <p:cNvSpPr txBox="1"/>
          <p:nvPr/>
        </p:nvSpPr>
        <p:spPr>
          <a:xfrm>
            <a:off x="7635240" y="55595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同一套功能，手機上一樣好用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1／6・開始使用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開始使用：註冊後三步設定</a:t>
            </a:r>
            <a:endParaRPr lang="en-US" sz="3200" dirty="0"/>
          </a:p>
        </p:txBody>
      </p:sp>
      <p:sp>
        <p:nvSpPr>
          <p:cNvPr id="5" name="v2-tri-0-frame"/>
          <p:cNvSpPr/>
          <p:nvPr/>
        </p:nvSpPr>
        <p:spPr>
          <a:xfrm>
            <a:off x="466344" y="1335024"/>
            <a:ext cx="3685032" cy="2364867"/>
          </a:xfrm>
          <a:prstGeom prst="roundRect">
            <a:avLst>
              <a:gd name="adj" fmla="val 4640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v2-tri-0" descr="C:\Users\User\Desktop\agent\final_project\report\assets\demo\regi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3520440" cy="22002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7947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註冊：名字、email、密碼（至少 8 個字）。寄驗證信，點了才開始用。</a:t>
            </a:r>
            <a:endParaRPr lang="en-US" sz="1400" dirty="0"/>
          </a:p>
        </p:txBody>
      </p:sp>
      <p:sp>
        <p:nvSpPr>
          <p:cNvPr id="8" name="v2-tri-1-frame"/>
          <p:cNvSpPr/>
          <p:nvPr/>
        </p:nvSpPr>
        <p:spPr>
          <a:xfrm>
            <a:off x="4215384" y="1335024"/>
            <a:ext cx="3685032" cy="2364867"/>
          </a:xfrm>
          <a:prstGeom prst="roundRect">
            <a:avLst>
              <a:gd name="adj" fmla="val 4640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9" name="v2-tri-1" descr="C:\Users\User\Desktop\agent\final_project\report\assets\demo\set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417320"/>
            <a:ext cx="3520440" cy="220027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297680" y="37947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收入與存錢：收入怎麼來（月薪、打工、接案…）、怎麼估、每月想存多少。月薪設入帳日，到了自動記。</a:t>
            </a:r>
            <a:endParaRPr lang="en-US" sz="1400" dirty="0"/>
          </a:p>
        </p:txBody>
      </p:sp>
      <p:sp>
        <p:nvSpPr>
          <p:cNvPr id="11" name="v2-tri-2-frame"/>
          <p:cNvSpPr/>
          <p:nvPr/>
        </p:nvSpPr>
        <p:spPr>
          <a:xfrm>
            <a:off x="7964424" y="1335024"/>
            <a:ext cx="3685032" cy="2364867"/>
          </a:xfrm>
          <a:prstGeom prst="roundRect">
            <a:avLst>
              <a:gd name="adj" fmla="val 4640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12" name="v2-tri-2" descr="C:\Users\User\Desktop\agent\final_project\report\assets\demo\fin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417320"/>
            <a:ext cx="3520440" cy="220027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046720" y="37947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理財習慣：理財風格、最在意的事。只拿來讓 AI 建議更貼近你，每一步都能跳過。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1／6・開始使用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挑主題、走一遍導覽</a:t>
            </a:r>
            <a:endParaRPr lang="en-US" sz="3200" dirty="0"/>
          </a:p>
        </p:txBody>
      </p:sp>
      <p:sp>
        <p:nvSpPr>
          <p:cNvPr id="5" name="demo-theme-frame"/>
          <p:cNvSpPr/>
          <p:nvPr/>
        </p:nvSpPr>
        <p:spPr>
          <a:xfrm>
            <a:off x="466344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demo-theme" descr="C:\Users\User\Desktop\agent\final_project\report\assets\demo\the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40680" cy="3400425"/>
          </a:xfrm>
          <a:prstGeom prst="rect">
            <a:avLst/>
          </a:prstGeom>
        </p:spPr>
      </p:pic>
      <p:sp>
        <p:nvSpPr>
          <p:cNvPr id="7" name="demo-tour-frame"/>
          <p:cNvSpPr/>
          <p:nvPr/>
        </p:nvSpPr>
        <p:spPr>
          <a:xfrm>
            <a:off x="6117336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8" name="demo-tour" descr="C:\Users\User\Desktop\agent\final_project\report\assets\demo\tou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371600"/>
            <a:ext cx="5440680" cy="340042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八套主題，按一下整個系統就換；存在帳號上，換裝置也一樣。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199632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第一次進來會問要不要導覽，照畫面上看得到的東西一步一步帶，隨時可以跳過。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2／6・記帳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總覽：打開就知道這個月還可以花多少</a:t>
            </a:r>
            <a:endParaRPr lang="en-US" sz="3200" dirty="0"/>
          </a:p>
        </p:txBody>
      </p:sp>
      <p:sp>
        <p:nvSpPr>
          <p:cNvPr id="5" name="v2-home-frame"/>
          <p:cNvSpPr/>
          <p:nvPr/>
        </p:nvSpPr>
        <p:spPr>
          <a:xfrm>
            <a:off x="466344" y="1243584"/>
            <a:ext cx="7388352" cy="4679442"/>
          </a:xfrm>
          <a:prstGeom prst="roundRect">
            <a:avLst>
              <a:gd name="adj" fmla="val 234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v2-home" descr="C:\Users\User\Desktop\agent\final_project\report\assets\demo\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223760" cy="4514850"/>
          </a:xfrm>
          <a:prstGeom prst="rect">
            <a:avLst/>
          </a:prstGeom>
        </p:spPr>
      </p:pic>
      <p:sp>
        <p:nvSpPr>
          <p:cNvPr id="7" name="home-m0"/>
          <p:cNvSpPr/>
          <p:nvPr/>
        </p:nvSpPr>
        <p:spPr>
          <a:xfrm>
            <a:off x="899970" y="2874903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home-mt0"/>
          <p:cNvSpPr/>
          <p:nvPr/>
        </p:nvSpPr>
        <p:spPr>
          <a:xfrm>
            <a:off x="899970" y="287490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home-m1"/>
          <p:cNvSpPr/>
          <p:nvPr/>
        </p:nvSpPr>
        <p:spPr>
          <a:xfrm>
            <a:off x="1302306" y="3173394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home-mt1"/>
          <p:cNvSpPr/>
          <p:nvPr/>
        </p:nvSpPr>
        <p:spPr>
          <a:xfrm>
            <a:off x="1302306" y="317339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home-m2"/>
          <p:cNvSpPr/>
          <p:nvPr/>
        </p:nvSpPr>
        <p:spPr>
          <a:xfrm>
            <a:off x="1041059" y="3737971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home-mt2"/>
          <p:cNvSpPr/>
          <p:nvPr/>
        </p:nvSpPr>
        <p:spPr>
          <a:xfrm>
            <a:off x="1041059" y="373797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home-m3"/>
          <p:cNvSpPr/>
          <p:nvPr/>
        </p:nvSpPr>
        <p:spPr>
          <a:xfrm>
            <a:off x="1041059" y="4128479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home-mt3"/>
          <p:cNvSpPr/>
          <p:nvPr/>
        </p:nvSpPr>
        <p:spPr>
          <a:xfrm>
            <a:off x="1041059" y="412847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home-m4"/>
          <p:cNvSpPr/>
          <p:nvPr/>
        </p:nvSpPr>
        <p:spPr>
          <a:xfrm>
            <a:off x="4059483" y="2874903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home-mt4"/>
          <p:cNvSpPr/>
          <p:nvPr/>
        </p:nvSpPr>
        <p:spPr>
          <a:xfrm>
            <a:off x="4059483" y="287490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7" name="home-m5"/>
          <p:cNvSpPr/>
          <p:nvPr/>
        </p:nvSpPr>
        <p:spPr>
          <a:xfrm>
            <a:off x="899970" y="5036299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home-mt5"/>
          <p:cNvSpPr/>
          <p:nvPr/>
        </p:nvSpPr>
        <p:spPr>
          <a:xfrm>
            <a:off x="899970" y="503629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19" name="lg-c0"/>
          <p:cNvSpPr/>
          <p:nvPr/>
        </p:nvSpPr>
        <p:spPr>
          <a:xfrm>
            <a:off x="8183880" y="1371600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20" name="lg-n0"/>
          <p:cNvSpPr/>
          <p:nvPr/>
        </p:nvSpPr>
        <p:spPr>
          <a:xfrm>
            <a:off x="8183880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641080" y="134416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本月收入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641080" y="166420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點進去只看這個月的收入；月薪已經自動記進來</a:t>
            </a:r>
            <a:endParaRPr lang="en-US" sz="1200" dirty="0"/>
          </a:p>
        </p:txBody>
      </p:sp>
      <p:sp>
        <p:nvSpPr>
          <p:cNvPr id="23" name="lg-c1"/>
          <p:cNvSpPr/>
          <p:nvPr/>
        </p:nvSpPr>
        <p:spPr>
          <a:xfrm>
            <a:off x="8183880" y="2176272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24" name="lg-n1"/>
          <p:cNvSpPr/>
          <p:nvPr/>
        </p:nvSpPr>
        <p:spPr>
          <a:xfrm>
            <a:off x="8183880" y="2176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641080" y="21488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本月支出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8641080" y="246888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點進去只看這個月的支出</a:t>
            </a:r>
            <a:endParaRPr lang="en-US" sz="1200" dirty="0"/>
          </a:p>
        </p:txBody>
      </p:sp>
      <p:sp>
        <p:nvSpPr>
          <p:cNvPr id="27" name="lg-c2"/>
          <p:cNvSpPr/>
          <p:nvPr/>
        </p:nvSpPr>
        <p:spPr>
          <a:xfrm>
            <a:off x="8183880" y="2980944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28" name="lg-n2"/>
          <p:cNvSpPr/>
          <p:nvPr/>
        </p:nvSpPr>
        <p:spPr>
          <a:xfrm>
            <a:off x="8183880" y="2980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641080" y="295351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這個月還可以花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8641080" y="327355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收入 − 每月想存 ＝ 可花上限，再扣掉已經花的</a:t>
            </a:r>
            <a:endParaRPr lang="en-US" sz="1200" dirty="0"/>
          </a:p>
        </p:txBody>
      </p:sp>
      <p:sp>
        <p:nvSpPr>
          <p:cNvPr id="31" name="lg-c3"/>
          <p:cNvSpPr/>
          <p:nvPr/>
        </p:nvSpPr>
        <p:spPr>
          <a:xfrm>
            <a:off x="8183880" y="3785616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32" name="lg-n3"/>
          <p:cNvSpPr/>
          <p:nvPr/>
        </p:nvSpPr>
        <p:spPr>
          <a:xfrm>
            <a:off x="8183880" y="3785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641080" y="375818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已用幾成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8641080" y="407822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進度條、可花上限、每月想存，超過會變紅</a:t>
            </a:r>
            <a:endParaRPr lang="en-US" sz="1200" dirty="0"/>
          </a:p>
        </p:txBody>
      </p:sp>
      <p:sp>
        <p:nvSpPr>
          <p:cNvPr id="35" name="lg-c4"/>
          <p:cNvSpPr/>
          <p:nvPr/>
        </p:nvSpPr>
        <p:spPr>
          <a:xfrm>
            <a:off x="8183880" y="4590288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36" name="lg-n4"/>
          <p:cNvSpPr/>
          <p:nvPr/>
        </p:nvSpPr>
        <p:spPr>
          <a:xfrm>
            <a:off x="8183880" y="4590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641080" y="456285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常用功能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8641080" y="488289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記一筆、個人帳本、活動、財務狀況與建議</a:t>
            </a:r>
            <a:endParaRPr lang="en-US" sz="1200" dirty="0"/>
          </a:p>
        </p:txBody>
      </p:sp>
      <p:sp>
        <p:nvSpPr>
          <p:cNvPr id="39" name="lg-c5"/>
          <p:cNvSpPr/>
          <p:nvPr/>
        </p:nvSpPr>
        <p:spPr>
          <a:xfrm>
            <a:off x="8183880" y="5394960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40" name="lg-n5"/>
          <p:cNvSpPr/>
          <p:nvPr/>
        </p:nvSpPr>
        <p:spPr>
          <a:xfrm>
            <a:off x="8183880" y="5394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8641080" y="53675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下方面板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8641080" y="568756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今天的紀錄｜預算使用狀況，在面板裡捲動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2／6・記帳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一句話，記好幾筆</a:t>
            </a:r>
            <a:endParaRPr lang="en-US" sz="3200" dirty="0"/>
          </a:p>
        </p:txBody>
      </p:sp>
      <p:sp>
        <p:nvSpPr>
          <p:cNvPr id="5" name="v2-parse-frame"/>
          <p:cNvSpPr/>
          <p:nvPr/>
        </p:nvSpPr>
        <p:spPr>
          <a:xfrm>
            <a:off x="466344" y="1243584"/>
            <a:ext cx="7388352" cy="4679442"/>
          </a:xfrm>
          <a:prstGeom prst="roundRect">
            <a:avLst>
              <a:gd name="adj" fmla="val 234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v2-parse" descr="C:\Users\User\Desktop\agent\final_project\report\assets\demo\par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223760" cy="4514850"/>
          </a:xfrm>
          <a:prstGeom prst="rect">
            <a:avLst/>
          </a:prstGeom>
        </p:spPr>
      </p:pic>
      <p:sp>
        <p:nvSpPr>
          <p:cNvPr id="7" name="parse-m0"/>
          <p:cNvSpPr/>
          <p:nvPr/>
        </p:nvSpPr>
        <p:spPr>
          <a:xfrm>
            <a:off x="1481257" y="2971813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parse-mt0"/>
          <p:cNvSpPr/>
          <p:nvPr/>
        </p:nvSpPr>
        <p:spPr>
          <a:xfrm>
            <a:off x="1481257" y="297181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parse-m1"/>
          <p:cNvSpPr/>
          <p:nvPr/>
        </p:nvSpPr>
        <p:spPr>
          <a:xfrm>
            <a:off x="2767989" y="2851006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parse-mt1"/>
          <p:cNvSpPr/>
          <p:nvPr/>
        </p:nvSpPr>
        <p:spPr>
          <a:xfrm>
            <a:off x="2767989" y="28510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parse-m2"/>
          <p:cNvSpPr/>
          <p:nvPr/>
        </p:nvSpPr>
        <p:spPr>
          <a:xfrm>
            <a:off x="3591949" y="2851006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parse-mt2"/>
          <p:cNvSpPr/>
          <p:nvPr/>
        </p:nvSpPr>
        <p:spPr>
          <a:xfrm>
            <a:off x="3591949" y="28510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parse-m3"/>
          <p:cNvSpPr/>
          <p:nvPr/>
        </p:nvSpPr>
        <p:spPr>
          <a:xfrm>
            <a:off x="4822246" y="2851006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parse-mt3"/>
          <p:cNvSpPr/>
          <p:nvPr/>
        </p:nvSpPr>
        <p:spPr>
          <a:xfrm>
            <a:off x="4822246" y="28510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parse-m4"/>
          <p:cNvSpPr/>
          <p:nvPr/>
        </p:nvSpPr>
        <p:spPr>
          <a:xfrm>
            <a:off x="5533334" y="4210487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parse-mt4"/>
          <p:cNvSpPr/>
          <p:nvPr/>
        </p:nvSpPr>
        <p:spPr>
          <a:xfrm>
            <a:off x="5533334" y="421048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7" name="parse-m5"/>
          <p:cNvSpPr/>
          <p:nvPr/>
        </p:nvSpPr>
        <p:spPr>
          <a:xfrm>
            <a:off x="1148286" y="4648745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parse-mt5"/>
          <p:cNvSpPr/>
          <p:nvPr/>
        </p:nvSpPr>
        <p:spPr>
          <a:xfrm>
            <a:off x="1148286" y="464874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19" name="parse-in"/>
          <p:cNvSpPr/>
          <p:nvPr/>
        </p:nvSpPr>
        <p:spPr>
          <a:xfrm>
            <a:off x="8183880" y="1325880"/>
            <a:ext cx="3474720" cy="868680"/>
          </a:xfrm>
          <a:prstGeom prst="roundRect">
            <a:avLst>
              <a:gd name="adj" fmla="val 14737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321040" y="13716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輸入：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早餐蛋餅 45，捷運 30，午餐便當 95，晚上全聯買牙膏 89</a:t>
            </a:r>
            <a:endParaRPr lang="en-US" sz="1250" dirty="0"/>
          </a:p>
        </p:txBody>
      </p:sp>
      <p:sp>
        <p:nvSpPr>
          <p:cNvPr id="21" name="lg-c0"/>
          <p:cNvSpPr/>
          <p:nvPr/>
        </p:nvSpPr>
        <p:spPr>
          <a:xfrm>
            <a:off x="8183880" y="2377440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22" name="lg-n0"/>
          <p:cNvSpPr/>
          <p:nvPr/>
        </p:nvSpPr>
        <p:spPr>
          <a:xfrm>
            <a:off x="8183880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641080" y="235000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原句對照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641080" y="26700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每一筆都標出是從哪一句拆出來的</a:t>
            </a:r>
            <a:endParaRPr lang="en-US" sz="1200" dirty="0"/>
          </a:p>
        </p:txBody>
      </p:sp>
      <p:sp>
        <p:nvSpPr>
          <p:cNvPr id="25" name="lg-c1"/>
          <p:cNvSpPr/>
          <p:nvPr/>
        </p:nvSpPr>
        <p:spPr>
          <a:xfrm>
            <a:off x="8183880" y="3054096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26" name="lg-n1"/>
          <p:cNvSpPr/>
          <p:nvPr/>
        </p:nvSpPr>
        <p:spPr>
          <a:xfrm>
            <a:off x="8183880" y="3054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8641080" y="30266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日期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8641080" y="334670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「昨天」「上禮拜三」會自動換算</a:t>
            </a:r>
            <a:endParaRPr lang="en-US" sz="1200" dirty="0"/>
          </a:p>
        </p:txBody>
      </p:sp>
      <p:sp>
        <p:nvSpPr>
          <p:cNvPr id="29" name="lg-c2"/>
          <p:cNvSpPr/>
          <p:nvPr/>
        </p:nvSpPr>
        <p:spPr>
          <a:xfrm>
            <a:off x="8183880" y="3730752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30" name="lg-n2"/>
          <p:cNvSpPr/>
          <p:nvPr/>
        </p:nvSpPr>
        <p:spPr>
          <a:xfrm>
            <a:off x="8183880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8641080" y="37033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金額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8641080" y="40233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沒講金額的留空，不會亂填</a:t>
            </a:r>
            <a:endParaRPr lang="en-US" sz="1200" dirty="0"/>
          </a:p>
        </p:txBody>
      </p:sp>
      <p:sp>
        <p:nvSpPr>
          <p:cNvPr id="33" name="lg-c3"/>
          <p:cNvSpPr/>
          <p:nvPr/>
        </p:nvSpPr>
        <p:spPr>
          <a:xfrm>
            <a:off x="8183880" y="4407408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34" name="lg-n3"/>
          <p:cNvSpPr/>
          <p:nvPr/>
        </p:nvSpPr>
        <p:spPr>
          <a:xfrm>
            <a:off x="8183880" y="4407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8641080" y="437997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分類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8641080" y="470001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照你家的分類挑；家庭自訂的也行</a:t>
            </a:r>
            <a:endParaRPr lang="en-US" sz="1200" dirty="0"/>
          </a:p>
        </p:txBody>
      </p:sp>
      <p:sp>
        <p:nvSpPr>
          <p:cNvPr id="37" name="lg-c4"/>
          <p:cNvSpPr/>
          <p:nvPr/>
        </p:nvSpPr>
        <p:spPr>
          <a:xfrm>
            <a:off x="8183880" y="5084064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38" name="lg-n4"/>
          <p:cNvSpPr/>
          <p:nvPr/>
        </p:nvSpPr>
        <p:spPr>
          <a:xfrm>
            <a:off x="8183880" y="5084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8641080" y="505663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店家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8641080" y="53766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「全聯」這類店名自動抓出來</a:t>
            </a:r>
            <a:endParaRPr lang="en-US" sz="1200" dirty="0"/>
          </a:p>
        </p:txBody>
      </p:sp>
      <p:sp>
        <p:nvSpPr>
          <p:cNvPr id="41" name="lg-c5"/>
          <p:cNvSpPr/>
          <p:nvPr/>
        </p:nvSpPr>
        <p:spPr>
          <a:xfrm>
            <a:off x="8183880" y="5760720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42" name="lg-n5"/>
          <p:cNvSpPr/>
          <p:nvPr/>
        </p:nvSpPr>
        <p:spPr>
          <a:xfrm>
            <a:off x="8183880" y="5760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8641080" y="573328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確認寫入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8641080" y="605332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看過、改過，一次寫入全部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2／6・記帳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AI 記帳：準、快，最後由你確認</a:t>
            </a:r>
            <a:endParaRPr lang="en-US" sz="3200" dirty="0"/>
          </a:p>
        </p:txBody>
      </p:sp>
      <p:sp>
        <p:nvSpPr>
          <p:cNvPr id="5" name="ai-big-0"/>
          <p:cNvSpPr/>
          <p:nvPr/>
        </p:nvSpPr>
        <p:spPr>
          <a:xfrm>
            <a:off x="548640" y="1371600"/>
            <a:ext cx="3520440" cy="2057400"/>
          </a:xfrm>
          <a:prstGeom prst="roundRect">
            <a:avLst>
              <a:gd name="adj" fmla="val 6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08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整題完全正確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163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同一份 101 題；只用規則是 63.4%</a:t>
            </a:r>
            <a:endParaRPr lang="en-US" sz="1300" dirty="0"/>
          </a:p>
        </p:txBody>
      </p:sp>
      <p:sp>
        <p:nvSpPr>
          <p:cNvPr id="9" name="ai-big-1"/>
          <p:cNvSpPr/>
          <p:nvPr/>
        </p:nvSpPr>
        <p:spPr>
          <a:xfrm>
            <a:off x="4297680" y="1371600"/>
            <a:ext cx="3520440" cy="2057400"/>
          </a:xfrm>
          <a:prstGeom prst="roundRect">
            <a:avLst>
              <a:gd name="adj" fmla="val 6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508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2.06 秒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377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一句話解析完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8163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大部分在 5.16 秒內</a:t>
            </a:r>
            <a:endParaRPr lang="en-US" sz="1300" dirty="0"/>
          </a:p>
        </p:txBody>
      </p:sp>
      <p:sp>
        <p:nvSpPr>
          <p:cNvPr id="13" name="ai-big-2"/>
          <p:cNvSpPr/>
          <p:nvPr/>
        </p:nvSpPr>
        <p:spPr>
          <a:xfrm>
            <a:off x="8046720" y="1371600"/>
            <a:ext cx="3520440" cy="2057400"/>
          </a:xfrm>
          <a:prstGeom prst="roundRect">
            <a:avLst>
              <a:gd name="adj" fmla="val 6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1508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377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沒講金額卻亂填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8163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沒講的就留空，讓你自己補</a:t>
            </a:r>
            <a:endParaRPr lang="en-US" sz="1300" dirty="0"/>
          </a:p>
        </p:txBody>
      </p:sp>
      <p:sp>
        <p:nvSpPr>
          <p:cNvPr id="17" name="ai-how-0"/>
          <p:cNvSpPr/>
          <p:nvPr/>
        </p:nvSpPr>
        <p:spPr>
          <a:xfrm>
            <a:off x="548640" y="3703320"/>
            <a:ext cx="3520440" cy="2377440"/>
          </a:xfrm>
          <a:prstGeom prst="roundRect">
            <a:avLst>
              <a:gd name="adj" fmla="val 5385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8" name="ai-how-ic-0-circle"/>
          <p:cNvSpPr/>
          <p:nvPr/>
        </p:nvSpPr>
        <p:spPr>
          <a:xfrm>
            <a:off x="822960" y="3931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ai-how-ic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4074566"/>
            <a:ext cx="263347" cy="263347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508760" y="39319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聽得懂口語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663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「昨天」「上禮拜三」、中文數字、店名都認得，一段話裡有幾筆就拆幾筆</a:t>
            </a:r>
            <a:endParaRPr lang="en-US" sz="1350" dirty="0"/>
          </a:p>
        </p:txBody>
      </p:sp>
      <p:sp>
        <p:nvSpPr>
          <p:cNvPr id="22" name="ai-how-1"/>
          <p:cNvSpPr/>
          <p:nvPr/>
        </p:nvSpPr>
        <p:spPr>
          <a:xfrm>
            <a:off x="4297680" y="3703320"/>
            <a:ext cx="3520440" cy="2377440"/>
          </a:xfrm>
          <a:prstGeom prst="roundRect">
            <a:avLst>
              <a:gd name="adj" fmla="val 5385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3" name="ai-how-ic-1-circle"/>
          <p:cNvSpPr/>
          <p:nvPr/>
        </p:nvSpPr>
        <p:spPr>
          <a:xfrm>
            <a:off x="4572000" y="3931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ai-how-ic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4074566"/>
            <a:ext cx="263347" cy="263347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257800" y="39319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程式再對一次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4572000" y="4663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AI 給的每一筆，程式逐筆對回原句；金額、日期對不上就不採用</a:t>
            </a:r>
            <a:endParaRPr lang="en-US" sz="1350" dirty="0"/>
          </a:p>
        </p:txBody>
      </p:sp>
      <p:sp>
        <p:nvSpPr>
          <p:cNvPr id="27" name="ai-how-2"/>
          <p:cNvSpPr/>
          <p:nvPr/>
        </p:nvSpPr>
        <p:spPr>
          <a:xfrm>
            <a:off x="8046720" y="3703320"/>
            <a:ext cx="3520440" cy="2377440"/>
          </a:xfrm>
          <a:prstGeom prst="roundRect">
            <a:avLst>
              <a:gd name="adj" fmla="val 5385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8" name="ai-how-ic-2-circle"/>
          <p:cNvSpPr/>
          <p:nvPr/>
        </p:nvSpPr>
        <p:spPr>
          <a:xfrm>
            <a:off x="8321040" y="3931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ai-how-ic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86" y="4074566"/>
            <a:ext cx="263347" cy="263347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9006840" y="39319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你說了算</a:t>
            </a:r>
            <a:endParaRPr lang="en-US" sz="1700" dirty="0"/>
          </a:p>
        </p:txBody>
      </p:sp>
      <p:sp>
        <p:nvSpPr>
          <p:cNvPr id="31" name="Text 26"/>
          <p:cNvSpPr txBox="1"/>
          <p:nvPr/>
        </p:nvSpPr>
        <p:spPr>
          <a:xfrm>
            <a:off x="8321040" y="4663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每一筆都能改，按確認才寫入；改過的都有記錄，之後拿來讓 AI 更準</a:t>
            </a:r>
            <a:endParaRPr lang="en-US" sz="1350" dirty="0"/>
          </a:p>
        </p:txBody>
      </p:sp>
      <p:sp>
        <p:nvSpPr>
          <p:cNvPr id="32" name="Text 27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測試題目由 AI 產生、句子比真人說話整齊，100% 不代表不會錯；所以每一筆最後都由你確認。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2／6・記帳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今天記了什麼，一眼看完</a:t>
            </a:r>
            <a:endParaRPr lang="en-US" sz="3200" dirty="0"/>
          </a:p>
        </p:txBody>
      </p:sp>
      <p:sp>
        <p:nvSpPr>
          <p:cNvPr id="5" name="demo-today-frame"/>
          <p:cNvSpPr/>
          <p:nvPr/>
        </p:nvSpPr>
        <p:spPr>
          <a:xfrm>
            <a:off x="466344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demo-today" descr="C:\Users\User\Desktop\agent\final_project\report\assets\demo\tod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40680" cy="3400425"/>
          </a:xfrm>
          <a:prstGeom prst="rect">
            <a:avLst/>
          </a:prstGeom>
        </p:spPr>
      </p:pic>
      <p:sp>
        <p:nvSpPr>
          <p:cNvPr id="7" name="demo-danger-frame"/>
          <p:cNvSpPr/>
          <p:nvPr/>
        </p:nvSpPr>
        <p:spPr>
          <a:xfrm>
            <a:off x="6117336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8" name="demo-danger" descr="C:\Users\User\Desktop\agent\final_project\report\assets\demo\dang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371600"/>
            <a:ext cx="5440680" cy="340042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總覽下方的面板：第一頁是今天的紀錄，格式跟明細一樣，可以直接改、刪。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199632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刪除前要輸入自己的密碼，不會一不小心就刪掉。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2／6・記帳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個人帳本：所有紀錄都在這裡</a:t>
            </a:r>
            <a:endParaRPr lang="en-US" sz="3200" dirty="0"/>
          </a:p>
        </p:txBody>
      </p:sp>
      <p:sp>
        <p:nvSpPr>
          <p:cNvPr id="5" name="v2-entry-frame"/>
          <p:cNvSpPr/>
          <p:nvPr/>
        </p:nvSpPr>
        <p:spPr>
          <a:xfrm>
            <a:off x="466344" y="1243584"/>
            <a:ext cx="7388352" cy="4679442"/>
          </a:xfrm>
          <a:prstGeom prst="roundRect">
            <a:avLst>
              <a:gd name="adj" fmla="val 234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v2-entry" descr="C:\Users\User\Desktop\agent\final_project\report\assets\en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223760" cy="4514850"/>
          </a:xfrm>
          <a:prstGeom prst="rect">
            <a:avLst/>
          </a:prstGeom>
        </p:spPr>
      </p:pic>
      <p:sp>
        <p:nvSpPr>
          <p:cNvPr id="7" name="v2-ck-0-circle"/>
          <p:cNvSpPr/>
          <p:nvPr/>
        </p:nvSpPr>
        <p:spPr>
          <a:xfrm>
            <a:off x="8183880" y="149047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v2-ck-0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8978" y="1585570"/>
            <a:ext cx="175565" cy="17556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686800" y="146304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收支、來源（AI 解析／手動／自動入帳）、活動都能篩</a:t>
            </a:r>
            <a:endParaRPr lang="en-US" sz="1450" dirty="0"/>
          </a:p>
        </p:txBody>
      </p:sp>
      <p:sp>
        <p:nvSpPr>
          <p:cNvPr id="10" name="v2-ck-1-circle"/>
          <p:cNvSpPr/>
          <p:nvPr/>
        </p:nvSpPr>
        <p:spPr>
          <a:xfrm>
            <a:off x="8183880" y="254203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v2-ck-1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978" y="2637130"/>
            <a:ext cx="175565" cy="17556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86800" y="25146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每一筆都能改；選取多筆一次刪除（要密碼）</a:t>
            </a:r>
            <a:endParaRPr lang="en-US" sz="1450" dirty="0"/>
          </a:p>
        </p:txBody>
      </p:sp>
      <p:sp>
        <p:nvSpPr>
          <p:cNvPr id="13" name="v2-ck-2-circle"/>
          <p:cNvSpPr/>
          <p:nvPr/>
        </p:nvSpPr>
        <p:spPr>
          <a:xfrm>
            <a:off x="8183880" y="359359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v2-ck-2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8978" y="3688690"/>
            <a:ext cx="175565" cy="17556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686800" y="35661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上個月以前自動收進「年月包裹」，點開才展開</a:t>
            </a:r>
            <a:endParaRPr lang="en-US" sz="1450" dirty="0"/>
          </a:p>
        </p:txBody>
      </p:sp>
      <p:sp>
        <p:nvSpPr>
          <p:cNvPr id="16" name="v2-ck-3-circle"/>
          <p:cNvSpPr/>
          <p:nvPr/>
        </p:nvSpPr>
        <p:spPr>
          <a:xfrm>
            <a:off x="8183880" y="464515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v2-ck-3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8978" y="4740250"/>
            <a:ext cx="175565" cy="17556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686800" y="46177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右上角搜尋，直接找某一筆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3／6・活動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活動：旅行、聚餐各記各的</a:t>
            </a:r>
            <a:endParaRPr lang="en-US" sz="3200" dirty="0"/>
          </a:p>
        </p:txBody>
      </p:sp>
      <p:sp>
        <p:nvSpPr>
          <p:cNvPr id="5" name="demo-create-frame"/>
          <p:cNvSpPr/>
          <p:nvPr/>
        </p:nvSpPr>
        <p:spPr>
          <a:xfrm>
            <a:off x="466344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demo-create" descr="C:\Users\User\Desktop\agent\final_project\report\assets\demo\cre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40680" cy="3400425"/>
          </a:xfrm>
          <a:prstGeom prst="rect">
            <a:avLst/>
          </a:prstGeom>
        </p:spPr>
      </p:pic>
      <p:sp>
        <p:nvSpPr>
          <p:cNvPr id="7" name="demo-planned-frame"/>
          <p:cNvSpPr/>
          <p:nvPr/>
        </p:nvSpPr>
        <p:spPr>
          <a:xfrm>
            <a:off x="6117336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8" name="demo-planned" descr="C:\Users\User\Desktop\agent\final_project\report\assets\demo\plann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371600"/>
            <a:ext cx="5440680" cy="340042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填名稱和一句說明；開始日預設今天，結束日選填。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199632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開始日訂在以後就是「預先規劃」：到了那天才放進活動選單，並通知成員。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3／6・活動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活動選單：只放進行中的活動</a:t>
            </a:r>
            <a:endParaRPr lang="en-US" sz="3200" dirty="0"/>
          </a:p>
        </p:txBody>
      </p:sp>
      <p:sp>
        <p:nvSpPr>
          <p:cNvPr id="5" name="v2-dropdown-frame"/>
          <p:cNvSpPr/>
          <p:nvPr/>
        </p:nvSpPr>
        <p:spPr>
          <a:xfrm>
            <a:off x="466344" y="1243584"/>
            <a:ext cx="7388352" cy="4679442"/>
          </a:xfrm>
          <a:prstGeom prst="roundRect">
            <a:avLst>
              <a:gd name="adj" fmla="val 234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v2-dropdown" descr="C:\Users\User\Desktop\agent\final_project\report\assets\demo\drop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223760" cy="4514850"/>
          </a:xfrm>
          <a:prstGeom prst="rect">
            <a:avLst/>
          </a:prstGeom>
        </p:spPr>
      </p:pic>
      <p:sp>
        <p:nvSpPr>
          <p:cNvPr id="7" name="v2-ck-0-circle"/>
          <p:cNvSpPr/>
          <p:nvPr/>
        </p:nvSpPr>
        <p:spPr>
          <a:xfrm>
            <a:off x="8183880" y="149047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v2-ck-0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8978" y="1585570"/>
            <a:ext cx="175565" cy="17556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686800" y="146304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預先規劃（還沒開始）的不會出現在選單</a:t>
            </a:r>
            <a:endParaRPr lang="en-US" sz="1450" dirty="0"/>
          </a:p>
        </p:txBody>
      </p:sp>
      <p:sp>
        <p:nvSpPr>
          <p:cNvPr id="10" name="v2-ck-1-circle"/>
          <p:cNvSpPr/>
          <p:nvPr/>
        </p:nvSpPr>
        <p:spPr>
          <a:xfrm>
            <a:off x="8183880" y="254203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v2-ck-1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978" y="2637130"/>
            <a:ext cx="175565" cy="17556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86800" y="25146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到了開始日自動放上去，並通知每位成員</a:t>
            </a:r>
            <a:endParaRPr lang="en-US" sz="1450" dirty="0"/>
          </a:p>
        </p:txBody>
      </p:sp>
      <p:sp>
        <p:nvSpPr>
          <p:cNvPr id="13" name="v2-ck-2-circle"/>
          <p:cNvSpPr/>
          <p:nvPr/>
        </p:nvSpPr>
        <p:spPr>
          <a:xfrm>
            <a:off x="8183880" y="359359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v2-ck-2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8978" y="3688690"/>
            <a:ext cx="175565" cy="17556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686800" y="35661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選了活動，總覽、帳本、狀況、建議都換成這個活動的</a:t>
            </a:r>
            <a:endParaRPr lang="en-US" sz="1450" dirty="0"/>
          </a:p>
        </p:txBody>
      </p:sp>
      <p:sp>
        <p:nvSpPr>
          <p:cNvPr id="16" name="v2-ck-3-circle"/>
          <p:cNvSpPr/>
          <p:nvPr/>
        </p:nvSpPr>
        <p:spPr>
          <a:xfrm>
            <a:off x="8183880" y="464515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v2-ck-3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8978" y="4740250"/>
            <a:ext cx="175565" cy="17556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686800" y="46177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按「回到個人」一鍵回到自己的帳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3／6・活動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活動的設定與邀請朋友</a:t>
            </a:r>
            <a:endParaRPr lang="en-US" sz="3200" dirty="0"/>
          </a:p>
        </p:txBody>
      </p:sp>
      <p:sp>
        <p:nvSpPr>
          <p:cNvPr id="5" name="demo-settings-frame"/>
          <p:cNvSpPr/>
          <p:nvPr/>
        </p:nvSpPr>
        <p:spPr>
          <a:xfrm>
            <a:off x="466344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demo-settings" descr="C:\Users\User\Desktop\agent\final_project\report\assets\demo\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40680" cy="3400425"/>
          </a:xfrm>
          <a:prstGeom prst="rect">
            <a:avLst/>
          </a:prstGeom>
        </p:spPr>
      </p:pic>
      <p:sp>
        <p:nvSpPr>
          <p:cNvPr id="7" name="demo-invite_friend-frame"/>
          <p:cNvSpPr/>
          <p:nvPr/>
        </p:nvSpPr>
        <p:spPr>
          <a:xfrm>
            <a:off x="6117336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8" name="demo-invite_friend" descr="C:\Users\User\Desktop\agent\final_project\report\assets\demo\invite_fri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371600"/>
            <a:ext cx="5440680" cy="340042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名稱、說明、開始日、結束日、顏色、目標金額，建立後都能改——只有建立者能改。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199632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用完整 email 找到朋友再送出；或產生只能用一次、7 天有效的邀請碼。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3／6・活動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活動總覽：一張卡看懂這個活動</a:t>
            </a:r>
            <a:endParaRPr lang="en-US" sz="3200" dirty="0"/>
          </a:p>
        </p:txBody>
      </p:sp>
      <p:sp>
        <p:nvSpPr>
          <p:cNvPr id="5" name="v2-act-frame"/>
          <p:cNvSpPr/>
          <p:nvPr/>
        </p:nvSpPr>
        <p:spPr>
          <a:xfrm>
            <a:off x="466344" y="1243584"/>
            <a:ext cx="7388352" cy="4679442"/>
          </a:xfrm>
          <a:prstGeom prst="roundRect">
            <a:avLst>
              <a:gd name="adj" fmla="val 234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v2-act" descr="C:\Users\User\Desktop\agent\final_project\report\assets\demo\a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223760" cy="4514850"/>
          </a:xfrm>
          <a:prstGeom prst="rect">
            <a:avLst/>
          </a:prstGeom>
        </p:spPr>
      </p:pic>
      <p:sp>
        <p:nvSpPr>
          <p:cNvPr id="7" name="act-m0"/>
          <p:cNvSpPr/>
          <p:nvPr/>
        </p:nvSpPr>
        <p:spPr>
          <a:xfrm>
            <a:off x="1041059" y="3515888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act-mt0"/>
          <p:cNvSpPr/>
          <p:nvPr/>
        </p:nvSpPr>
        <p:spPr>
          <a:xfrm>
            <a:off x="1041059" y="3515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act-m1"/>
          <p:cNvSpPr/>
          <p:nvPr/>
        </p:nvSpPr>
        <p:spPr>
          <a:xfrm>
            <a:off x="1041059" y="3935672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act-mt1"/>
          <p:cNvSpPr/>
          <p:nvPr/>
        </p:nvSpPr>
        <p:spPr>
          <a:xfrm>
            <a:off x="1041059" y="3935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act-m2"/>
          <p:cNvSpPr/>
          <p:nvPr/>
        </p:nvSpPr>
        <p:spPr>
          <a:xfrm>
            <a:off x="1368385" y="4323843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act-mt2"/>
          <p:cNvSpPr/>
          <p:nvPr/>
        </p:nvSpPr>
        <p:spPr>
          <a:xfrm>
            <a:off x="1368385" y="432384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act-m3"/>
          <p:cNvSpPr/>
          <p:nvPr/>
        </p:nvSpPr>
        <p:spPr>
          <a:xfrm>
            <a:off x="1704642" y="3173394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act-mt3"/>
          <p:cNvSpPr/>
          <p:nvPr/>
        </p:nvSpPr>
        <p:spPr>
          <a:xfrm>
            <a:off x="1704642" y="317339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act-m4"/>
          <p:cNvSpPr/>
          <p:nvPr/>
        </p:nvSpPr>
        <p:spPr>
          <a:xfrm>
            <a:off x="5470814" y="3291116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act-mt4"/>
          <p:cNvSpPr/>
          <p:nvPr/>
        </p:nvSpPr>
        <p:spPr>
          <a:xfrm>
            <a:off x="5470814" y="32911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7" name="act-m5"/>
          <p:cNvSpPr/>
          <p:nvPr/>
        </p:nvSpPr>
        <p:spPr>
          <a:xfrm>
            <a:off x="899970" y="5060813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act-mt5"/>
          <p:cNvSpPr/>
          <p:nvPr/>
        </p:nvSpPr>
        <p:spPr>
          <a:xfrm>
            <a:off x="899970" y="506081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19" name="lg-c0"/>
          <p:cNvSpPr/>
          <p:nvPr/>
        </p:nvSpPr>
        <p:spPr>
          <a:xfrm>
            <a:off x="8183880" y="1371600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20" name="lg-n0"/>
          <p:cNvSpPr/>
          <p:nvPr/>
        </p:nvSpPr>
        <p:spPr>
          <a:xfrm>
            <a:off x="8183880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641080" y="134416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說明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641080" y="166420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建立者寫的一句話：這個活動在做什麼</a:t>
            </a:r>
            <a:endParaRPr lang="en-US" sz="1200" dirty="0"/>
          </a:p>
        </p:txBody>
      </p:sp>
      <p:sp>
        <p:nvSpPr>
          <p:cNvPr id="23" name="lg-c1"/>
          <p:cNvSpPr/>
          <p:nvPr/>
        </p:nvSpPr>
        <p:spPr>
          <a:xfrm>
            <a:off x="8183880" y="2176272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24" name="lg-n1"/>
          <p:cNvSpPr/>
          <p:nvPr/>
        </p:nvSpPr>
        <p:spPr>
          <a:xfrm>
            <a:off x="8183880" y="2176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641080" y="21488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期間、成員、紀錄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8641080" y="246888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幾號開始、還有幾天結束；誰在裡面；記了幾筆</a:t>
            </a:r>
            <a:endParaRPr lang="en-US" sz="1200" dirty="0"/>
          </a:p>
        </p:txBody>
      </p:sp>
      <p:sp>
        <p:nvSpPr>
          <p:cNvPr id="27" name="lg-c2"/>
          <p:cNvSpPr/>
          <p:nvPr/>
        </p:nvSpPr>
        <p:spPr>
          <a:xfrm>
            <a:off x="8183880" y="2980944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28" name="lg-n2"/>
          <p:cNvSpPr/>
          <p:nvPr/>
        </p:nvSpPr>
        <p:spPr>
          <a:xfrm>
            <a:off x="8183880" y="2980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641080" y="295351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目標金額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8641080" y="327355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到了幾成；到了通知全部成員</a:t>
            </a:r>
            <a:endParaRPr lang="en-US" sz="1200" dirty="0"/>
          </a:p>
        </p:txBody>
      </p:sp>
      <p:sp>
        <p:nvSpPr>
          <p:cNvPr id="31" name="lg-c3"/>
          <p:cNvSpPr/>
          <p:nvPr/>
        </p:nvSpPr>
        <p:spPr>
          <a:xfrm>
            <a:off x="8183880" y="3785616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32" name="lg-n3"/>
          <p:cNvSpPr/>
          <p:nvPr/>
        </p:nvSpPr>
        <p:spPr>
          <a:xfrm>
            <a:off x="8183880" y="3785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641080" y="375818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活動的支出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8641080" y="407822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只算這個活動裡的帳，不混進個人</a:t>
            </a:r>
            <a:endParaRPr lang="en-US" sz="1200" dirty="0"/>
          </a:p>
        </p:txBody>
      </p:sp>
      <p:sp>
        <p:nvSpPr>
          <p:cNvPr id="35" name="lg-c4"/>
          <p:cNvSpPr/>
          <p:nvPr/>
        </p:nvSpPr>
        <p:spPr>
          <a:xfrm>
            <a:off x="8183880" y="4590288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36" name="lg-n4"/>
          <p:cNvSpPr/>
          <p:nvPr/>
        </p:nvSpPr>
        <p:spPr>
          <a:xfrm>
            <a:off x="8183880" y="4590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641080" y="456285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回到個人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8641080" y="488289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一鍵離開活動，回到自己的總覽</a:t>
            </a:r>
            <a:endParaRPr lang="en-US" sz="1200" dirty="0"/>
          </a:p>
        </p:txBody>
      </p:sp>
      <p:sp>
        <p:nvSpPr>
          <p:cNvPr id="39" name="lg-c5"/>
          <p:cNvSpPr/>
          <p:nvPr/>
        </p:nvSpPr>
        <p:spPr>
          <a:xfrm>
            <a:off x="8183880" y="5394960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40" name="lg-n5"/>
          <p:cNvSpPr/>
          <p:nvPr/>
        </p:nvSpPr>
        <p:spPr>
          <a:xfrm>
            <a:off x="8183880" y="5394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8641080" y="53675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活動今天的紀錄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8641080" y="568756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下方面板也換成這個活動的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3／6・活動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朋友這邊：收到邀請、加入、看得到不能改</a:t>
            </a:r>
            <a:endParaRPr lang="en-US" sz="3200" dirty="0"/>
          </a:p>
        </p:txBody>
      </p:sp>
      <p:sp>
        <p:nvSpPr>
          <p:cNvPr id="5" name="demo-kid_activity_invite-frame"/>
          <p:cNvSpPr/>
          <p:nvPr/>
        </p:nvSpPr>
        <p:spPr>
          <a:xfrm>
            <a:off x="466344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demo-kid_activity_invite" descr="C:\Users\User\Desktop\agent\final_project\report\assets\demo\kid_activity_inv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40680" cy="3400425"/>
          </a:xfrm>
          <a:prstGeom prst="rect">
            <a:avLst/>
          </a:prstGeom>
        </p:spPr>
      </p:pic>
      <p:sp>
        <p:nvSpPr>
          <p:cNvPr id="7" name="demo-kid_readonly-frame"/>
          <p:cNvSpPr/>
          <p:nvPr/>
        </p:nvSpPr>
        <p:spPr>
          <a:xfrm>
            <a:off x="6117336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8" name="demo-kid_readonly" descr="C:\Users\User\Desktop\agent\final_project\report\assets\demo\kid_readonl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371600"/>
            <a:ext cx="5440680" cy="340042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活動管理最上面就是邀請，按「加入」。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199632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看得到說明、期間、建立者訂的目標金額；設定只有建立者能改。想離開可以退出，自己記的可以合併回個人帳本。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4／6・家庭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家庭：邀請家人一起記</a:t>
            </a:r>
            <a:endParaRPr lang="en-US" sz="3200" dirty="0"/>
          </a:p>
        </p:txBody>
      </p:sp>
      <p:sp>
        <p:nvSpPr>
          <p:cNvPr id="5" name="demo-family-frame"/>
          <p:cNvSpPr/>
          <p:nvPr/>
        </p:nvSpPr>
        <p:spPr>
          <a:xfrm>
            <a:off x="466344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demo-family" descr="C:\Users\User\Desktop\agent\final_project\report\assets\demo\fami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40680" cy="3400425"/>
          </a:xfrm>
          <a:prstGeom prst="rect">
            <a:avLst/>
          </a:prstGeom>
        </p:spPr>
      </p:pic>
      <p:sp>
        <p:nvSpPr>
          <p:cNvPr id="7" name="demo-kid_invite-frame"/>
          <p:cNvSpPr/>
          <p:nvPr/>
        </p:nvSpPr>
        <p:spPr>
          <a:xfrm>
            <a:off x="6117336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8" name="demo-kid_invite" descr="C:\Users\User\Desktop\agent\final_project\report\assets\demo\kid_inv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371600"/>
            <a:ext cx="5440680" cy="340042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用完整 email 找到人，選身分（子女／家長）再送出。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199632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對方的總覽最上面就是邀請，按「加入」就進這個家庭。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4／6・家庭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照看：家長看得到孩子的帳</a:t>
            </a:r>
            <a:endParaRPr lang="en-US" sz="3200" dirty="0"/>
          </a:p>
        </p:txBody>
      </p:sp>
      <p:sp>
        <p:nvSpPr>
          <p:cNvPr id="5" name="v2-guardian-frame"/>
          <p:cNvSpPr/>
          <p:nvPr/>
        </p:nvSpPr>
        <p:spPr>
          <a:xfrm>
            <a:off x="466344" y="1243584"/>
            <a:ext cx="7388352" cy="4679442"/>
          </a:xfrm>
          <a:prstGeom prst="roundRect">
            <a:avLst>
              <a:gd name="adj" fmla="val 234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v2-guardian" descr="C:\Users\User\Desktop\agent\final_project\report\assets\demo\guard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223760" cy="4514850"/>
          </a:xfrm>
          <a:prstGeom prst="rect">
            <a:avLst/>
          </a:prstGeom>
        </p:spPr>
      </p:pic>
      <p:sp>
        <p:nvSpPr>
          <p:cNvPr id="7" name="v2-ck-0-circle"/>
          <p:cNvSpPr/>
          <p:nvPr/>
        </p:nvSpPr>
        <p:spPr>
          <a:xfrm>
            <a:off x="8183880" y="144475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v2-ck-0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8978" y="1539850"/>
            <a:ext cx="175565" cy="17556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686800" y="1417320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孩子加入後，家長按「開始照看」</a:t>
            </a:r>
            <a:endParaRPr lang="en-US" sz="1400" dirty="0"/>
          </a:p>
        </p:txBody>
      </p:sp>
      <p:sp>
        <p:nvSpPr>
          <p:cNvPr id="10" name="v2-ck-1-circle"/>
          <p:cNvSpPr/>
          <p:nvPr/>
        </p:nvSpPr>
        <p:spPr>
          <a:xfrm>
            <a:off x="8183880" y="2340864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v2-ck-1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978" y="2435962"/>
            <a:ext cx="175565" cy="17556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86800" y="2313432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孩子看得到是誰在照看</a:t>
            </a:r>
            <a:endParaRPr lang="en-US" sz="1400" dirty="0"/>
          </a:p>
        </p:txBody>
      </p:sp>
      <p:sp>
        <p:nvSpPr>
          <p:cNvPr id="13" name="v2-ck-2-circle"/>
          <p:cNvSpPr/>
          <p:nvPr/>
        </p:nvSpPr>
        <p:spPr>
          <a:xfrm>
            <a:off x="8183880" y="3236976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v2-ck-2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8978" y="3332074"/>
            <a:ext cx="175565" cy="17556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686800" y="3209544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家長看得到孩子的帳，也能給零用金</a:t>
            </a:r>
            <a:endParaRPr lang="en-US" sz="1400" dirty="0"/>
          </a:p>
        </p:txBody>
      </p:sp>
      <p:sp>
        <p:nvSpPr>
          <p:cNvPr id="16" name="v2-ck-3-circle"/>
          <p:cNvSpPr/>
          <p:nvPr/>
        </p:nvSpPr>
        <p:spPr>
          <a:xfrm>
            <a:off x="8183880" y="4133088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v2-ck-3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8978" y="4228186"/>
            <a:ext cx="175565" cy="17556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686800" y="4105656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孩子看不到家長的帳，也看不到家庭帳務</a:t>
            </a:r>
            <a:endParaRPr lang="en-US" sz="1400" dirty="0"/>
          </a:p>
        </p:txBody>
      </p:sp>
      <p:sp>
        <p:nvSpPr>
          <p:cNvPr id="19" name="v2-ck-4-circle"/>
          <p:cNvSpPr/>
          <p:nvPr/>
        </p:nvSpPr>
        <p:spPr>
          <a:xfrm>
            <a:off x="8183880" y="502920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v2-ck-4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8978" y="5124298"/>
            <a:ext cx="175565" cy="17556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686800" y="5001768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孩子可以自己退出家庭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4／6・家庭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零用金：到了發放日自動記帳</a:t>
            </a:r>
            <a:endParaRPr lang="en-US" sz="3200" dirty="0"/>
          </a:p>
        </p:txBody>
      </p:sp>
      <p:sp>
        <p:nvSpPr>
          <p:cNvPr id="5" name="v2-tri-0-frame"/>
          <p:cNvSpPr/>
          <p:nvPr/>
        </p:nvSpPr>
        <p:spPr>
          <a:xfrm>
            <a:off x="466344" y="1335024"/>
            <a:ext cx="3685032" cy="2364867"/>
          </a:xfrm>
          <a:prstGeom prst="roundRect">
            <a:avLst>
              <a:gd name="adj" fmla="val 4640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v2-tri-0" descr="C:\Users\User\Desktop\agent\final_project\report\assets\demo\allowance_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3520440" cy="22002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7947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設定每月零用金和發放日（1～28 號，沒選就是每月 1 號），改完離開欄位就存好。</a:t>
            </a:r>
            <a:endParaRPr lang="en-US" sz="1400" dirty="0"/>
          </a:p>
        </p:txBody>
      </p:sp>
      <p:sp>
        <p:nvSpPr>
          <p:cNvPr id="8" name="v2-tri-1-frame"/>
          <p:cNvSpPr/>
          <p:nvPr/>
        </p:nvSpPr>
        <p:spPr>
          <a:xfrm>
            <a:off x="4215384" y="1335024"/>
            <a:ext cx="3685032" cy="2364867"/>
          </a:xfrm>
          <a:prstGeom prst="roundRect">
            <a:avLst>
              <a:gd name="adj" fmla="val 4640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9" name="v2-tri-1" descr="C:\Users\User\Desktop\agent\final_project\report\assets\demo\allow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417320"/>
            <a:ext cx="3520440" cy="220027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297680" y="37947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到了發放日自動記一對帳：家長一筆支出、孩子一筆收入。改金額只調原本那一對。</a:t>
            </a:r>
            <a:endParaRPr lang="en-US" sz="1400" dirty="0"/>
          </a:p>
        </p:txBody>
      </p:sp>
      <p:sp>
        <p:nvSpPr>
          <p:cNvPr id="11" name="v2-tri-2-frame"/>
          <p:cNvSpPr/>
          <p:nvPr/>
        </p:nvSpPr>
        <p:spPr>
          <a:xfrm>
            <a:off x="7964424" y="1335024"/>
            <a:ext cx="3685032" cy="2364867"/>
          </a:xfrm>
          <a:prstGeom prst="roundRect">
            <a:avLst>
              <a:gd name="adj" fmla="val 4640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12" name="v2-tri-2" descr="C:\Users\User\Desktop\agent\final_project\report\assets\demo\kid_be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417320"/>
            <a:ext cx="3520440" cy="220027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046720" y="37947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孩子的鈴鐺馬上收到；零用金也算進孩子這個月可以花的錢裡。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4／6・家庭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所有通知都即時進鈴鐺</a:t>
            </a:r>
            <a:endParaRPr lang="en-US" sz="3200" dirty="0"/>
          </a:p>
        </p:txBody>
      </p:sp>
      <p:sp>
        <p:nvSpPr>
          <p:cNvPr id="5" name="bell-0"/>
          <p:cNvSpPr/>
          <p:nvPr/>
        </p:nvSpPr>
        <p:spPr>
          <a:xfrm>
            <a:off x="548640" y="1417320"/>
            <a:ext cx="2633472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ell-ic-0-circle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bell-ic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834286"/>
            <a:ext cx="263347" cy="26334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家庭邀請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743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有人用帳號邀你加入家庭</a:t>
            </a:r>
            <a:endParaRPr lang="en-US" sz="1250" dirty="0"/>
          </a:p>
        </p:txBody>
      </p:sp>
      <p:sp>
        <p:nvSpPr>
          <p:cNvPr id="10" name="bell-1"/>
          <p:cNvSpPr/>
          <p:nvPr/>
        </p:nvSpPr>
        <p:spPr>
          <a:xfrm>
            <a:off x="3364992" y="1417320"/>
            <a:ext cx="2633472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bell-ic-1-circle"/>
          <p:cNvSpPr/>
          <p:nvPr/>
        </p:nvSpPr>
        <p:spPr>
          <a:xfrm>
            <a:off x="3639312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bell-ic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958" y="183428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39312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活動邀請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639312" y="2743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朋友邀你加入一個活動</a:t>
            </a:r>
            <a:endParaRPr lang="en-US" sz="1250" dirty="0"/>
          </a:p>
        </p:txBody>
      </p:sp>
      <p:sp>
        <p:nvSpPr>
          <p:cNvPr id="15" name="bell-2"/>
          <p:cNvSpPr/>
          <p:nvPr/>
        </p:nvSpPr>
        <p:spPr>
          <a:xfrm>
            <a:off x="6181344" y="1417320"/>
            <a:ext cx="2633472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ell-ic-2-circle"/>
          <p:cNvSpPr/>
          <p:nvPr/>
        </p:nvSpPr>
        <p:spPr>
          <a:xfrm>
            <a:off x="6455664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bell-ic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310" y="183428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55664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零用金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455664" y="2743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發放、調整、取消都會通知孩子</a:t>
            </a:r>
            <a:endParaRPr lang="en-US" sz="1250" dirty="0"/>
          </a:p>
        </p:txBody>
      </p:sp>
      <p:sp>
        <p:nvSpPr>
          <p:cNvPr id="20" name="bell-3"/>
          <p:cNvSpPr/>
          <p:nvPr/>
        </p:nvSpPr>
        <p:spPr>
          <a:xfrm>
            <a:off x="8997696" y="1417320"/>
            <a:ext cx="2633472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bell-ic-3-circle"/>
          <p:cNvSpPr/>
          <p:nvPr/>
        </p:nvSpPr>
        <p:spPr>
          <a:xfrm>
            <a:off x="9272016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bell-ic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4662" y="1834286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72016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固定收入入帳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9272016" y="2743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月薪到了入帳日自動記一筆</a:t>
            </a:r>
            <a:endParaRPr lang="en-US" sz="1250" dirty="0"/>
          </a:p>
        </p:txBody>
      </p:sp>
      <p:sp>
        <p:nvSpPr>
          <p:cNvPr id="25" name="bell-4"/>
          <p:cNvSpPr/>
          <p:nvPr/>
        </p:nvSpPr>
        <p:spPr>
          <a:xfrm>
            <a:off x="548640" y="3657600"/>
            <a:ext cx="2633472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bell-ic-4-circle"/>
          <p:cNvSpPr/>
          <p:nvPr/>
        </p:nvSpPr>
        <p:spPr>
          <a:xfrm>
            <a:off x="822960" y="3931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bell-ic-4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" y="4074566"/>
            <a:ext cx="263347" cy="263347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22960" y="4572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目標金額到了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822960" y="4983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活動到了目標，全部成員都收到</a:t>
            </a:r>
            <a:endParaRPr lang="en-US" sz="1250" dirty="0"/>
          </a:p>
        </p:txBody>
      </p:sp>
      <p:sp>
        <p:nvSpPr>
          <p:cNvPr id="30" name="bell-5"/>
          <p:cNvSpPr/>
          <p:nvPr/>
        </p:nvSpPr>
        <p:spPr>
          <a:xfrm>
            <a:off x="3364992" y="3657600"/>
            <a:ext cx="2633472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bell-ic-5-circle"/>
          <p:cNvSpPr/>
          <p:nvPr/>
        </p:nvSpPr>
        <p:spPr>
          <a:xfrm>
            <a:off x="3639312" y="3931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bell-ic-5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1958" y="4074566"/>
            <a:ext cx="263347" cy="263347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3639312" y="4572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活動開始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3639312" y="4983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預先規劃的活動到了開始日</a:t>
            </a:r>
            <a:endParaRPr lang="en-US" sz="1250" dirty="0"/>
          </a:p>
        </p:txBody>
      </p:sp>
      <p:sp>
        <p:nvSpPr>
          <p:cNvPr id="35" name="bell-6"/>
          <p:cNvSpPr/>
          <p:nvPr/>
        </p:nvSpPr>
        <p:spPr>
          <a:xfrm>
            <a:off x="6181344" y="3657600"/>
            <a:ext cx="2633472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bell-ic-6-circle"/>
          <p:cNvSpPr/>
          <p:nvPr/>
        </p:nvSpPr>
        <p:spPr>
          <a:xfrm>
            <a:off x="6455664" y="3931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7" name="bell-ic-6-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8310" y="4074566"/>
            <a:ext cx="263347" cy="263347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6455664" y="4572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孩子記帳</a:t>
            </a:r>
            <a:endParaRPr lang="en-US" sz="1600" dirty="0"/>
          </a:p>
        </p:txBody>
      </p:sp>
      <p:sp>
        <p:nvSpPr>
          <p:cNvPr id="39" name="Text 30"/>
          <p:cNvSpPr txBox="1"/>
          <p:nvPr/>
        </p:nvSpPr>
        <p:spPr>
          <a:xfrm>
            <a:off x="6455664" y="4983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照看的孩子記了一筆</a:t>
            </a:r>
            <a:endParaRPr lang="en-US" sz="1250" dirty="0"/>
          </a:p>
        </p:txBody>
      </p:sp>
      <p:sp>
        <p:nvSpPr>
          <p:cNvPr id="40" name="bell-7"/>
          <p:cNvSpPr/>
          <p:nvPr/>
        </p:nvSpPr>
        <p:spPr>
          <a:xfrm>
            <a:off x="8997696" y="3657600"/>
            <a:ext cx="2633472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bell-ic-7-circle"/>
          <p:cNvSpPr/>
          <p:nvPr/>
        </p:nvSpPr>
        <p:spPr>
          <a:xfrm>
            <a:off x="9272016" y="3931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2" name="bell-ic-7-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4662" y="4074566"/>
            <a:ext cx="263347" cy="263347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9272016" y="4572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階段性提醒</a:t>
            </a:r>
            <a:endParaRPr lang="en-US" sz="1600" dirty="0"/>
          </a:p>
        </p:txBody>
      </p:sp>
      <p:sp>
        <p:nvSpPr>
          <p:cNvPr id="44" name="Text 34"/>
          <p:cNvSpPr txBox="1"/>
          <p:nvPr/>
        </p:nvSpPr>
        <p:spPr>
          <a:xfrm>
            <a:off x="9272016" y="4983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這個月花到你設的比例</a:t>
            </a:r>
            <a:endParaRPr lang="en-US" sz="1250" dirty="0"/>
          </a:p>
        </p:txBody>
      </p:sp>
      <p:sp>
        <p:nvSpPr>
          <p:cNvPr id="45" name="Text 35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打開系統時每 5 秒更新一次；做完會產生通知的動作，馬上再問一次。每一則都能刪，已讀的可以一次清掉。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5／6・回顧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回顧：錢花在哪</a:t>
            </a:r>
            <a:endParaRPr lang="en-US" sz="3200" dirty="0"/>
          </a:p>
        </p:txBody>
      </p:sp>
      <p:sp>
        <p:nvSpPr>
          <p:cNvPr id="5" name="demo-stats-frame"/>
          <p:cNvSpPr/>
          <p:nvPr/>
        </p:nvSpPr>
        <p:spPr>
          <a:xfrm>
            <a:off x="466344" y="1243584"/>
            <a:ext cx="7845552" cy="4965192"/>
          </a:xfrm>
          <a:prstGeom prst="roundRect">
            <a:avLst>
              <a:gd name="adj" fmla="val 2210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demo-stats" descr="C:\Users\User\Desktop\agent\final_project\report\assets\demo\sta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680960" cy="4800600"/>
          </a:xfrm>
          <a:prstGeom prst="rect">
            <a:avLst/>
          </a:prstGeom>
        </p:spPr>
      </p:pic>
      <p:sp>
        <p:nvSpPr>
          <p:cNvPr id="7" name="demo-pt-0-circle"/>
          <p:cNvSpPr/>
          <p:nvPr/>
        </p:nvSpPr>
        <p:spPr>
          <a:xfrm>
            <a:off x="8549640" y="145389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demo-pt-0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9492" y="1553748"/>
            <a:ext cx="184343" cy="18434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052560" y="14173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收支對照：按月、按年</a:t>
            </a:r>
            <a:endParaRPr lang="en-US" sz="1500" dirty="0"/>
          </a:p>
        </p:txBody>
      </p:sp>
      <p:sp>
        <p:nvSpPr>
          <p:cNvPr id="10" name="demo-pt-1-circle"/>
          <p:cNvSpPr/>
          <p:nvPr/>
        </p:nvSpPr>
        <p:spPr>
          <a:xfrm>
            <a:off x="8549640" y="247802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demo-pt-1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9492" y="2577876"/>
            <a:ext cx="184343" cy="18434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052560" y="244144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近六個月的趨勢</a:t>
            </a:r>
            <a:endParaRPr lang="en-US" sz="1500" dirty="0"/>
          </a:p>
        </p:txBody>
      </p:sp>
      <p:sp>
        <p:nvSpPr>
          <p:cNvPr id="13" name="demo-pt-2-circle"/>
          <p:cNvSpPr/>
          <p:nvPr/>
        </p:nvSpPr>
        <p:spPr>
          <a:xfrm>
            <a:off x="8549640" y="350215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demo-pt-2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9492" y="3602004"/>
            <a:ext cx="184343" cy="18434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052560" y="3465576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錢花在哪：各分類比例</a:t>
            </a:r>
            <a:endParaRPr lang="en-US" sz="1500" dirty="0"/>
          </a:p>
        </p:txBody>
      </p:sp>
      <p:sp>
        <p:nvSpPr>
          <p:cNvPr id="16" name="demo-pt-3-circle"/>
          <p:cNvSpPr/>
          <p:nvPr/>
        </p:nvSpPr>
        <p:spPr>
          <a:xfrm>
            <a:off x="8549640" y="45262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demo-pt-3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9492" y="4626132"/>
            <a:ext cx="184343" cy="184343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052560" y="4489704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數字跟總覽、明細同一個來源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5／6・回顧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AI 財務建議：每個數字都找得到出處</a:t>
            </a:r>
            <a:endParaRPr lang="en-US" sz="3200" dirty="0"/>
          </a:p>
        </p:txBody>
      </p:sp>
      <p:sp>
        <p:nvSpPr>
          <p:cNvPr id="5" name="v2-adv-frame"/>
          <p:cNvSpPr/>
          <p:nvPr/>
        </p:nvSpPr>
        <p:spPr>
          <a:xfrm>
            <a:off x="466344" y="1243584"/>
            <a:ext cx="7388352" cy="4679442"/>
          </a:xfrm>
          <a:prstGeom prst="roundRect">
            <a:avLst>
              <a:gd name="adj" fmla="val 234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v2-adv" descr="C:\Users\User\Desktop\agent\final_project\report\assets\demo\adv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223760" cy="4514850"/>
          </a:xfrm>
          <a:prstGeom prst="rect">
            <a:avLst/>
          </a:prstGeom>
        </p:spPr>
      </p:pic>
      <p:sp>
        <p:nvSpPr>
          <p:cNvPr id="7" name="adv-m0"/>
          <p:cNvSpPr/>
          <p:nvPr/>
        </p:nvSpPr>
        <p:spPr>
          <a:xfrm>
            <a:off x="1029772" y="2931912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adv-mt0"/>
          <p:cNvSpPr/>
          <p:nvPr/>
        </p:nvSpPr>
        <p:spPr>
          <a:xfrm>
            <a:off x="1029772" y="2931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adv-m1"/>
          <p:cNvSpPr/>
          <p:nvPr/>
        </p:nvSpPr>
        <p:spPr>
          <a:xfrm>
            <a:off x="1402247" y="2931956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adv-mt1"/>
          <p:cNvSpPr/>
          <p:nvPr/>
        </p:nvSpPr>
        <p:spPr>
          <a:xfrm>
            <a:off x="1402247" y="29319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adv-m2"/>
          <p:cNvSpPr/>
          <p:nvPr/>
        </p:nvSpPr>
        <p:spPr>
          <a:xfrm>
            <a:off x="2112621" y="3246584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adv-mt2"/>
          <p:cNvSpPr/>
          <p:nvPr/>
        </p:nvSpPr>
        <p:spPr>
          <a:xfrm>
            <a:off x="2112621" y="3246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adv-m3"/>
          <p:cNvSpPr/>
          <p:nvPr/>
        </p:nvSpPr>
        <p:spPr>
          <a:xfrm>
            <a:off x="1402247" y="3406544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adv-mt3"/>
          <p:cNvSpPr/>
          <p:nvPr/>
        </p:nvSpPr>
        <p:spPr>
          <a:xfrm>
            <a:off x="1402247" y="340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adv-m4"/>
          <p:cNvSpPr/>
          <p:nvPr/>
        </p:nvSpPr>
        <p:spPr>
          <a:xfrm>
            <a:off x="1402247" y="4092942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adv-mt4"/>
          <p:cNvSpPr/>
          <p:nvPr/>
        </p:nvSpPr>
        <p:spPr>
          <a:xfrm>
            <a:off x="1402247" y="409294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7" name="adv-m5"/>
          <p:cNvSpPr/>
          <p:nvPr/>
        </p:nvSpPr>
        <p:spPr>
          <a:xfrm>
            <a:off x="1903289" y="2589109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adv-mt5"/>
          <p:cNvSpPr/>
          <p:nvPr/>
        </p:nvSpPr>
        <p:spPr>
          <a:xfrm>
            <a:off x="1903289" y="258910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19" name="lg-c0"/>
          <p:cNvSpPr/>
          <p:nvPr/>
        </p:nvSpPr>
        <p:spPr>
          <a:xfrm>
            <a:off x="8183880" y="1371600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20" name="lg-n0"/>
          <p:cNvSpPr/>
          <p:nvPr/>
        </p:nvSpPr>
        <p:spPr>
          <a:xfrm>
            <a:off x="8183880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641080" y="134416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等級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641080" y="166420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良好、參考……一眼看這一則的狀況</a:t>
            </a:r>
            <a:endParaRPr lang="en-US" sz="1200" dirty="0"/>
          </a:p>
        </p:txBody>
      </p:sp>
      <p:sp>
        <p:nvSpPr>
          <p:cNvPr id="23" name="lg-c1"/>
          <p:cNvSpPr/>
          <p:nvPr/>
        </p:nvSpPr>
        <p:spPr>
          <a:xfrm>
            <a:off x="8183880" y="2103120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24" name="lg-n1"/>
          <p:cNvSpPr/>
          <p:nvPr/>
        </p:nvSpPr>
        <p:spPr>
          <a:xfrm>
            <a:off x="818388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641080" y="207568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標題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8641080" y="239572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一句話說重點</a:t>
            </a:r>
            <a:endParaRPr lang="en-US" sz="1200" dirty="0"/>
          </a:p>
        </p:txBody>
      </p:sp>
      <p:sp>
        <p:nvSpPr>
          <p:cNvPr id="27" name="lg-c2"/>
          <p:cNvSpPr/>
          <p:nvPr/>
        </p:nvSpPr>
        <p:spPr>
          <a:xfrm>
            <a:off x="8183880" y="2834640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28" name="lg-n2"/>
          <p:cNvSpPr/>
          <p:nvPr/>
        </p:nvSpPr>
        <p:spPr>
          <a:xfrm>
            <a:off x="8183880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641080" y="280720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說明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8641080" y="312724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AI 寫成好懂的句子</a:t>
            </a:r>
            <a:endParaRPr lang="en-US" sz="1200" dirty="0"/>
          </a:p>
        </p:txBody>
      </p:sp>
      <p:sp>
        <p:nvSpPr>
          <p:cNvPr id="31" name="lg-c3"/>
          <p:cNvSpPr/>
          <p:nvPr/>
        </p:nvSpPr>
        <p:spPr>
          <a:xfrm>
            <a:off x="8183880" y="3566160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32" name="lg-n3"/>
          <p:cNvSpPr/>
          <p:nvPr/>
        </p:nvSpPr>
        <p:spPr>
          <a:xfrm>
            <a:off x="8183880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641080" y="35387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依據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8641080" y="385876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每個數字都附算式，資料庫先算好的</a:t>
            </a:r>
            <a:endParaRPr lang="en-US" sz="1200" dirty="0"/>
          </a:p>
        </p:txBody>
      </p:sp>
      <p:sp>
        <p:nvSpPr>
          <p:cNvPr id="35" name="lg-c4"/>
          <p:cNvSpPr/>
          <p:nvPr/>
        </p:nvSpPr>
        <p:spPr>
          <a:xfrm>
            <a:off x="8183880" y="4297680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36" name="lg-n4"/>
          <p:cNvSpPr/>
          <p:nvPr/>
        </p:nvSpPr>
        <p:spPr>
          <a:xfrm>
            <a:off x="8183880" y="4297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641080" y="427024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建議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8641080" y="459028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接下來可以怎麼做</a:t>
            </a:r>
            <a:endParaRPr lang="en-US" sz="1200" dirty="0"/>
          </a:p>
        </p:txBody>
      </p:sp>
      <p:sp>
        <p:nvSpPr>
          <p:cNvPr id="39" name="lg-c5"/>
          <p:cNvSpPr/>
          <p:nvPr/>
        </p:nvSpPr>
        <p:spPr>
          <a:xfrm>
            <a:off x="8183880" y="5029200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40" name="lg-n5"/>
          <p:cNvSpPr/>
          <p:nvPr/>
        </p:nvSpPr>
        <p:spPr>
          <a:xfrm>
            <a:off x="8183880" y="5029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8641080" y="500176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產生建議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8641080" y="532180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按一下，依這個月的帳重新寫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8183880" y="5806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檢查不過的那則不顯示；不推薦投資、保險。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6／6・手機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手機也能用</a:t>
            </a:r>
            <a:endParaRPr lang="en-US" sz="3200" dirty="0"/>
          </a:p>
        </p:txBody>
      </p:sp>
      <p:sp>
        <p:nvSpPr>
          <p:cNvPr id="5" name="demo-mobile-frame"/>
          <p:cNvSpPr/>
          <p:nvPr/>
        </p:nvSpPr>
        <p:spPr>
          <a:xfrm>
            <a:off x="740664" y="1243584"/>
            <a:ext cx="2404872" cy="5015545"/>
          </a:xfrm>
          <a:prstGeom prst="roundRect">
            <a:avLst>
              <a:gd name="adj" fmla="val 4563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demo-mobile" descr="C:\Users\User\Desktop\agent\final_project\report\assets\demo\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25880"/>
            <a:ext cx="2240280" cy="4850953"/>
          </a:xfrm>
          <a:prstGeom prst="rect">
            <a:avLst/>
          </a:prstGeom>
        </p:spPr>
      </p:pic>
      <p:sp>
        <p:nvSpPr>
          <p:cNvPr id="7" name="demo-mobile2-frame"/>
          <p:cNvSpPr/>
          <p:nvPr/>
        </p:nvSpPr>
        <p:spPr>
          <a:xfrm>
            <a:off x="3346704" y="1243584"/>
            <a:ext cx="2404872" cy="5015545"/>
          </a:xfrm>
          <a:prstGeom prst="roundRect">
            <a:avLst>
              <a:gd name="adj" fmla="val 4563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8" name="demo-mobile2" descr="C:\Users\User\Desktop\agent\final_project\report\assets\demo\mobil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325880"/>
            <a:ext cx="2240280" cy="4850953"/>
          </a:xfrm>
          <a:prstGeom prst="rect">
            <a:avLst/>
          </a:prstGeom>
        </p:spPr>
      </p:pic>
      <p:sp>
        <p:nvSpPr>
          <p:cNvPr id="9" name="mob-pt-0-circle"/>
          <p:cNvSpPr/>
          <p:nvPr/>
        </p:nvSpPr>
        <p:spPr>
          <a:xfrm>
            <a:off x="6400800" y="1773936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mob-pt-0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4917" y="1888053"/>
            <a:ext cx="210678" cy="21067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995160" y="17373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底部分頁列：總覽、帳本、記一筆、狀況、建議</a:t>
            </a:r>
            <a:endParaRPr lang="en-US" sz="1700" dirty="0"/>
          </a:p>
        </p:txBody>
      </p:sp>
      <p:sp>
        <p:nvSpPr>
          <p:cNvPr id="12" name="mob-pt-1-circle"/>
          <p:cNvSpPr/>
          <p:nvPr/>
        </p:nvSpPr>
        <p:spPr>
          <a:xfrm>
            <a:off x="6400800" y="2962656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mob-pt-1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917" y="3076773"/>
            <a:ext cx="210678" cy="21067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995160" y="29260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總覽、面板、表格都照手機寬度重排</a:t>
            </a:r>
            <a:endParaRPr lang="en-US" sz="1700" dirty="0"/>
          </a:p>
        </p:txBody>
      </p:sp>
      <p:sp>
        <p:nvSpPr>
          <p:cNvPr id="15" name="mob-pt-2-circle"/>
          <p:cNvSpPr/>
          <p:nvPr/>
        </p:nvSpPr>
        <p:spPr>
          <a:xfrm>
            <a:off x="6400800" y="4151376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mob-pt-2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4917" y="4265493"/>
            <a:ext cx="210678" cy="21067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995160" y="41148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從註冊到零用金，整輪在手機上都做得到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一頁看完：做了哪些事</a:t>
            </a:r>
            <a:endParaRPr lang="en-US" sz="3200" dirty="0"/>
          </a:p>
        </p:txBody>
      </p:sp>
      <p:sp>
        <p:nvSpPr>
          <p:cNvPr id="3" name="sum-0"/>
          <p:cNvSpPr/>
          <p:nvPr/>
        </p:nvSpPr>
        <p:spPr>
          <a:xfrm>
            <a:off x="548640" y="1417320"/>
            <a:ext cx="2103120" cy="4480560"/>
          </a:xfrm>
          <a:prstGeom prst="roundRect">
            <a:avLst>
              <a:gd name="adj" fmla="val 60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um-ic-0-circle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um-ic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78856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331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開始使用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834640"/>
            <a:ext cx="1783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註冊與驗證信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收入與存錢設定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理財習慣、主題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新手導覽</a:t>
            </a:r>
            <a:endParaRPr lang="en-US" sz="1300" dirty="0"/>
          </a:p>
        </p:txBody>
      </p:sp>
      <p:sp>
        <p:nvSpPr>
          <p:cNvPr id="8" name="sum-1"/>
          <p:cNvSpPr/>
          <p:nvPr/>
        </p:nvSpPr>
        <p:spPr>
          <a:xfrm>
            <a:off x="2798064" y="1417320"/>
            <a:ext cx="2103120" cy="4480560"/>
          </a:xfrm>
          <a:prstGeom prst="roundRect">
            <a:avLst>
              <a:gd name="adj" fmla="val 60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um-ic-1-circle"/>
          <p:cNvSpPr/>
          <p:nvPr/>
        </p:nvSpPr>
        <p:spPr>
          <a:xfrm>
            <a:off x="3026664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sum-ic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310" y="178856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026664" y="2331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記帳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026664" y="2834640"/>
            <a:ext cx="1783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一句話記好幾筆（AI）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今天的紀錄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個人帳本與年月包裹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固定收入自動入帳</a:t>
            </a:r>
            <a:endParaRPr lang="en-US" sz="1300" dirty="0"/>
          </a:p>
        </p:txBody>
      </p:sp>
      <p:sp>
        <p:nvSpPr>
          <p:cNvPr id="13" name="sum-2"/>
          <p:cNvSpPr/>
          <p:nvPr/>
        </p:nvSpPr>
        <p:spPr>
          <a:xfrm>
            <a:off x="5047488" y="1417320"/>
            <a:ext cx="2103120" cy="4480560"/>
          </a:xfrm>
          <a:prstGeom prst="roundRect">
            <a:avLst>
              <a:gd name="adj" fmla="val 60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um-ic-2-circle"/>
          <p:cNvSpPr/>
          <p:nvPr/>
        </p:nvSpPr>
        <p:spPr>
          <a:xfrm>
            <a:off x="5276088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sum-ic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734" y="178856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76088" y="2331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活動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5276088" y="2834640"/>
            <a:ext cx="1783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說明、期間、目標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預先規劃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邀請朋友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退出可合併</a:t>
            </a:r>
            <a:endParaRPr lang="en-US" sz="1300" dirty="0"/>
          </a:p>
        </p:txBody>
      </p:sp>
      <p:sp>
        <p:nvSpPr>
          <p:cNvPr id="18" name="sum-3"/>
          <p:cNvSpPr/>
          <p:nvPr/>
        </p:nvSpPr>
        <p:spPr>
          <a:xfrm>
            <a:off x="7296912" y="1417320"/>
            <a:ext cx="2103120" cy="4480560"/>
          </a:xfrm>
          <a:prstGeom prst="roundRect">
            <a:avLst>
              <a:gd name="adj" fmla="val 60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um-ic-3-circle"/>
          <p:cNvSpPr/>
          <p:nvPr/>
        </p:nvSpPr>
        <p:spPr>
          <a:xfrm>
            <a:off x="7525512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sum-ic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8158" y="1788566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25512" y="2331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家庭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525512" y="2834640"/>
            <a:ext cx="1783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邀請家人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照看孩子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零用金自動記帳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鈴鐺即時通知</a:t>
            </a:r>
            <a:endParaRPr lang="en-US" sz="1300" dirty="0"/>
          </a:p>
        </p:txBody>
      </p:sp>
      <p:sp>
        <p:nvSpPr>
          <p:cNvPr id="23" name="sum-4"/>
          <p:cNvSpPr/>
          <p:nvPr/>
        </p:nvSpPr>
        <p:spPr>
          <a:xfrm>
            <a:off x="9546336" y="1417320"/>
            <a:ext cx="2103120" cy="4480560"/>
          </a:xfrm>
          <a:prstGeom prst="roundRect">
            <a:avLst>
              <a:gd name="adj" fmla="val 60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um-ic-4-circle"/>
          <p:cNvSpPr/>
          <p:nvPr/>
        </p:nvSpPr>
        <p:spPr>
          <a:xfrm>
            <a:off x="9774936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sum-ic-4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7582" y="1788566"/>
            <a:ext cx="263347" cy="26334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774936" y="2331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回顧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9774936" y="2834640"/>
            <a:ext cx="1783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收支對照與趨勢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錢花在哪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預算與提醒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AI 財務建議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手機、平板、電腦都能用；每一頁都照螢幕寬度重新排。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未來展望</a:t>
            </a:r>
            <a:endParaRPr lang="en-US" sz="3200" dirty="0"/>
          </a:p>
        </p:txBody>
      </p:sp>
      <p:sp>
        <p:nvSpPr>
          <p:cNvPr id="3" name="future-0"/>
          <p:cNvSpPr/>
          <p:nvPr/>
        </p:nvSpPr>
        <p:spPr>
          <a:xfrm>
            <a:off x="548640" y="1417320"/>
            <a:ext cx="2633472" cy="4160520"/>
          </a:xfrm>
          <a:prstGeom prst="roundRect">
            <a:avLst>
              <a:gd name="adj" fmla="val 48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uture-ic-0-circle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future-ic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18580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AI 更準、更省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6324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使用者改過的解析收回來，變成真實的評測與微調資料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微調的小模型上線，降低商業 API 的成本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建議加上跟上個月比的趨勢與異常提醒</a:t>
            </a:r>
            <a:endParaRPr lang="en-US" sz="1350" dirty="0"/>
          </a:p>
        </p:txBody>
      </p:sp>
      <p:sp>
        <p:nvSpPr>
          <p:cNvPr id="8" name="future-1"/>
          <p:cNvSpPr/>
          <p:nvPr/>
        </p:nvSpPr>
        <p:spPr>
          <a:xfrm>
            <a:off x="3364992" y="1417320"/>
            <a:ext cx="2633472" cy="4160520"/>
          </a:xfrm>
          <a:prstGeom prst="roundRect">
            <a:avLst>
              <a:gd name="adj" fmla="val 48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future-ic-1-circle"/>
          <p:cNvSpPr/>
          <p:nvPr/>
        </p:nvSpPr>
        <p:spPr>
          <a:xfrm>
            <a:off x="3639312" y="16916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future-ic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185806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39312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記帳更省事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3639312" y="306324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拍收據、讀電子發票載具自動入帳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說一句話就變成段落記帳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房租、訂閱這類固定支出到日自動記</a:t>
            </a:r>
            <a:endParaRPr lang="en-US" sz="1350" dirty="0"/>
          </a:p>
        </p:txBody>
      </p:sp>
      <p:sp>
        <p:nvSpPr>
          <p:cNvPr id="13" name="future-2"/>
          <p:cNvSpPr/>
          <p:nvPr/>
        </p:nvSpPr>
        <p:spPr>
          <a:xfrm>
            <a:off x="6181344" y="1417320"/>
            <a:ext cx="2633472" cy="4160520"/>
          </a:xfrm>
          <a:prstGeom prst="roundRect">
            <a:avLst>
              <a:gd name="adj" fmla="val 48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future-ic-2-circle"/>
          <p:cNvSpPr/>
          <p:nvPr/>
        </p:nvSpPr>
        <p:spPr>
          <a:xfrm>
            <a:off x="6455664" y="169164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future-ic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085" y="185806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55664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變成手機 App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6455664" y="306324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PWA：加到主畫面、沒網路也能先記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推播通知取代每 5 秒問一次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用排程器取代「打開系統時補做」</a:t>
            </a:r>
            <a:endParaRPr lang="en-US" sz="1350" dirty="0"/>
          </a:p>
        </p:txBody>
      </p:sp>
      <p:sp>
        <p:nvSpPr>
          <p:cNvPr id="18" name="future-3"/>
          <p:cNvSpPr/>
          <p:nvPr/>
        </p:nvSpPr>
        <p:spPr>
          <a:xfrm>
            <a:off x="8997696" y="1417320"/>
            <a:ext cx="2633472" cy="4160520"/>
          </a:xfrm>
          <a:prstGeom prst="roundRect">
            <a:avLst>
              <a:gd name="adj" fmla="val 48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future-ic-3-circle"/>
          <p:cNvSpPr/>
          <p:nvPr/>
        </p:nvSpPr>
        <p:spPr>
          <a:xfrm>
            <a:off x="9272016" y="169164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future-ic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8437" y="185806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272016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家庭與理財教育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9272016" y="306324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子女的存錢任務與零用金目標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家庭長期目標拆成每個月的進度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活動支援多幣別，出國旅行也能記</a:t>
            </a:r>
            <a:endParaRPr lang="en-US" sz="1350" dirty="0"/>
          </a:p>
        </p:txBody>
      </p:sp>
      <p:sp>
        <p:nvSpPr>
          <p:cNvPr id="23" name="future-line"/>
          <p:cNvSpPr/>
          <p:nvPr/>
        </p:nvSpPr>
        <p:spPr>
          <a:xfrm>
            <a:off x="548640" y="5760720"/>
            <a:ext cx="11064240" cy="502920"/>
          </a:xfrm>
          <a:prstGeom prst="roundRect">
            <a:avLst>
              <a:gd name="adj" fmla="val 25455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22960" y="57881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方向：從「記得下去」，走到「看得懂自己的錢、全家一起做得到」。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謝謝觀看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154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accent6"/>
                </a:solidFill>
              </a:rPr>
              <a:t>Q &amp; A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完整操作影片：家庭記帳_完整流程.mp4（約 6 分鐘）　｜　fambudget-web.onrender.com</a:t>
            </a:r>
            <a:endParaRPr lang="en-US" sz="1600" dirty="0"/>
          </a:p>
        </p:txBody>
      </p:sp>
      <p:sp>
        <p:nvSpPr>
          <p:cNvPr id="5" name="qr-end-card"/>
          <p:cNvSpPr/>
          <p:nvPr/>
        </p:nvSpPr>
        <p:spPr>
          <a:xfrm>
            <a:off x="9464040" y="685800"/>
            <a:ext cx="2103120" cy="25146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qr-end" descr="C:\Users\User\Desktop\agent\final_project\report\assets\qr_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822960"/>
            <a:ext cx="1737360" cy="1737360"/>
          </a:xfrm>
          <a:prstGeom prst="rect">
            <a:avLst/>
          </a:prstGeom>
        </p:spPr>
      </p:pic>
      <p:sp>
        <p:nvSpPr>
          <p:cNvPr id="7" name="qr-end-cap"/>
          <p:cNvSpPr/>
          <p:nvPr/>
        </p:nvSpPr>
        <p:spPr>
          <a:xfrm>
            <a:off x="9555480" y="25877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3F"/>
                </a:solidFill>
              </a:rPr>
              <a:t>掃描開啟網站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6233F"/>
                </a:solidFill>
              </a:rPr>
              <a:t>fambudget-web.onrender.com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mBudget">
  <a:themeElements>
    <a:clrScheme name="FamBudget">
      <a:dk1>
        <a:srgbClr val="16233F"/>
      </a:dk1>
      <a:lt1>
        <a:srgbClr val="FFFFFF"/>
      </a:lt1>
      <a:dk2>
        <a:srgbClr val="0B2A5B"/>
      </a:dk2>
      <a:lt2>
        <a:srgbClr val="EEF3FA"/>
      </a:lt2>
      <a:accent1>
        <a:srgbClr val="1F5FBF"/>
      </a:accent1>
      <a:accent2>
        <a:srgbClr val="13A07A"/>
      </a:accent2>
      <a:accent3>
        <a:srgbClr val="E8663D"/>
      </a:accent3>
      <a:accent4>
        <a:srgbClr val="F2B33D"/>
      </a:accent4>
      <a:accent5>
        <a:srgbClr val="6B7A99"/>
      </a:accent5>
      <a:accent6>
        <a:srgbClr val="9DBDF0"/>
      </a:accent6>
      <a:hlink>
        <a:srgbClr val="1F5FBF"/>
      </a:hlink>
      <a:folHlink>
        <a:srgbClr val="6B7A99"/>
      </a:folHlink>
    </a:clrScheme>
    <a:fontScheme name="FamBudget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家庭記帳 FamBudget 期末報告</dc:title>
  <dc:subject>PptxGenJS Presentation</dc:subject>
  <dc:creator>冠文、宇傑、明樺、囷洧</dc:creator>
  <cp:lastModifiedBy>冠文、宇傑、明樺、囷洧</cp:lastModifiedBy>
  <cp:revision>1</cp:revision>
  <dcterms:created xsi:type="dcterms:W3CDTF">2026-10-28T04:33:41Z</dcterms:created>
  <dcterms:modified xsi:type="dcterms:W3CDTF">2026-10-28T04:33:41Z</dcterms:modified>
</cp:coreProperties>
</file>