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開場" id="{9791d2d2-855f-e514-c5a7-f02894625b32}">
          <p14:sldIdLst>
            <p14:sldId id="256"/>
            <p14:sldId id="257"/>
            <p14:sldId id="258"/>
          </p14:sldIdLst>
        </p14:section>
        <p14:section name="認證" id="{bcb40826-0f21-16bd-115a-00ebe8187aa8}">
          <p14:sldIdLst>
            <p14:sldId id="259"/>
            <p14:sldId id="260"/>
            <p14:sldId id="261"/>
          </p14:sldIdLst>
        </p14:section>
        <p14:section name="記帳" id="{ca4e8be0-953e-5717-3c23-edc4893a456f}">
          <p14:sldIdLst>
            <p14:sldId id="262"/>
            <p14:sldId id="263"/>
            <p14:sldId id="264"/>
          </p14:sldIdLst>
        </p14:section>
        <p14:section name="數字" id="{17450f7e-ddf3-5149-58fc-2883b790d9eb}">
          <p14:sldIdLst>
            <p14:sldId id="265"/>
            <p14:sldId id="266"/>
            <p14:sldId id="267"/>
          </p14:sldIdLst>
        </p14:section>
        <p14:section name="家庭" id="{6dd6cdff-a231-bc9c-020e-afa7f8a1166d}">
          <p14:sldIdLst>
            <p14:sldId id="268"/>
            <p14:sldId id="269"/>
            <p14:sldId id="270"/>
          </p14:sldIdLst>
        </p14:section>
        <p14:section name="結語" id="{73b45e50-b686-8e46-558b-f916ea0010c4}">
          <p14:sldIdLst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2A5B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B2A5B"/>
                </a:solidFill>
                <a:latin typeface="+mn-lt"/>
              </a:rPr>
              <a:t>正確率（%）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前端規則（基準）</c:v>
                </c:pt>
              </c:strCache>
            </c:strRef>
          </c:tx>
          <c:spPr>
            <a:solidFill>
              <a:srgbClr val="6B7A99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33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切分</c:v>
                  </c:pt>
                  <c:pt idx="1">
                    <c:v>整題完全正確</c:v>
                  </c:pt>
                  <c:pt idx="2">
                    <c:v>日期</c:v>
                  </c:pt>
                  <c:pt idx="3">
                    <c:v>金額</c:v>
                  </c:pt>
                  <c:pt idx="4">
                    <c:v>分類</c:v>
                  </c:pt>
                  <c:pt idx="5">
                    <c:v>分類 Macro-F1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96</c:v>
                </c:pt>
                <c:pt idx="1">
                  <c:v>63.4</c:v>
                </c:pt>
                <c:pt idx="2">
                  <c:v>84.8</c:v>
                </c:pt>
                <c:pt idx="3">
                  <c:v>90.4</c:v>
                </c:pt>
                <c:pt idx="4">
                  <c:v>86.4</c:v>
                </c:pt>
                <c:pt idx="5">
                  <c:v>79.1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Claude（線上，含輸出檢查）</c:v>
                </c:pt>
              </c:strCache>
            </c:strRef>
          </c:tx>
          <c:spPr>
            <a:solidFill>
              <a:srgbClr val="1F5FB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33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切分</c:v>
                  </c:pt>
                  <c:pt idx="1">
                    <c:v>整題完全正確</c:v>
                  </c:pt>
                  <c:pt idx="2">
                    <c:v>日期</c:v>
                  </c:pt>
                  <c:pt idx="3">
                    <c:v>金額</c:v>
                  </c:pt>
                  <c:pt idx="4">
                    <c:v>分類</c:v>
                  </c:pt>
                  <c:pt idx="5">
                    <c:v>分類 Macro-F1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deepseek-r1:1.5b</c:v>
                </c:pt>
              </c:strCache>
            </c:strRef>
          </c:tx>
          <c:spPr>
            <a:solidFill>
              <a:srgbClr val="13A0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33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切分</c:v>
                  </c:pt>
                  <c:pt idx="1">
                    <c:v>整題完全正確</c:v>
                  </c:pt>
                  <c:pt idx="2">
                    <c:v>日期</c:v>
                  </c:pt>
                  <c:pt idx="3">
                    <c:v>金額</c:v>
                  </c:pt>
                  <c:pt idx="4">
                    <c:v>分類</c:v>
                  </c:pt>
                  <c:pt idx="5">
                    <c:v>分類 Macro-F1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84.2</c:v>
                </c:pt>
                <c:pt idx="1">
                  <c:v>6.9</c:v>
                </c:pt>
                <c:pt idx="2">
                  <c:v>84</c:v>
                </c:pt>
                <c:pt idx="3">
                  <c:v>73.6</c:v>
                </c:pt>
                <c:pt idx="4">
                  <c:v>24.8</c:v>
                </c:pt>
                <c:pt idx="5">
                  <c:v>12.9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6233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6233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0"/>
        <c:axPos val="l"/>
        <c:majorGridlines>
          <c:spPr>
            <a:ln w="9525" cap="flat">
              <a:solidFill>
                <a:srgbClr val="E3E9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9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6233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大家好，我們的題目是家庭記帳 FamBudget。一句話：使用者說一段話，系統用大型語言模型切成好幾筆帳，家人之間依權限看得到彼此，財務建議的每一個數字都有出處。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記帳 App 很多，但大家還是記不下去。我們觀察到三個問題：輸入太麻煩、家人各記各的、AI 建議沒有根據。後面每一段都對應其中一個問題。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架構是前後端分離。前端是純靜態網頁，所有資料都經過 api.js 這一個入口。後端用 FastAPI，依領域分成認證、記帳、數字、家庭四塊。模型服務可以換，叫不動的時候系統不會壞，前端會退回規則解析。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帳號這一塊有兩個重點。第一，註冊完不會直接登入：畫面回到登入頁、請他去收信，點了信裡的按鈕才登入，接著做個人化設定和新手導覽；還沒驗證的人進不了設定。第二，使用者登記的東西都能自己刪：收支、建議、通知、自訂分類，連帳號本身都可以。刪分類不會讓帳消失，會改到「其他」；刪帳號要再輸入密碼和確認碼，還在家庭裡的要先退出，才不會讓家人的帳本少一個人卻沒人知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帳號安全的每一道關卡都在後端。登入用 JWT，access token 30 分鐘、搭配 refresh token，改了密碼其他裝置會被登出。密碼只存雜湊；忘記密碼用 Brevo 寄 30 分鐘有效的重設連結。沒點驗證信不能登入。登入失敗和註冊有次數上限，被擋下來的會寫進安全事件，平台管理員看得到。每支路由都先過權限守衛，前端把按鈕藏起來只是介面，不算權限。刪除這類危險動作，要再輸入自己的密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平台管理員的畫面。上面是即時的數字，左邊每個帳號一個燈號，右邊是被規則擋下的安全事件。規則都是數次數，例如同一個帳號十五分鐘錯五次密碼就先鎖十五分鐘；帳號不存在也一樣鎖，才不會洩漏帳號在不在。規則只暫時擋，要不要停權由管理員決定。我們刻意不讓 AI 自動封鎖：這些都是明確的事實，用規則判斷最準，AI 只會多出誤判跟費用。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活動是個人底下的小帳本，旅行、搬家、聚餐都可以開一個。活動首頁的主卡放的是「這個活動是什麼」：建立者寫的一句說明、期間、成員、筆數和目標金額，不另外讓使用者填目的。開始日可以選以前或以後，訂在以後的會先放在預先規劃，到了那天自動放進活動選單並通知每位成員。為了避免混亂，活動的設定只有建立者能改，成員看得到但不能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段落記帳分五步。第三步是唯一交給模型的：用 record_transactions 這個工具把好幾筆交出來。為什麼用工具呼叫？因為參數有 schema 約束，格式由服務端保證。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這是評測結果，三套系統用同一份 101 題。前端規則的整題完全正確率是 63.4%。線上那一套是 Claude 加上我們的輸出管理，直接打部署好的 API 量的，整題完全正確 100.0%。本機的 1.5B 小模型零樣本只有 6.9%，分類幾乎亂挑，每句還要等二三十秒。要提醒的是，題目是 AI 產生的，比真人說話整齊，所以一百分不代表不會錯；上線後使用者改過的解析，會收回來當新的題目。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登入後的首頁。最重要的數字是「這個月還可以花多少」：收入減掉每月想存的錢，就是可以花的上限；月薪設了入帳日，到了那天會自動記一筆收入。右邊是常用功能。下面是一個分頁面板，第一頁一定是今天的紀錄，格式跟明細一樣，內容在面板裡捲動，整頁不會被拉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數字這個領域負責算錢。統計頁看收支對照、近六個月的趨勢和錢花在哪，數字跟總覽、明細是同一個來源。預算是替常花的分類設上限；提醒的門檻由使用者自己設，跨過就進鈴鐺。另外還有每月想存多少，以及活動的目標金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財務建議的原則是數字由資料庫算，模型只寫句子。模型寫回來之後，程式會把每一個數字拿去比對出處，也檢查有沒有套錯分類。像一年會花十萬三千二這種模型自己乘出來的數字，那一則就不顯示——以前是壓低信心度，但畫面上沒有顯示信心度，錯的數字照樣被當成事實，所以改成直接不要。上線實測時，每一則建議的數字我們都手算對過，11 個數字全對。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家庭功能的重點是權限。這張表是後端實際的規則：家長看得到照看中孩子的帳，子女看不到家長的，也不看家庭的帳務；平台管理員只能停權、看帳號狀態與安全事件，讀不到任何人的帳。家長切換成孩子帳號這個功能，我們刻意不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家庭這邊，家長用完整的 email 或 7 天有效的邀請碼邀請家人。孩子加入之後，家長按開始照看，才看得到孩子的帳，孩子也看得到是誰在照看。零用金到了發放日自動記一對帳：家長那邊一筆支出、孩子那邊一筆收入，並通知孩子；家長改金額只調原本那一對，孩子不能自己改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所有通知都即時進鈴鐺。前端每 5 秒問一次，用 since 只拿新的。技術上比較特別的是：免費主機沒有排程器，所以零用金、固定收入、目標金額、活動開始這些到期的事，是在有人打開系統時補做的。打開頁面會同時進來好幾個請求，所以用資料表的唯一鍵和帶條件的 UPDATE，確保同一件事只寫一次。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測試分兩層。941 個自動測試在每次改程式時跑；端到端測試則是真的開一台伺服器、用全新的資料庫，從註冊一路走到停權，96 個步驟全部通過。右邊是其中幾個跟安全有關的檢查。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最後是未來展望，分四個方向。AI 方面，把使用者真的改過的解析收回來，變成真實的評測和微調資料，讓自己的小模型上線、降低成本。記帳方面，拍收據、讀電子發票載具，讓記帳更省事。產品方面，做成可以加到主畫面的 PWA，用推播取代輪詢、用排程器取代現在的補做。家庭方面，加上子女的存錢任務，讓這套系統也能拿來教孩子理財。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謝謝大家，歡迎提問。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2880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家庭記帳 FamBudget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37744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52044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image" Target="../media/image-16-10.png"/><Relationship Id="rId11" Type="http://schemas.openxmlformats.org/officeDocument/2006/relationships/slideLayout" Target="../slideLayouts/slideLayout3.xml"/><Relationship Id="rId1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288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家庭記帳 FamBudget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accent6"/>
                </a:solidFill>
              </a:rPr>
              <a:t>說一段話就記好帳、全家看得到彼此的家庭財務系統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冠文・宇傑・明樺・囷洧　｜　2026 年 10 月　｜　LLM 應用期末專題</a:t>
            </a:r>
            <a:endParaRPr lang="en-US" sz="1600" dirty="0"/>
          </a:p>
        </p:txBody>
      </p:sp>
      <p:sp>
        <p:nvSpPr>
          <p:cNvPr id="5" name="qr-cover-card"/>
          <p:cNvSpPr/>
          <p:nvPr/>
        </p:nvSpPr>
        <p:spPr>
          <a:xfrm>
            <a:off x="9464040" y="685800"/>
            <a:ext cx="2103120" cy="2514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qr-cover" descr="C:\Users\User\Desktop\agent\final_project\report\assets\qr_s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0" y="822960"/>
            <a:ext cx="1737360" cy="1737360"/>
          </a:xfrm>
          <a:prstGeom prst="rect">
            <a:avLst/>
          </a:prstGeom>
        </p:spPr>
      </p:pic>
      <p:sp>
        <p:nvSpPr>
          <p:cNvPr id="7" name="qr-cover-cap"/>
          <p:cNvSpPr/>
          <p:nvPr/>
        </p:nvSpPr>
        <p:spPr>
          <a:xfrm>
            <a:off x="9555480" y="258775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33F"/>
                </a:solidFill>
              </a:rPr>
              <a:t>掃描開啟網站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6233F"/>
                </a:solidFill>
              </a:rPr>
              <a:t>fambudget-web.onrender.com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記帳難在三件事</a:t>
            </a:r>
            <a:endParaRPr lang="en-US" sz="3200" dirty="0"/>
          </a:p>
        </p:txBody>
      </p:sp>
      <p:sp>
        <p:nvSpPr>
          <p:cNvPr id="3" name="pain-card-0"/>
          <p:cNvSpPr/>
          <p:nvPr/>
        </p:nvSpPr>
        <p:spPr>
          <a:xfrm>
            <a:off x="548640" y="1417320"/>
            <a:ext cx="3520440" cy="466344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ain-0-circle"/>
          <p:cNvSpPr/>
          <p:nvPr/>
        </p:nvSpPr>
        <p:spPr>
          <a:xfrm>
            <a:off x="868680" y="173736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pain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8875" y="1927555"/>
            <a:ext cx="351130" cy="35113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6974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懶得一筆一筆填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24612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早餐、午餐、加油……每一筆都要選日期、分類、填金額，三天就放棄。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57200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我們的做法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89204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說一段話，模型切成好幾筆、欄位自動填好，人只要檢查</a:t>
            </a:r>
            <a:endParaRPr lang="en-US" sz="1500" dirty="0"/>
          </a:p>
        </p:txBody>
      </p:sp>
      <p:sp>
        <p:nvSpPr>
          <p:cNvPr id="10" name="pain-card-1"/>
          <p:cNvSpPr/>
          <p:nvPr/>
        </p:nvSpPr>
        <p:spPr>
          <a:xfrm>
            <a:off x="4297680" y="1417320"/>
            <a:ext cx="3520440" cy="466344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pain-1-circle"/>
          <p:cNvSpPr/>
          <p:nvPr/>
        </p:nvSpPr>
        <p:spPr>
          <a:xfrm>
            <a:off x="4617720" y="173736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pain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7915" y="1927555"/>
            <a:ext cx="351130" cy="35113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17720" y="26974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家人各記各的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4617720" y="324612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爸媽各有一本帳、孩子的零用錢沒人知道，全家花多少錢沒人說得出來。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4617720" y="457200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我們的做法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4617720" y="489204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家庭、活動、照看孩子；誰看得到誰由權限決定</a:t>
            </a:r>
            <a:endParaRPr lang="en-US" sz="1500" dirty="0"/>
          </a:p>
        </p:txBody>
      </p:sp>
      <p:sp>
        <p:nvSpPr>
          <p:cNvPr id="17" name="pain-card-2"/>
          <p:cNvSpPr/>
          <p:nvPr/>
        </p:nvSpPr>
        <p:spPr>
          <a:xfrm>
            <a:off x="8046720" y="1417320"/>
            <a:ext cx="3520440" cy="466344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pain-2-circle"/>
          <p:cNvSpPr/>
          <p:nvPr/>
        </p:nvSpPr>
        <p:spPr>
          <a:xfrm>
            <a:off x="8366760" y="173736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9" name="pain-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6955" y="1927555"/>
            <a:ext cx="351130" cy="35113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366760" y="26974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建議沒有根據</a:t>
            </a:r>
            <a:endParaRPr lang="en-US" sz="2200" dirty="0"/>
          </a:p>
        </p:txBody>
      </p:sp>
      <p:sp>
        <p:nvSpPr>
          <p:cNvPr id="21" name="Text 16"/>
          <p:cNvSpPr txBox="1"/>
          <p:nvPr/>
        </p:nvSpPr>
        <p:spPr>
          <a:xfrm>
            <a:off x="8366760" y="324612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叫 AI 給理財建議，它可能隨口編一個數字，使用者根本無法驗算。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8366760" y="457200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我們的做法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8366760" y="489204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數字全部由資料庫算，模型只寫句子，每個數字都要找得到出處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系統架構：前後端分離，模型可以換</a:t>
            </a:r>
            <a:endParaRPr lang="en-US" sz="3200" dirty="0"/>
          </a:p>
        </p:txBody>
      </p:sp>
      <p:sp>
        <p:nvSpPr>
          <p:cNvPr id="3" name="arch-browser"/>
          <p:cNvSpPr/>
          <p:nvPr/>
        </p:nvSpPr>
        <p:spPr>
          <a:xfrm>
            <a:off x="548640" y="1463040"/>
            <a:ext cx="2651760" cy="2377440"/>
          </a:xfrm>
          <a:prstGeom prst="roundRect">
            <a:avLst>
              <a:gd name="adj" fmla="val 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rch-browser-circle"/>
          <p:cNvSpPr/>
          <p:nvPr/>
        </p:nvSpPr>
        <p:spPr>
          <a:xfrm>
            <a:off x="777240" y="1691640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5" name="arch-browser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4641" y="1839041"/>
            <a:ext cx="272125" cy="2721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69164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瀏覽器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手機、電腦都能用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（RWD：375／768／1280 寬都測過）</a:t>
            </a:r>
            <a:endParaRPr lang="en-US" sz="1400" dirty="0"/>
          </a:p>
        </p:txBody>
      </p:sp>
      <p:sp>
        <p:nvSpPr>
          <p:cNvPr id="8" name="arch-front"/>
          <p:cNvSpPr/>
          <p:nvPr/>
        </p:nvSpPr>
        <p:spPr>
          <a:xfrm>
            <a:off x="3657600" y="1463040"/>
            <a:ext cx="2926080" cy="2377440"/>
          </a:xfrm>
          <a:prstGeom prst="roundRect">
            <a:avLst>
              <a:gd name="adj" fmla="val 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arch-front-circle"/>
          <p:cNvSpPr/>
          <p:nvPr/>
        </p:nvSpPr>
        <p:spPr>
          <a:xfrm>
            <a:off x="3886200" y="169164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arch-front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3601" y="1839041"/>
            <a:ext cx="272125" cy="27212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0" y="16916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前端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931920" y="237744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純靜態網頁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api.js 是唯一的資料入口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後端沒做好的功能不顯示假資料</a:t>
            </a:r>
            <a:endParaRPr lang="en-US" sz="1400" dirty="0"/>
          </a:p>
        </p:txBody>
      </p:sp>
      <p:sp>
        <p:nvSpPr>
          <p:cNvPr id="13" name="arch-back"/>
          <p:cNvSpPr/>
          <p:nvPr/>
        </p:nvSpPr>
        <p:spPr>
          <a:xfrm>
            <a:off x="7040880" y="1463040"/>
            <a:ext cx="4572000" cy="2377440"/>
          </a:xfrm>
          <a:prstGeom prst="roundRect">
            <a:avLst>
              <a:gd name="adj" fmla="val 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arch-back-circle"/>
          <p:cNvSpPr/>
          <p:nvPr/>
        </p:nvSpPr>
        <p:spPr>
          <a:xfrm>
            <a:off x="7269480" y="169164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arch-back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6881" y="1839041"/>
            <a:ext cx="272125" cy="27212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955280" y="169164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後端 FastAPI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7315200" y="2377440"/>
            <a:ext cx="411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8" name="dom-0"/>
          <p:cNvSpPr/>
          <p:nvPr/>
        </p:nvSpPr>
        <p:spPr>
          <a:xfrm>
            <a:off x="7315200" y="2423160"/>
            <a:ext cx="91440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7315200" y="25146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認證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7315200" y="29260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25 支</a:t>
            </a:r>
            <a:endParaRPr lang="en-US" sz="1300" dirty="0"/>
          </a:p>
        </p:txBody>
      </p:sp>
      <p:sp>
        <p:nvSpPr>
          <p:cNvPr id="21" name="dom-1"/>
          <p:cNvSpPr/>
          <p:nvPr/>
        </p:nvSpPr>
        <p:spPr>
          <a:xfrm>
            <a:off x="8366760" y="2423160"/>
            <a:ext cx="91440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8366760" y="25146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記帳</a:t>
            </a:r>
            <a:endParaRPr lang="en-US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8366760" y="29260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26 支</a:t>
            </a:r>
            <a:endParaRPr lang="en-US" sz="1300" dirty="0"/>
          </a:p>
        </p:txBody>
      </p:sp>
      <p:sp>
        <p:nvSpPr>
          <p:cNvPr id="24" name="dom-2"/>
          <p:cNvSpPr/>
          <p:nvPr/>
        </p:nvSpPr>
        <p:spPr>
          <a:xfrm>
            <a:off x="9418320" y="2423160"/>
            <a:ext cx="91440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9418320" y="25146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數字</a:t>
            </a:r>
            <a:endParaRPr lang="en-US" sz="1600" dirty="0"/>
          </a:p>
        </p:txBody>
      </p:sp>
      <p:sp>
        <p:nvSpPr>
          <p:cNvPr id="26" name="Text 21"/>
          <p:cNvSpPr txBox="1"/>
          <p:nvPr/>
        </p:nvSpPr>
        <p:spPr>
          <a:xfrm>
            <a:off x="9418320" y="29260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12 支</a:t>
            </a:r>
            <a:endParaRPr lang="en-US" sz="1300" dirty="0"/>
          </a:p>
        </p:txBody>
      </p:sp>
      <p:sp>
        <p:nvSpPr>
          <p:cNvPr id="27" name="dom-3"/>
          <p:cNvSpPr/>
          <p:nvPr/>
        </p:nvSpPr>
        <p:spPr>
          <a:xfrm>
            <a:off x="10469880" y="2423160"/>
            <a:ext cx="91440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10469880" y="25146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家庭</a:t>
            </a:r>
            <a:endParaRPr lang="en-US" sz="1600" dirty="0"/>
          </a:p>
        </p:txBody>
      </p:sp>
      <p:sp>
        <p:nvSpPr>
          <p:cNvPr id="29" name="Text 24"/>
          <p:cNvSpPr txBox="1"/>
          <p:nvPr/>
        </p:nvSpPr>
        <p:spPr>
          <a:xfrm>
            <a:off x="10469880" y="29260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23 支</a:t>
            </a:r>
            <a:endParaRPr lang="en-US" sz="1300" dirty="0"/>
          </a:p>
        </p:txBody>
      </p:sp>
      <p:sp>
        <p:nvSpPr>
          <p:cNvPr id="30" name="arch-a1"/>
          <p:cNvSpPr/>
          <p:nvPr/>
        </p:nvSpPr>
        <p:spPr>
          <a:xfrm>
            <a:off x="3246120" y="2651760"/>
            <a:ext cx="365760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1" name="arch-a2"/>
          <p:cNvSpPr/>
          <p:nvPr/>
        </p:nvSpPr>
        <p:spPr>
          <a:xfrm>
            <a:off x="6629400" y="2651760"/>
            <a:ext cx="365760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2" name="arch-db"/>
          <p:cNvSpPr/>
          <p:nvPr/>
        </p:nvSpPr>
        <p:spPr>
          <a:xfrm>
            <a:off x="7040880" y="4434840"/>
            <a:ext cx="2148840" cy="1691640"/>
          </a:xfrm>
          <a:prstGeom prst="roundRect">
            <a:avLst>
              <a:gd name="adj" fmla="val 75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arch-db-circle"/>
          <p:cNvSpPr/>
          <p:nvPr/>
        </p:nvSpPr>
        <p:spPr>
          <a:xfrm>
            <a:off x="7269480" y="466344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4" name="arch-db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6881" y="4810841"/>
            <a:ext cx="272125" cy="272125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7955280" y="4663440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資料庫</a:t>
            </a:r>
            <a:endParaRPr lang="en-US" sz="1800" dirty="0"/>
          </a:p>
        </p:txBody>
      </p:sp>
      <p:sp>
        <p:nvSpPr>
          <p:cNvPr id="36" name="Text 30"/>
          <p:cNvSpPr txBox="1"/>
          <p:nvPr/>
        </p:nvSpPr>
        <p:spPr>
          <a:xfrm>
            <a:off x="7315200" y="5349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PostgreSQL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24 張表</a:t>
            </a:r>
            <a:endParaRPr lang="en-US" sz="1400" dirty="0"/>
          </a:p>
        </p:txBody>
      </p:sp>
      <p:sp>
        <p:nvSpPr>
          <p:cNvPr id="37" name="arch-model"/>
          <p:cNvSpPr/>
          <p:nvPr/>
        </p:nvSpPr>
        <p:spPr>
          <a:xfrm>
            <a:off x="9464040" y="4434840"/>
            <a:ext cx="2148840" cy="1691640"/>
          </a:xfrm>
          <a:prstGeom prst="roundRect">
            <a:avLst>
              <a:gd name="adj" fmla="val 75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8" name="arch-model-circle"/>
          <p:cNvSpPr/>
          <p:nvPr/>
        </p:nvSpPr>
        <p:spPr>
          <a:xfrm>
            <a:off x="9692640" y="466344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39" name="arch-model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40041" y="4810841"/>
            <a:ext cx="272125" cy="272125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10378440" y="4663440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模型服務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9738360" y="5349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Claude／OpenAI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或自架開源模型</a:t>
            </a:r>
            <a:endParaRPr lang="en-US" sz="1400" dirty="0"/>
          </a:p>
        </p:txBody>
      </p:sp>
      <p:sp>
        <p:nvSpPr>
          <p:cNvPr id="42" name="arch-a3"/>
          <p:cNvSpPr/>
          <p:nvPr/>
        </p:nvSpPr>
        <p:spPr>
          <a:xfrm>
            <a:off x="8092440" y="3886200"/>
            <a:ext cx="0" cy="50292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3" name="arch-a4"/>
          <p:cNvSpPr/>
          <p:nvPr/>
        </p:nvSpPr>
        <p:spPr>
          <a:xfrm>
            <a:off x="10515600" y="3886200"/>
            <a:ext cx="0" cy="50292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4" name="arch-note"/>
          <p:cNvSpPr/>
          <p:nvPr/>
        </p:nvSpPr>
        <p:spPr>
          <a:xfrm>
            <a:off x="548640" y="4434840"/>
            <a:ext cx="6035040" cy="1691640"/>
          </a:xfrm>
          <a:prstGeom prst="roundRect">
            <a:avLst>
              <a:gd name="adj" fmla="val 7568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822960" y="4617720"/>
            <a:ext cx="5577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部署在 Render：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前端靜態站、後端、資料庫各一個服務。
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模型可以換：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設定檔改 MODEL_PROVIDER 就能在 Claude、OpenAI、自己的模型之間切換，程式不用動。
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模型叫不動：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後端回 503，前端改用規則解析，系統照常能用。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dom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領域 1／4・認證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帳號與資料：點了驗證信才開始，登記的都能刪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716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註冊流程</a:t>
            </a:r>
            <a:endParaRPr lang="en-US" sz="1800" dirty="0"/>
          </a:p>
        </p:txBody>
      </p:sp>
      <p:sp>
        <p:nvSpPr>
          <p:cNvPr id="6" name="reg-0"/>
          <p:cNvSpPr/>
          <p:nvPr/>
        </p:nvSpPr>
        <p:spPr>
          <a:xfrm>
            <a:off x="548640" y="1874520"/>
            <a:ext cx="2057400" cy="1874520"/>
          </a:xfrm>
          <a:prstGeom prst="roundRect">
            <a:avLst>
              <a:gd name="adj" fmla="val 68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reg-ic-0-circle"/>
          <p:cNvSpPr/>
          <p:nvPr/>
        </p:nvSpPr>
        <p:spPr>
          <a:xfrm>
            <a:off x="777240" y="20574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reg-ic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999" y="2188159"/>
            <a:ext cx="241402" cy="24140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77240" y="263347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填資料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01752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名字、email、密碼</a:t>
            </a:r>
            <a:endParaRPr lang="en-US" sz="1200" dirty="0"/>
          </a:p>
        </p:txBody>
      </p:sp>
      <p:sp>
        <p:nvSpPr>
          <p:cNvPr id="11" name="reg-a-0"/>
          <p:cNvSpPr/>
          <p:nvPr/>
        </p:nvSpPr>
        <p:spPr>
          <a:xfrm>
            <a:off x="2624328" y="2697480"/>
            <a:ext cx="192024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2" name="reg-1"/>
          <p:cNvSpPr/>
          <p:nvPr/>
        </p:nvSpPr>
        <p:spPr>
          <a:xfrm>
            <a:off x="2834640" y="1874520"/>
            <a:ext cx="2057400" cy="1874520"/>
          </a:xfrm>
          <a:prstGeom prst="roundRect">
            <a:avLst>
              <a:gd name="adj" fmla="val 68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reg-ic-1-circle"/>
          <p:cNvSpPr/>
          <p:nvPr/>
        </p:nvSpPr>
        <p:spPr>
          <a:xfrm>
            <a:off x="3063240" y="20574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reg-ic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2188159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063240" y="263347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回登入頁去收信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3063240" y="301752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這時還沒登入，email 先幫他填好</a:t>
            </a:r>
            <a:endParaRPr lang="en-US" sz="1200" dirty="0"/>
          </a:p>
        </p:txBody>
      </p:sp>
      <p:sp>
        <p:nvSpPr>
          <p:cNvPr id="17" name="reg-a-1"/>
          <p:cNvSpPr/>
          <p:nvPr/>
        </p:nvSpPr>
        <p:spPr>
          <a:xfrm>
            <a:off x="4910328" y="2697480"/>
            <a:ext cx="192024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8" name="reg-2"/>
          <p:cNvSpPr/>
          <p:nvPr/>
        </p:nvSpPr>
        <p:spPr>
          <a:xfrm>
            <a:off x="5120640" y="1874520"/>
            <a:ext cx="2057400" cy="1874520"/>
          </a:xfrm>
          <a:prstGeom prst="roundRect">
            <a:avLst>
              <a:gd name="adj" fmla="val 68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reg-ic-2-circle"/>
          <p:cNvSpPr/>
          <p:nvPr/>
        </p:nvSpPr>
        <p:spPr>
          <a:xfrm>
            <a:off x="5349240" y="205740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0" name="reg-ic-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9999" y="2188159"/>
            <a:ext cx="241402" cy="24140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5349240" y="263347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點信裡的按鈕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5349240" y="301752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第一次點就直接登入；連結 24 小時有效</a:t>
            </a:r>
            <a:endParaRPr lang="en-US" sz="1200" dirty="0"/>
          </a:p>
        </p:txBody>
      </p:sp>
      <p:sp>
        <p:nvSpPr>
          <p:cNvPr id="23" name="reg-a-2"/>
          <p:cNvSpPr/>
          <p:nvPr/>
        </p:nvSpPr>
        <p:spPr>
          <a:xfrm>
            <a:off x="7196328" y="2697480"/>
            <a:ext cx="192024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4" name="reg-3"/>
          <p:cNvSpPr/>
          <p:nvPr/>
        </p:nvSpPr>
        <p:spPr>
          <a:xfrm>
            <a:off x="7406640" y="1874520"/>
            <a:ext cx="2057400" cy="1874520"/>
          </a:xfrm>
          <a:prstGeom prst="roundRect">
            <a:avLst>
              <a:gd name="adj" fmla="val 68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reg-ic-3-circle"/>
          <p:cNvSpPr/>
          <p:nvPr/>
        </p:nvSpPr>
        <p:spPr>
          <a:xfrm>
            <a:off x="7635240" y="20574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reg-ic-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5999" y="2188159"/>
            <a:ext cx="241402" cy="241402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7635240" y="263347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個人化設定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7635240" y="301752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每月想存多少、理財習慣、主題；沒驗證的進不來</a:t>
            </a:r>
            <a:endParaRPr lang="en-US" sz="1200" dirty="0"/>
          </a:p>
        </p:txBody>
      </p:sp>
      <p:sp>
        <p:nvSpPr>
          <p:cNvPr id="29" name="reg-a-3"/>
          <p:cNvSpPr/>
          <p:nvPr/>
        </p:nvSpPr>
        <p:spPr>
          <a:xfrm>
            <a:off x="9482328" y="2697480"/>
            <a:ext cx="192024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0" name="reg-4"/>
          <p:cNvSpPr/>
          <p:nvPr/>
        </p:nvSpPr>
        <p:spPr>
          <a:xfrm>
            <a:off x="9692640" y="1874520"/>
            <a:ext cx="2057400" cy="1874520"/>
          </a:xfrm>
          <a:prstGeom prst="roundRect">
            <a:avLst>
              <a:gd name="adj" fmla="val 68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reg-ic-4-circle"/>
          <p:cNvSpPr/>
          <p:nvPr/>
        </p:nvSpPr>
        <p:spPr>
          <a:xfrm>
            <a:off x="9921240" y="20574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2" name="reg-ic-4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1999" y="2188159"/>
            <a:ext cx="241402" cy="24140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921240" y="263347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新手導覽</a:t>
            </a:r>
            <a:endParaRPr lang="en-US" sz="1500" dirty="0"/>
          </a:p>
        </p:txBody>
      </p:sp>
      <p:sp>
        <p:nvSpPr>
          <p:cNvPr id="34" name="Text 27"/>
          <p:cNvSpPr txBox="1"/>
          <p:nvPr/>
        </p:nvSpPr>
        <p:spPr>
          <a:xfrm>
            <a:off x="9921240" y="301752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照畫面上看得到的東西帶一遍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548640" y="39776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登記的資料都能刪</a:t>
            </a:r>
            <a:endParaRPr lang="en-US" sz="1800" dirty="0"/>
          </a:p>
        </p:txBody>
      </p:sp>
      <p:graphicFrame>
        <p:nvGraphicFramePr>
          <p:cNvPr id="5" name="del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3484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840480"/>
                <a:gridCol w="54864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資料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怎麼刪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刪了之後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收支明細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每列刪除，或多選一次刪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數字、統計跟著重算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財務建議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展開後「刪除這則建議」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 秒內可以按「復原」；全家的只有家長能刪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通知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每則右邊的 ×、「清除已讀」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只刪自己收到的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自訂分類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標籤後面的 ×（要再輸入密碼）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用它記的帳改到「其他」，不會消失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帳號本身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個人資料最下面（密碼＋確認碼）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帳全部刪掉、email 空出來；還在家庭裡要先退出</a:t>
                      </a:r>
                      <a:endParaRPr lang="en-US" sz="12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dom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領域 1／4・認證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帳號安全：每一道關卡都在後端</a:t>
            </a:r>
            <a:endParaRPr lang="en-US" sz="3200" dirty="0"/>
          </a:p>
        </p:txBody>
      </p:sp>
      <p:sp>
        <p:nvSpPr>
          <p:cNvPr id="5" name="shot-sec-frame"/>
          <p:cNvSpPr/>
          <p:nvPr/>
        </p:nvSpPr>
        <p:spPr>
          <a:xfrm>
            <a:off x="557784" y="1289304"/>
            <a:ext cx="6473952" cy="4107942"/>
          </a:xfrm>
          <a:prstGeom prst="roundRect">
            <a:avLst>
              <a:gd name="adj" fmla="val 2671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6" name="shot-sec" descr="C:\Users\User\Desktop\agent\final_project\report\assets\dan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6309360" cy="3943350"/>
          </a:xfrm>
          <a:prstGeom prst="rect">
            <a:avLst/>
          </a:prstGeom>
        </p:spPr>
      </p:pic>
      <p:sp>
        <p:nvSpPr>
          <p:cNvPr id="7" name="sec-c0-circle"/>
          <p:cNvSpPr/>
          <p:nvPr/>
        </p:nvSpPr>
        <p:spPr>
          <a:xfrm>
            <a:off x="7315200" y="13258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sec-c0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5959" y="1456639"/>
            <a:ext cx="241402" cy="24140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955280" y="1289304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登入權杖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955280" y="1655064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JWT：30 分鐘的 access token＋refresh token；改密碼後其他裝置全部登出</a:t>
            </a:r>
            <a:endParaRPr lang="en-US" sz="1250" dirty="0"/>
          </a:p>
        </p:txBody>
      </p:sp>
      <p:sp>
        <p:nvSpPr>
          <p:cNvPr id="11" name="sec-c1-circle"/>
          <p:cNvSpPr/>
          <p:nvPr/>
        </p:nvSpPr>
        <p:spPr>
          <a:xfrm>
            <a:off x="7315200" y="21488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sec-c1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5959" y="2279599"/>
            <a:ext cx="241402" cy="24140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955280" y="2112264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密碼只存雜湊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7955280" y="2478024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不存明碼；忘記密碼寄 30 分鐘有效的重設連結（Brevo）</a:t>
            </a:r>
            <a:endParaRPr lang="en-US" sz="1250" dirty="0"/>
          </a:p>
        </p:txBody>
      </p:sp>
      <p:sp>
        <p:nvSpPr>
          <p:cNvPr id="15" name="sec-c2-circle"/>
          <p:cNvSpPr/>
          <p:nvPr/>
        </p:nvSpPr>
        <p:spPr>
          <a:xfrm>
            <a:off x="7315200" y="2971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sec-c2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5959" y="3102559"/>
            <a:ext cx="241402" cy="24140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955280" y="2935224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沒驗證不能登入</a:t>
            </a:r>
            <a:endParaRPr lang="en-US" sz="1600" dirty="0"/>
          </a:p>
        </p:txBody>
      </p:sp>
      <p:sp>
        <p:nvSpPr>
          <p:cNvPr id="18" name="Text 12"/>
          <p:cNvSpPr txBox="1"/>
          <p:nvPr/>
        </p:nvSpPr>
        <p:spPr>
          <a:xfrm>
            <a:off x="7955280" y="3300984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點了驗證信才開始；連結過期就失效</a:t>
            </a:r>
            <a:endParaRPr lang="en-US" sz="1250" dirty="0"/>
          </a:p>
        </p:txBody>
      </p:sp>
      <p:sp>
        <p:nvSpPr>
          <p:cNvPr id="19" name="sec-c3-circle"/>
          <p:cNvSpPr/>
          <p:nvPr/>
        </p:nvSpPr>
        <p:spPr>
          <a:xfrm>
            <a:off x="7315200" y="37947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sec-c3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5959" y="3925519"/>
            <a:ext cx="241402" cy="24140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7955280" y="3758184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防濫用</a:t>
            </a:r>
            <a:endParaRPr lang="en-US" sz="1600" dirty="0"/>
          </a:p>
        </p:txBody>
      </p:sp>
      <p:sp>
        <p:nvSpPr>
          <p:cNvPr id="22" name="Text 15"/>
          <p:cNvSpPr txBox="1"/>
          <p:nvPr/>
        </p:nvSpPr>
        <p:spPr>
          <a:xfrm>
            <a:off x="7955280" y="4123944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登入失敗、註冊都有次數上限；被擋下的寫進安全事件</a:t>
            </a:r>
            <a:endParaRPr lang="en-US" sz="1250" dirty="0"/>
          </a:p>
        </p:txBody>
      </p:sp>
      <p:sp>
        <p:nvSpPr>
          <p:cNvPr id="23" name="sec-c4-circle"/>
          <p:cNvSpPr/>
          <p:nvPr/>
        </p:nvSpPr>
        <p:spPr>
          <a:xfrm>
            <a:off x="7315200" y="4617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sec-c4-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5959" y="4748479"/>
            <a:ext cx="241402" cy="241402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7955280" y="4581144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權限守衛</a:t>
            </a:r>
            <a:endParaRPr lang="en-US" sz="1600" dirty="0"/>
          </a:p>
        </p:txBody>
      </p:sp>
      <p:sp>
        <p:nvSpPr>
          <p:cNvPr id="26" name="Text 18"/>
          <p:cNvSpPr txBox="1"/>
          <p:nvPr/>
        </p:nvSpPr>
        <p:spPr>
          <a:xfrm>
            <a:off x="7955280" y="4946904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每支路由先檢查登入、停權、身分；前端藏按鈕不算權限</a:t>
            </a:r>
            <a:endParaRPr lang="en-US" sz="1250" dirty="0"/>
          </a:p>
        </p:txBody>
      </p:sp>
      <p:sp>
        <p:nvSpPr>
          <p:cNvPr id="27" name="sec-c5-circle"/>
          <p:cNvSpPr/>
          <p:nvPr/>
        </p:nvSpPr>
        <p:spPr>
          <a:xfrm>
            <a:off x="7315200" y="5440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8" name="sec-c5-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45959" y="5571439"/>
            <a:ext cx="241402" cy="24140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7955280" y="5404104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危險動作再確認</a:t>
            </a:r>
            <a:endParaRPr lang="en-US" sz="1600" dirty="0"/>
          </a:p>
        </p:txBody>
      </p:sp>
      <p:sp>
        <p:nvSpPr>
          <p:cNvPr id="30" name="Text 21"/>
          <p:cNvSpPr txBox="1"/>
          <p:nvPr/>
        </p:nvSpPr>
        <p:spPr>
          <a:xfrm>
            <a:off x="7955280" y="5769864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刪除要再輸入自己的密碼；刪帳號另外要確認碼</a:t>
            </a:r>
            <a:endParaRPr lang="en-US" sz="1250" dirty="0"/>
          </a:p>
        </p:txBody>
      </p:sp>
      <p:sp>
        <p:nvSpPr>
          <p:cNvPr id="31" name="Text 22"/>
          <p:cNvSpPr txBox="1"/>
          <p:nvPr/>
        </p:nvSpPr>
        <p:spPr>
          <a:xfrm>
            <a:off x="640080" y="544068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左圖：刪除一筆帳之前，要輸入自己的密碼。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dom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領域 1／4・認證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平台管理：即時看狀態，規則先擋、人來決定</a:t>
            </a:r>
            <a:endParaRPr lang="en-US" sz="3200" dirty="0"/>
          </a:p>
        </p:txBody>
      </p:sp>
      <p:sp>
        <p:nvSpPr>
          <p:cNvPr id="5" name="shot-admin-frame"/>
          <p:cNvSpPr/>
          <p:nvPr/>
        </p:nvSpPr>
        <p:spPr>
          <a:xfrm>
            <a:off x="557784" y="1289304"/>
            <a:ext cx="7388352" cy="4679442"/>
          </a:xfrm>
          <a:prstGeom prst="roundRect">
            <a:avLst>
              <a:gd name="adj" fmla="val 234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6" name="shot-admin" descr="C:\Users\User\Desktop\agent\final_project\report\assets\adm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7223760" cy="4514850"/>
          </a:xfrm>
          <a:prstGeom prst="rect">
            <a:avLst/>
          </a:prstGeom>
        </p:spPr>
      </p:pic>
      <p:sp>
        <p:nvSpPr>
          <p:cNvPr id="7" name="adm-c0-circle"/>
          <p:cNvSpPr/>
          <p:nvPr/>
        </p:nvSpPr>
        <p:spPr>
          <a:xfrm>
            <a:off x="8275320" y="141732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adm-c0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7966" y="1559966"/>
            <a:ext cx="263347" cy="26334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961120" y="13990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紅綠燈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8961120" y="178308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每個帳號在不在線上，每 10 秒更新；按了登出馬上變紅燈</a:t>
            </a:r>
            <a:endParaRPr lang="en-US" sz="1300" dirty="0"/>
          </a:p>
        </p:txBody>
      </p:sp>
      <p:sp>
        <p:nvSpPr>
          <p:cNvPr id="11" name="adm-c1-circle"/>
          <p:cNvSpPr/>
          <p:nvPr/>
        </p:nvSpPr>
        <p:spPr>
          <a:xfrm>
            <a:off x="8275320" y="26060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2" name="adm-c1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966" y="2748686"/>
            <a:ext cx="263347" cy="263347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961120" y="258775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錯誤訊息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8961120" y="297180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後端的 5xx、使用者畫面上出的錯即時列出；使用者只看到白話，技術細節只到這裡</a:t>
            </a:r>
            <a:endParaRPr lang="en-US" sz="1300" dirty="0"/>
          </a:p>
        </p:txBody>
      </p:sp>
      <p:sp>
        <p:nvSpPr>
          <p:cNvPr id="15" name="adm-c2-circle"/>
          <p:cNvSpPr/>
          <p:nvPr/>
        </p:nvSpPr>
        <p:spPr>
          <a:xfrm>
            <a:off x="8275320" y="37947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adm-c2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7966" y="3937406"/>
            <a:ext cx="263347" cy="26334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961120" y="377647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規則先擋</a:t>
            </a:r>
            <a:endParaRPr lang="en-US" sz="1700" dirty="0"/>
          </a:p>
        </p:txBody>
      </p:sp>
      <p:sp>
        <p:nvSpPr>
          <p:cNvPr id="18" name="Text 12"/>
          <p:cNvSpPr txBox="1"/>
          <p:nvPr/>
        </p:nvSpPr>
        <p:spPr>
          <a:xfrm>
            <a:off x="8961120" y="416052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同一帳號 15 分鐘錯 5 次鎖 15 分鐘、同一來源大量註冊、AI 每人每日額度</a:t>
            </a:r>
            <a:endParaRPr lang="en-US" sz="1300" dirty="0"/>
          </a:p>
        </p:txBody>
      </p:sp>
      <p:sp>
        <p:nvSpPr>
          <p:cNvPr id="19" name="adm-c3-circle"/>
          <p:cNvSpPr/>
          <p:nvPr/>
        </p:nvSpPr>
        <p:spPr>
          <a:xfrm>
            <a:off x="8275320" y="4983480"/>
            <a:ext cx="548640" cy="54864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0" name="adm-c3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7966" y="5126126"/>
            <a:ext cx="263347" cy="26334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8961120" y="496519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停權由人按</a:t>
            </a:r>
            <a:endParaRPr lang="en-US" sz="1700" dirty="0"/>
          </a:p>
        </p:txBody>
      </p:sp>
      <p:sp>
        <p:nvSpPr>
          <p:cNvPr id="22" name="Text 15"/>
          <p:cNvSpPr txBox="1"/>
          <p:nvPr/>
        </p:nvSpPr>
        <p:spPr>
          <a:xfrm>
            <a:off x="8961120" y="534924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規則只暫時擋下、時間到自己解開；要不要停權由管理員決定，每一次都寫稽核</a:t>
            </a:r>
            <a:endParaRPr 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640080" y="605332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管理員一樣讀不到任何人的帳：這一頁只有身分欄位、狀態與次數（停權是關門，不是配鑰匙）。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dom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領域 2／4・記帳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活動：個人底下的小帳本</a:t>
            </a:r>
            <a:endParaRPr lang="en-US" sz="3200" dirty="0"/>
          </a:p>
        </p:txBody>
      </p:sp>
      <p:sp>
        <p:nvSpPr>
          <p:cNvPr id="5" name="shot-activity-frame"/>
          <p:cNvSpPr/>
          <p:nvPr/>
        </p:nvSpPr>
        <p:spPr>
          <a:xfrm>
            <a:off x="557784" y="1289304"/>
            <a:ext cx="7388352" cy="4679442"/>
          </a:xfrm>
          <a:prstGeom prst="roundRect">
            <a:avLst>
              <a:gd name="adj" fmla="val 234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6" name="shot-activity" descr="C:\Users\User\Desktop\agent\final_project\report\assets\activity_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7223760" cy="4514850"/>
          </a:xfrm>
          <a:prstGeom prst="rect">
            <a:avLst/>
          </a:prstGeom>
        </p:spPr>
      </p:pic>
      <p:sp>
        <p:nvSpPr>
          <p:cNvPr id="7" name="act-c0-circle"/>
          <p:cNvSpPr/>
          <p:nvPr/>
        </p:nvSpPr>
        <p:spPr>
          <a:xfrm>
            <a:off x="8275320" y="1371600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act-c0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8457" y="1504737"/>
            <a:ext cx="245791" cy="24579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915400" y="133502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這個活動是什麼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915400" y="1700784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主卡放建立者寫的說明、期間、成員、筆數、目標金額</a:t>
            </a:r>
            <a:endParaRPr lang="en-US" sz="1200" dirty="0"/>
          </a:p>
        </p:txBody>
      </p:sp>
      <p:sp>
        <p:nvSpPr>
          <p:cNvPr id="11" name="act-c1-circle"/>
          <p:cNvSpPr/>
          <p:nvPr/>
        </p:nvSpPr>
        <p:spPr>
          <a:xfrm>
            <a:off x="8275320" y="2322576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act-c1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8457" y="2455713"/>
            <a:ext cx="245791" cy="245791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915400" y="2286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開始日與預先規劃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8915400" y="265176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開始日在以後的先放「預先規劃」，到了那天自動上架並通知成員</a:t>
            </a:r>
            <a:endParaRPr lang="en-US" sz="1200" dirty="0"/>
          </a:p>
        </p:txBody>
      </p:sp>
      <p:sp>
        <p:nvSpPr>
          <p:cNvPr id="15" name="act-c2-circle"/>
          <p:cNvSpPr/>
          <p:nvPr/>
        </p:nvSpPr>
        <p:spPr>
          <a:xfrm>
            <a:off x="8275320" y="3273552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act-c2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8457" y="3406689"/>
            <a:ext cx="245791" cy="245791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915400" y="323697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設定只有建立者能改</a:t>
            </a:r>
            <a:endParaRPr lang="en-US" sz="1600" dirty="0"/>
          </a:p>
        </p:txBody>
      </p:sp>
      <p:sp>
        <p:nvSpPr>
          <p:cNvPr id="18" name="Text 12"/>
          <p:cNvSpPr txBox="1"/>
          <p:nvPr/>
        </p:nvSpPr>
        <p:spPr>
          <a:xfrm>
            <a:off x="8915400" y="360273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名稱、說明、期間、顏色、目標金額；成員看得到但不能改</a:t>
            </a:r>
            <a:endParaRPr lang="en-US" sz="1200" dirty="0"/>
          </a:p>
        </p:txBody>
      </p:sp>
      <p:sp>
        <p:nvSpPr>
          <p:cNvPr id="19" name="act-c3-circle"/>
          <p:cNvSpPr/>
          <p:nvPr/>
        </p:nvSpPr>
        <p:spPr>
          <a:xfrm>
            <a:off x="8275320" y="4224528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act-c3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8457" y="4357665"/>
            <a:ext cx="245791" cy="245791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8915400" y="418795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邀請朋友</a:t>
            </a:r>
            <a:endParaRPr lang="en-US" sz="1600" dirty="0"/>
          </a:p>
        </p:txBody>
      </p:sp>
      <p:sp>
        <p:nvSpPr>
          <p:cNvPr id="22" name="Text 15"/>
          <p:cNvSpPr txBox="1"/>
          <p:nvPr/>
        </p:nvSpPr>
        <p:spPr>
          <a:xfrm>
            <a:off x="8915400" y="455371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完整 email 或只能用一次的邀請碼；不影響家庭關係</a:t>
            </a:r>
            <a:endParaRPr lang="en-US" sz="1200" dirty="0"/>
          </a:p>
        </p:txBody>
      </p:sp>
      <p:sp>
        <p:nvSpPr>
          <p:cNvPr id="23" name="act-c4-circle"/>
          <p:cNvSpPr/>
          <p:nvPr/>
        </p:nvSpPr>
        <p:spPr>
          <a:xfrm>
            <a:off x="8275320" y="5175504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act-c4-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8457" y="5308641"/>
            <a:ext cx="245791" cy="245791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8915400" y="51389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退出可以合併</a:t>
            </a:r>
            <a:endParaRPr lang="en-US" sz="1600" dirty="0"/>
          </a:p>
        </p:txBody>
      </p:sp>
      <p:sp>
        <p:nvSpPr>
          <p:cNvPr id="26" name="Text 18"/>
          <p:cNvSpPr txBox="1"/>
          <p:nvPr/>
        </p:nvSpPr>
        <p:spPr>
          <a:xfrm>
            <a:off x="8915400" y="550468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把自己記的幾筆複製到個人帳本；活動裡的原紀錄留著</a:t>
            </a:r>
            <a:endParaRPr lang="en-US" sz="1200" dirty="0"/>
          </a:p>
        </p:txBody>
      </p:sp>
      <p:sp>
        <p:nvSpPr>
          <p:cNvPr id="27" name="Text 19"/>
          <p:cNvSpPr txBox="1"/>
          <p:nvPr/>
        </p:nvSpPr>
        <p:spPr>
          <a:xfrm>
            <a:off x="640080" y="603504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三種視角　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個人＝自己的總帳本；活動＝個人底下的小帳本，各有自己的總覽；家庭＝合併看全家，加上長期目標。活動裡記的帳只算在活動，退出時選「合併」才算進個人。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dom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領域 2／4・記帳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段落記帳：一段話變成好幾筆</a:t>
            </a:r>
            <a:endParaRPr lang="en-US" sz="3200" dirty="0"/>
          </a:p>
        </p:txBody>
      </p:sp>
      <p:sp>
        <p:nvSpPr>
          <p:cNvPr id="5" name="step-0"/>
          <p:cNvSpPr/>
          <p:nvPr/>
        </p:nvSpPr>
        <p:spPr>
          <a:xfrm>
            <a:off x="548640" y="1371600"/>
            <a:ext cx="2057400" cy="2514600"/>
          </a:xfrm>
          <a:prstGeom prst="roundRect">
            <a:avLst>
              <a:gd name="adj" fmla="val 6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step-ic-0-circle"/>
          <p:cNvSpPr/>
          <p:nvPr/>
        </p:nvSpPr>
        <p:spPr>
          <a:xfrm>
            <a:off x="777240" y="1572768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step-ic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4641" y="1720169"/>
            <a:ext cx="272125" cy="27212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77240" y="22402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一段話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670048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「昨天全聯買衛生紙199，晚上加油」</a:t>
            </a:r>
            <a:endParaRPr lang="en-US" sz="1400" dirty="0"/>
          </a:p>
        </p:txBody>
      </p:sp>
      <p:sp>
        <p:nvSpPr>
          <p:cNvPr id="10" name="step-a-0"/>
          <p:cNvSpPr/>
          <p:nvPr/>
        </p:nvSpPr>
        <p:spPr>
          <a:xfrm>
            <a:off x="2624328" y="2624328"/>
            <a:ext cx="192024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1" name="step-1"/>
          <p:cNvSpPr/>
          <p:nvPr/>
        </p:nvSpPr>
        <p:spPr>
          <a:xfrm>
            <a:off x="2834640" y="1371600"/>
            <a:ext cx="2057400" cy="2514600"/>
          </a:xfrm>
          <a:prstGeom prst="roundRect">
            <a:avLst>
              <a:gd name="adj" fmla="val 6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tep-ic-1-circle"/>
          <p:cNvSpPr/>
          <p:nvPr/>
        </p:nvSpPr>
        <p:spPr>
          <a:xfrm>
            <a:off x="3063240" y="1572768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step-ic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0641" y="1720169"/>
            <a:ext cx="272125" cy="272125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063240" y="22402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組 prompt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3063240" y="2670048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規則＋今天日期＋這個家的分類清單＋一組範例</a:t>
            </a:r>
            <a:endParaRPr lang="en-US" sz="1400" dirty="0"/>
          </a:p>
        </p:txBody>
      </p:sp>
      <p:sp>
        <p:nvSpPr>
          <p:cNvPr id="16" name="step-a-1"/>
          <p:cNvSpPr/>
          <p:nvPr/>
        </p:nvSpPr>
        <p:spPr>
          <a:xfrm>
            <a:off x="4910328" y="2624328"/>
            <a:ext cx="192024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7" name="step-2"/>
          <p:cNvSpPr/>
          <p:nvPr/>
        </p:nvSpPr>
        <p:spPr>
          <a:xfrm>
            <a:off x="5120640" y="1371600"/>
            <a:ext cx="2057400" cy="2514600"/>
          </a:xfrm>
          <a:prstGeom prst="roundRect">
            <a:avLst>
              <a:gd name="adj" fmla="val 6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step-ic-2-circle"/>
          <p:cNvSpPr/>
          <p:nvPr/>
        </p:nvSpPr>
        <p:spPr>
          <a:xfrm>
            <a:off x="5349240" y="1572768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9" name="step-ic-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6641" y="1720169"/>
            <a:ext cx="272125" cy="27212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349240" y="22402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模型用工具交出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5349240" y="2670048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record_transactions：每一筆每一欄都要表態，沒講就填 null</a:t>
            </a:r>
            <a:endParaRPr lang="en-US" sz="1400" dirty="0"/>
          </a:p>
        </p:txBody>
      </p:sp>
      <p:sp>
        <p:nvSpPr>
          <p:cNvPr id="22" name="step-a-2"/>
          <p:cNvSpPr/>
          <p:nvPr/>
        </p:nvSpPr>
        <p:spPr>
          <a:xfrm>
            <a:off x="7196328" y="2624328"/>
            <a:ext cx="192024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3" name="step-3"/>
          <p:cNvSpPr/>
          <p:nvPr/>
        </p:nvSpPr>
        <p:spPr>
          <a:xfrm>
            <a:off x="7406640" y="1371600"/>
            <a:ext cx="2057400" cy="2514600"/>
          </a:xfrm>
          <a:prstGeom prst="roundRect">
            <a:avLst>
              <a:gd name="adj" fmla="val 6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tep-ic-3-circle"/>
          <p:cNvSpPr/>
          <p:nvPr/>
        </p:nvSpPr>
        <p:spPr>
          <a:xfrm>
            <a:off x="7635240" y="1572768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step-ic-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2641" y="1720169"/>
            <a:ext cx="272125" cy="272125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7635240" y="22402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程式逐欄驗證</a:t>
            </a:r>
            <a:endParaRPr lang="en-US" sz="1700" dirty="0"/>
          </a:p>
        </p:txBody>
      </p:sp>
      <p:sp>
        <p:nvSpPr>
          <p:cNvPr id="27" name="Text 21"/>
          <p:cNvSpPr txBox="1"/>
          <p:nvPr/>
        </p:nvSpPr>
        <p:spPr>
          <a:xfrm>
            <a:off x="7635240" y="2670048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日期重算、金額對原句、分類要在清單裡</a:t>
            </a:r>
            <a:endParaRPr lang="en-US" sz="1400" dirty="0"/>
          </a:p>
        </p:txBody>
      </p:sp>
      <p:sp>
        <p:nvSpPr>
          <p:cNvPr id="28" name="step-a-3"/>
          <p:cNvSpPr/>
          <p:nvPr/>
        </p:nvSpPr>
        <p:spPr>
          <a:xfrm>
            <a:off x="9482328" y="2624328"/>
            <a:ext cx="192024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9" name="step-4"/>
          <p:cNvSpPr/>
          <p:nvPr/>
        </p:nvSpPr>
        <p:spPr>
          <a:xfrm>
            <a:off x="9692640" y="1371600"/>
            <a:ext cx="2057400" cy="2514600"/>
          </a:xfrm>
          <a:prstGeom prst="roundRect">
            <a:avLst>
              <a:gd name="adj" fmla="val 6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step-ic-4-circle"/>
          <p:cNvSpPr/>
          <p:nvPr/>
        </p:nvSpPr>
        <p:spPr>
          <a:xfrm>
            <a:off x="9921240" y="1572768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step-ic-4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68641" y="1720169"/>
            <a:ext cx="272125" cy="272125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9921240" y="22402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人確認才寫入</a:t>
            </a:r>
            <a:endParaRPr lang="en-US" sz="1700" dirty="0"/>
          </a:p>
        </p:txBody>
      </p:sp>
      <p:sp>
        <p:nvSpPr>
          <p:cNvPr id="33" name="Text 26"/>
          <p:cNvSpPr txBox="1"/>
          <p:nvPr/>
        </p:nvSpPr>
        <p:spPr>
          <a:xfrm>
            <a:off x="9921240" y="2670048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缺的標紅、沒把握的標黃，按確認才存</a:t>
            </a:r>
            <a:endParaRPr lang="en-US" sz="1400" dirty="0"/>
          </a:p>
        </p:txBody>
      </p:sp>
      <p:graphicFrame>
        <p:nvGraphicFramePr>
          <p:cNvPr id="9" name="parse-examp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11480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651760"/>
                <a:gridCol w="1371600"/>
                <a:gridCol w="1371600"/>
                <a:gridCol w="29260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原句的那一段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日期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金額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分類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畫面上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5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昨天全聯買衛生紙199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10/14（程式依「昨天」算）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199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日用品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正常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晚上加油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10/15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（沒講）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交通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金額標紅、補上才能送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35" name="tool-why"/>
          <p:cNvSpPr/>
          <p:nvPr/>
        </p:nvSpPr>
        <p:spPr>
          <a:xfrm>
            <a:off x="548640" y="5257800"/>
            <a:ext cx="11064240" cy="914400"/>
          </a:xfrm>
          <a:prstGeom prst="roundRect">
            <a:avLst>
              <a:gd name="adj" fmla="val 1400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822960" y="5330952"/>
            <a:ext cx="10515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為什麼用工具呼叫（function calling），不是叫模型「回 JSON」？
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工具的參數有 JSON Schema 約束：每一欄都 required、不收多的欄位，Claude 的 strict 模式保證格式一定對。模型要嘛交出合格的結構，要嘛交不出來——不會有「JSON 少一個括號」這種錯。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dom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領域 2／4・記帳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評測結果：同一份 101 題，三套系統</a:t>
            </a:r>
            <a:endParaRPr lang="en-US" sz="3200" dirty="0"/>
          </a:p>
        </p:txBody>
      </p:sp>
      <p:graphicFrame>
        <p:nvGraphicFramePr>
          <p:cNvPr id="5" name="chart-eval" descr=""/>
          <p:cNvGraphicFramePr/>
          <p:nvPr/>
        </p:nvGraphicFramePr>
        <p:xfrm>
          <a:off x="548640" y="1371600"/>
          <a:ext cx="694944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eval-side"/>
          <p:cNvSpPr/>
          <p:nvPr/>
        </p:nvSpPr>
        <p:spPr>
          <a:xfrm>
            <a:off x="7863840" y="1463040"/>
            <a:ext cx="3749040" cy="4617720"/>
          </a:xfrm>
          <a:prstGeom prst="roundRect">
            <a:avLst>
              <a:gd name="adj" fmla="val 3415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138160" y="16459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數字背後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2148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整題完全正確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240487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100.0%（線上）／63.4%（規則）／6.9%（1.5B）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138160" y="28346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分類 Macro-F1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138160" y="309067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100.0%（線上）／79.1%（規則）／12.9%（1.5B）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138160" y="3520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沒講金額卻填數字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138160" y="377647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0.0%（線上）／0.0%（規則）／50.0%（1.5B）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138160" y="42062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每句要等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138160" y="446227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2.06 秒（線上 p50，p95 5.16）；1.5B 本機 27.27 秒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4937760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線上量的是上線那一套：Claude＋輸出管理（程式逐筆對原句）。⚠️ 題目由 AI 產生、句型比真人整齊，100% 不代表不會錯。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dom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領域 3／4・數字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首頁：一眼看到這個月還可以花多少</a:t>
            </a:r>
            <a:endParaRPr lang="en-US" sz="3200" dirty="0"/>
          </a:p>
        </p:txBody>
      </p:sp>
      <p:sp>
        <p:nvSpPr>
          <p:cNvPr id="5" name="shot-home-frame"/>
          <p:cNvSpPr/>
          <p:nvPr/>
        </p:nvSpPr>
        <p:spPr>
          <a:xfrm>
            <a:off x="557784" y="1289304"/>
            <a:ext cx="7388352" cy="4679442"/>
          </a:xfrm>
          <a:prstGeom prst="roundRect">
            <a:avLst>
              <a:gd name="adj" fmla="val 2345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6" name="shot-home" descr="C:\Users\User\Desktop\agent\final_project\report\assets\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7223760" cy="4514850"/>
          </a:xfrm>
          <a:prstGeom prst="rect">
            <a:avLst/>
          </a:prstGeom>
        </p:spPr>
      </p:pic>
      <p:sp>
        <p:nvSpPr>
          <p:cNvPr id="7" name="home-c0-circle"/>
          <p:cNvSpPr/>
          <p:nvPr/>
        </p:nvSpPr>
        <p:spPr>
          <a:xfrm>
            <a:off x="8275320" y="1417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home-c0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7966" y="1559966"/>
            <a:ext cx="263347" cy="26334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961120" y="13990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嗨，名字＋家庭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8961120" y="178308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像銀行 App 一樣先打招呼，下面寫是哪個家庭的誰</a:t>
            </a:r>
            <a:endParaRPr lang="en-US" sz="1300" dirty="0"/>
          </a:p>
        </p:txBody>
      </p:sp>
      <p:sp>
        <p:nvSpPr>
          <p:cNvPr id="11" name="home-c1-circle"/>
          <p:cNvSpPr/>
          <p:nvPr/>
        </p:nvSpPr>
        <p:spPr>
          <a:xfrm>
            <a:off x="8275320" y="26060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home-c1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966" y="2748686"/>
            <a:ext cx="263347" cy="263347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961120" y="258775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這個月還可以花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8961120" y="297180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收入 − 每月想存；月薪設了入帳日會自動記一筆，入帳前先照預計的算</a:t>
            </a:r>
            <a:endParaRPr lang="en-US" sz="1300" dirty="0"/>
          </a:p>
        </p:txBody>
      </p:sp>
      <p:sp>
        <p:nvSpPr>
          <p:cNvPr id="15" name="home-c2-circle"/>
          <p:cNvSpPr/>
          <p:nvPr/>
        </p:nvSpPr>
        <p:spPr>
          <a:xfrm>
            <a:off x="8275320" y="37947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home-c2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7966" y="3937406"/>
            <a:ext cx="263347" cy="26334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961120" y="377647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常用功能</a:t>
            </a:r>
            <a:endParaRPr lang="en-US" sz="1700" dirty="0"/>
          </a:p>
        </p:txBody>
      </p:sp>
      <p:sp>
        <p:nvSpPr>
          <p:cNvPr id="18" name="Text 12"/>
          <p:cNvSpPr txBox="1"/>
          <p:nvPr/>
        </p:nvSpPr>
        <p:spPr>
          <a:xfrm>
            <a:off x="8961120" y="416052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記一筆、個人帳本、活動管理、財務狀況與建議，一格一個入口</a:t>
            </a:r>
            <a:endParaRPr lang="en-US" sz="1300" dirty="0"/>
          </a:p>
        </p:txBody>
      </p:sp>
      <p:sp>
        <p:nvSpPr>
          <p:cNvPr id="19" name="home-c3-circle"/>
          <p:cNvSpPr/>
          <p:nvPr/>
        </p:nvSpPr>
        <p:spPr>
          <a:xfrm>
            <a:off x="8275320" y="4983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home-c3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7966" y="5126126"/>
            <a:ext cx="263347" cy="26334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8961120" y="496519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下方面板</a:t>
            </a:r>
            <a:endParaRPr lang="en-US" sz="1700" dirty="0"/>
          </a:p>
        </p:txBody>
      </p:sp>
      <p:sp>
        <p:nvSpPr>
          <p:cNvPr id="22" name="Text 15"/>
          <p:cNvSpPr txBox="1"/>
          <p:nvPr/>
        </p:nvSpPr>
        <p:spPr>
          <a:xfrm>
            <a:off x="8961120" y="534924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分頁切換、在面板裡捲動；第一頁是今天的紀錄，格式跟明細一樣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dom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領域 3／4・數字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統計、預算與提醒</a:t>
            </a:r>
            <a:endParaRPr lang="en-US" sz="3200" dirty="0"/>
          </a:p>
        </p:txBody>
      </p:sp>
      <p:sp>
        <p:nvSpPr>
          <p:cNvPr id="5" name="shot-bud-frame"/>
          <p:cNvSpPr/>
          <p:nvPr/>
        </p:nvSpPr>
        <p:spPr>
          <a:xfrm>
            <a:off x="557784" y="1289304"/>
            <a:ext cx="6473952" cy="4107942"/>
          </a:xfrm>
          <a:prstGeom prst="roundRect">
            <a:avLst>
              <a:gd name="adj" fmla="val 2671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6" name="shot-bud" descr="C:\Users\User\Desktop\agent\final_project\report\assets\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6309360" cy="3943350"/>
          </a:xfrm>
          <a:prstGeom prst="rect">
            <a:avLst/>
          </a:prstGeom>
        </p:spPr>
      </p:pic>
      <p:sp>
        <p:nvSpPr>
          <p:cNvPr id="7" name="bud-c0-circle"/>
          <p:cNvSpPr/>
          <p:nvPr/>
        </p:nvSpPr>
        <p:spPr>
          <a:xfrm>
            <a:off x="7315200" y="13258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bud-c0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5959" y="1456639"/>
            <a:ext cx="241402" cy="24140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955280" y="1289304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收支對照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955280" y="1655064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按月、按年；近六個月的趨勢</a:t>
            </a:r>
            <a:endParaRPr lang="en-US" sz="1250" dirty="0"/>
          </a:p>
        </p:txBody>
      </p:sp>
      <p:sp>
        <p:nvSpPr>
          <p:cNvPr id="11" name="bud-c1-circle"/>
          <p:cNvSpPr/>
          <p:nvPr/>
        </p:nvSpPr>
        <p:spPr>
          <a:xfrm>
            <a:off x="7315200" y="225856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bud-c1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5959" y="2389327"/>
            <a:ext cx="241402" cy="24140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955280" y="2221992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錢花在哪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7955280" y="258775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分類比例，跟總覽、明細同一個來源</a:t>
            </a:r>
            <a:endParaRPr lang="en-US" sz="1250" dirty="0"/>
          </a:p>
        </p:txBody>
      </p:sp>
      <p:sp>
        <p:nvSpPr>
          <p:cNvPr id="15" name="bud-c2-circle"/>
          <p:cNvSpPr/>
          <p:nvPr/>
        </p:nvSpPr>
        <p:spPr>
          <a:xfrm>
            <a:off x="7315200" y="319125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bud-c2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5959" y="3322015"/>
            <a:ext cx="241402" cy="24140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955280" y="315468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分類預算</a:t>
            </a:r>
            <a:endParaRPr lang="en-US" sz="1600" dirty="0"/>
          </a:p>
        </p:txBody>
      </p:sp>
      <p:sp>
        <p:nvSpPr>
          <p:cNvPr id="18" name="Text 12"/>
          <p:cNvSpPr txBox="1"/>
          <p:nvPr/>
        </p:nvSpPr>
        <p:spPr>
          <a:xfrm>
            <a:off x="7955280" y="352044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替常花的分類設上限；總覽面板第二頁看用了幾成</a:t>
            </a:r>
            <a:endParaRPr lang="en-US" sz="1250" dirty="0"/>
          </a:p>
        </p:txBody>
      </p:sp>
      <p:sp>
        <p:nvSpPr>
          <p:cNvPr id="19" name="bud-c3-circle"/>
          <p:cNvSpPr/>
          <p:nvPr/>
        </p:nvSpPr>
        <p:spPr>
          <a:xfrm>
            <a:off x="7315200" y="4123944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bud-c3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5959" y="4254703"/>
            <a:ext cx="241402" cy="24140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7955280" y="408736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階段性提醒</a:t>
            </a:r>
            <a:endParaRPr lang="en-US" sz="1600" dirty="0"/>
          </a:p>
        </p:txBody>
      </p:sp>
      <p:sp>
        <p:nvSpPr>
          <p:cNvPr id="22" name="Text 15"/>
          <p:cNvSpPr txBox="1"/>
          <p:nvPr/>
        </p:nvSpPr>
        <p:spPr>
          <a:xfrm>
            <a:off x="7955280" y="4453128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自己設門檻（例如 50%、80%），跨過就進鈴鐺</a:t>
            </a:r>
            <a:endParaRPr lang="en-US" sz="1250" dirty="0"/>
          </a:p>
        </p:txBody>
      </p:sp>
      <p:sp>
        <p:nvSpPr>
          <p:cNvPr id="23" name="bud-c4-circle"/>
          <p:cNvSpPr/>
          <p:nvPr/>
        </p:nvSpPr>
        <p:spPr>
          <a:xfrm>
            <a:off x="7315200" y="5056632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bud-c4-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5959" y="5187391"/>
            <a:ext cx="241402" cy="241402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7955280" y="5020056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存錢與目標金額</a:t>
            </a:r>
            <a:endParaRPr lang="en-US" sz="1600" dirty="0"/>
          </a:p>
        </p:txBody>
      </p:sp>
      <p:sp>
        <p:nvSpPr>
          <p:cNvPr id="26" name="Text 18"/>
          <p:cNvSpPr txBox="1"/>
          <p:nvPr/>
        </p:nvSpPr>
        <p:spPr>
          <a:xfrm>
            <a:off x="7955280" y="5385816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每月想存多少；活動的目標金額全員共用，到了通知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dom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領域 3／4・數字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財務建議：每一個數字都要找得到出處</a:t>
            </a:r>
            <a:endParaRPr lang="en-US" sz="3200" dirty="0"/>
          </a:p>
        </p:txBody>
      </p:sp>
      <p:sp>
        <p:nvSpPr>
          <p:cNvPr id="5" name="adv-0"/>
          <p:cNvSpPr/>
          <p:nvPr/>
        </p:nvSpPr>
        <p:spPr>
          <a:xfrm>
            <a:off x="548640" y="1417320"/>
            <a:ext cx="2606040" cy="16002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002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資料庫算數字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05740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收入、支出、各分類、可支配上限</a:t>
            </a:r>
            <a:endParaRPr lang="en-US" sz="1300" dirty="0"/>
          </a:p>
        </p:txBody>
      </p:sp>
      <p:sp>
        <p:nvSpPr>
          <p:cNvPr id="8" name="adv-a-0"/>
          <p:cNvSpPr/>
          <p:nvPr/>
        </p:nvSpPr>
        <p:spPr>
          <a:xfrm>
            <a:off x="3182112" y="2212848"/>
            <a:ext cx="173736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9" name="adv-1"/>
          <p:cNvSpPr/>
          <p:nvPr/>
        </p:nvSpPr>
        <p:spPr>
          <a:xfrm>
            <a:off x="3383280" y="1417320"/>
            <a:ext cx="2606040" cy="16002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57600" y="16002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先算好比例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205740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支出佔收入、用掉幾成、各分類佔比</a:t>
            </a:r>
            <a:endParaRPr lang="en-US" sz="1300" dirty="0"/>
          </a:p>
        </p:txBody>
      </p:sp>
      <p:sp>
        <p:nvSpPr>
          <p:cNvPr id="12" name="adv-a-1"/>
          <p:cNvSpPr/>
          <p:nvPr/>
        </p:nvSpPr>
        <p:spPr>
          <a:xfrm>
            <a:off x="6016752" y="2212848"/>
            <a:ext cx="173736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3" name="adv-2"/>
          <p:cNvSpPr/>
          <p:nvPr/>
        </p:nvSpPr>
        <p:spPr>
          <a:xfrm>
            <a:off x="6217920" y="1417320"/>
            <a:ext cx="2606040" cy="16002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92240" y="16002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模型只寫句子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205740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結構化輸出；理財習慣標成「資料，不是指令」</a:t>
            </a:r>
            <a:endParaRPr lang="en-US" sz="1300" dirty="0"/>
          </a:p>
        </p:txBody>
      </p:sp>
      <p:sp>
        <p:nvSpPr>
          <p:cNvPr id="16" name="adv-a-2"/>
          <p:cNvSpPr/>
          <p:nvPr/>
        </p:nvSpPr>
        <p:spPr>
          <a:xfrm>
            <a:off x="8851392" y="2212848"/>
            <a:ext cx="173736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7" name="adv-3"/>
          <p:cNvSpPr/>
          <p:nvPr/>
        </p:nvSpPr>
        <p:spPr>
          <a:xfrm>
            <a:off x="9052560" y="1417320"/>
            <a:ext cx="2606040" cy="16002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326880" y="16002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檢查數字出處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9326880" y="205740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找不到出處、或套錯分類的那一則直接不顯示</a:t>
            </a:r>
            <a:endParaRPr lang="en-US" sz="1300" dirty="0"/>
          </a:p>
        </p:txBody>
      </p:sp>
      <p:sp>
        <p:nvSpPr>
          <p:cNvPr id="20" name="adv-ex-0"/>
          <p:cNvSpPr/>
          <p:nvPr/>
        </p:nvSpPr>
        <p:spPr>
          <a:xfrm>
            <a:off x="548640" y="3291840"/>
            <a:ext cx="5440680" cy="1920240"/>
          </a:xfrm>
          <a:prstGeom prst="roundRect">
            <a:avLst>
              <a:gd name="adj" fmla="val 6667"/>
            </a:avLst>
          </a:prstGeom>
          <a:solidFill>
            <a:srgbClr val="EAF7F2"/>
          </a:solidFill>
          <a:ln w="12700">
            <a:solidFill>
              <a:srgbClr val="EAF7F2"/>
            </a:solidFill>
            <a:prstDash val="solid"/>
          </a:ln>
        </p:spPr>
      </p:sp>
      <p:sp>
        <p:nvSpPr>
          <p:cNvPr id="21" name="adv-ex-ic-0-circle"/>
          <p:cNvSpPr/>
          <p:nvPr/>
        </p:nvSpPr>
        <p:spPr>
          <a:xfrm>
            <a:off x="822960" y="34747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2" name="adv-ex-ic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719" y="3605479"/>
            <a:ext cx="241402" cy="241402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508760" y="34747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有出處，照常顯示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822960" y="41148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「這個月已經用掉 86% 的可支配上限」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822960" y="4572000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86% 是程式先算好的比例 → 信心度照模型給的</a:t>
            </a:r>
            <a:endParaRPr lang="en-US" sz="1250" dirty="0"/>
          </a:p>
        </p:txBody>
      </p:sp>
      <p:sp>
        <p:nvSpPr>
          <p:cNvPr id="26" name="adv-ex-1"/>
          <p:cNvSpPr/>
          <p:nvPr/>
        </p:nvSpPr>
        <p:spPr>
          <a:xfrm>
            <a:off x="6172200" y="3291840"/>
            <a:ext cx="5440680" cy="1920240"/>
          </a:xfrm>
          <a:prstGeom prst="roundRect">
            <a:avLst>
              <a:gd name="adj" fmla="val 6667"/>
            </a:avLst>
          </a:prstGeom>
          <a:solidFill>
            <a:srgbClr val="FFF4EC"/>
          </a:solidFill>
          <a:ln w="12700">
            <a:solidFill>
              <a:srgbClr val="FFF4EC"/>
            </a:solidFill>
            <a:prstDash val="solid"/>
          </a:ln>
        </p:spPr>
      </p:sp>
      <p:sp>
        <p:nvSpPr>
          <p:cNvPr id="27" name="adv-ex-ic-1-circle"/>
          <p:cNvSpPr/>
          <p:nvPr/>
        </p:nvSpPr>
        <p:spPr>
          <a:xfrm>
            <a:off x="6446520" y="347472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8" name="adv-ex-ic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7279" y="3605479"/>
            <a:ext cx="241402" cy="241402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7132320" y="34747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沒出處或套錯，整則不顯示</a:t>
            </a:r>
            <a:endParaRPr lang="en-US" sz="1700" dirty="0"/>
          </a:p>
        </p:txBody>
      </p:sp>
      <p:sp>
        <p:nvSpPr>
          <p:cNvPr id="30" name="Text 26"/>
          <p:cNvSpPr txBox="1"/>
          <p:nvPr/>
        </p:nvSpPr>
        <p:spPr>
          <a:xfrm>
            <a:off x="6446520" y="41148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「照這樣一年會花 103,200 元」</a:t>
            </a:r>
            <a:endParaRPr lang="en-US" sz="1600" dirty="0"/>
          </a:p>
        </p:txBody>
      </p:sp>
      <p:sp>
        <p:nvSpPr>
          <p:cNvPr id="31" name="Text 27"/>
          <p:cNvSpPr txBox="1"/>
          <p:nvPr/>
        </p:nvSpPr>
        <p:spPr>
          <a:xfrm>
            <a:off x="6446520" y="4572000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103,200 是模型自己乘出來的；「交通花了 6,000」其實是餐飲的 → 都丟掉；一則都不剩就改用同一批數字整理的版本</a:t>
            </a:r>
            <a:endParaRPr lang="en-US" sz="1250" dirty="0"/>
          </a:p>
        </p:txBody>
      </p:sp>
      <p:sp>
        <p:nvSpPr>
          <p:cNvPr id="32" name="Text 28"/>
          <p:cNvSpPr txBox="1"/>
          <p:nvPr/>
        </p:nvSpPr>
        <p:spPr>
          <a:xfrm>
            <a:off x="548640" y="5440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邊界規則：不給投資、保險、稅務建議；不對個人做價值判斷（不說「你太浪費」）；使用者填的理財習慣只當背景。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dom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領域 4／4・家庭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家庭與權限：誰看得到誰，由後端決定</a:t>
            </a:r>
            <a:endParaRPr lang="en-US" sz="3200" dirty="0"/>
          </a:p>
        </p:txBody>
      </p:sp>
      <p:sp>
        <p:nvSpPr>
          <p:cNvPr id="5" name="shot-members-frame"/>
          <p:cNvSpPr/>
          <p:nvPr/>
        </p:nvSpPr>
        <p:spPr>
          <a:xfrm>
            <a:off x="557784" y="1335024"/>
            <a:ext cx="5285232" cy="3364992"/>
          </a:xfrm>
          <a:prstGeom prst="roundRect">
            <a:avLst>
              <a:gd name="adj" fmla="val 3261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6" name="shot-members" descr="C:\Users\User\Desktop\agent\final_project\report\assets\memb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5120640" cy="3200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48463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邀請碼只顯示一次、有效期 7 天；家長「照看」孩子、設零用金，到了發放日自動記一對帳並通知孩子。</a:t>
            </a:r>
            <a:endParaRPr lang="en-US" sz="1400" dirty="0"/>
          </a:p>
        </p:txBody>
      </p:sp>
      <p:graphicFrame>
        <p:nvGraphicFramePr>
          <p:cNvPr id="14" name="perm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417320"/>
          <a:ext cx="544068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914400"/>
                <a:gridCol w="914400"/>
                <a:gridCol w="10972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能做的事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家長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子女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平台管理員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看自己的帳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看照看中孩子的帳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看家庭的帳務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產生邀請碼、設零用金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停權、看帳號狀態與安全事件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讀任何人的帳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9" name="perm-note"/>
          <p:cNvSpPr/>
          <p:nvPr/>
        </p:nvSpPr>
        <p:spPr>
          <a:xfrm>
            <a:off x="6172200" y="5120640"/>
            <a:ext cx="5440680" cy="868680"/>
          </a:xfrm>
          <a:prstGeom prst="roundRect">
            <a:avLst>
              <a:gd name="adj" fmla="val 14737"/>
            </a:avLst>
          </a:prstGeom>
          <a:solidFill>
            <a:srgbClr val="FFF4EC"/>
          </a:solidFill>
          <a:ln w="12700">
            <a:solidFill>
              <a:srgbClr val="FFF4EC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400800" y="5230368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家長不能切換成孩子的帳號、平台管理員讀不到任何人的帳——刻意不做，不是沒做完。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dom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領域 4／4・家庭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照看與零用金：到了發放日自動記帳</a:t>
            </a:r>
            <a:endParaRPr lang="en-US" sz="3200" dirty="0"/>
          </a:p>
        </p:txBody>
      </p:sp>
      <p:sp>
        <p:nvSpPr>
          <p:cNvPr id="5" name="shot-alw-frame"/>
          <p:cNvSpPr/>
          <p:nvPr/>
        </p:nvSpPr>
        <p:spPr>
          <a:xfrm>
            <a:off x="557784" y="1289304"/>
            <a:ext cx="6473952" cy="4107942"/>
          </a:xfrm>
          <a:prstGeom prst="roundRect">
            <a:avLst>
              <a:gd name="adj" fmla="val 2671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6" name="shot-alw" descr="C:\Users\User\Desktop\agent\final_project\report\assets\allow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6309360" cy="3943350"/>
          </a:xfrm>
          <a:prstGeom prst="rect">
            <a:avLst/>
          </a:prstGeom>
        </p:spPr>
      </p:pic>
      <p:sp>
        <p:nvSpPr>
          <p:cNvPr id="7" name="alw-c0-circle"/>
          <p:cNvSpPr/>
          <p:nvPr/>
        </p:nvSpPr>
        <p:spPr>
          <a:xfrm>
            <a:off x="7315200" y="13258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alw-c0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5959" y="1456639"/>
            <a:ext cx="241402" cy="24140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955280" y="1289304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邀請家人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955280" y="1655064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完整 email 或 7 天有效的邀請碼；送出前先選身分</a:t>
            </a:r>
            <a:endParaRPr lang="en-US" sz="1250" dirty="0"/>
          </a:p>
        </p:txBody>
      </p:sp>
      <p:sp>
        <p:nvSpPr>
          <p:cNvPr id="11" name="alw-c1-circle"/>
          <p:cNvSpPr/>
          <p:nvPr/>
        </p:nvSpPr>
        <p:spPr>
          <a:xfrm>
            <a:off x="7315200" y="225856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alw-c1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5959" y="2389327"/>
            <a:ext cx="241402" cy="24140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955280" y="2221992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開始照看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7955280" y="258775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家長按「開始照看」才看得到孩子的帳；孩子看得到是誰在照看</a:t>
            </a:r>
            <a:endParaRPr lang="en-US" sz="1250" dirty="0"/>
          </a:p>
        </p:txBody>
      </p:sp>
      <p:sp>
        <p:nvSpPr>
          <p:cNvPr id="15" name="alw-c2-circle"/>
          <p:cNvSpPr/>
          <p:nvPr/>
        </p:nvSpPr>
        <p:spPr>
          <a:xfrm>
            <a:off x="7315200" y="319125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alw-c2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5959" y="3322015"/>
            <a:ext cx="241402" cy="24140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955280" y="315468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零用金自動記帳</a:t>
            </a:r>
            <a:endParaRPr lang="en-US" sz="1600" dirty="0"/>
          </a:p>
        </p:txBody>
      </p:sp>
      <p:sp>
        <p:nvSpPr>
          <p:cNvPr id="18" name="Text 12"/>
          <p:cNvSpPr txBox="1"/>
          <p:nvPr/>
        </p:nvSpPr>
        <p:spPr>
          <a:xfrm>
            <a:off x="7955280" y="352044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發放日自動記一對帳：家長一筆支出、孩子一筆收入</a:t>
            </a:r>
            <a:endParaRPr lang="en-US" sz="1250" dirty="0"/>
          </a:p>
        </p:txBody>
      </p:sp>
      <p:sp>
        <p:nvSpPr>
          <p:cNvPr id="19" name="alw-c3-circle"/>
          <p:cNvSpPr/>
          <p:nvPr/>
        </p:nvSpPr>
        <p:spPr>
          <a:xfrm>
            <a:off x="7315200" y="4123944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alw-c3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5959" y="4254703"/>
            <a:ext cx="241402" cy="24140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7955280" y="408736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改了只調原本那對</a:t>
            </a:r>
            <a:endParaRPr lang="en-US" sz="1600" dirty="0"/>
          </a:p>
        </p:txBody>
      </p:sp>
      <p:sp>
        <p:nvSpPr>
          <p:cNvPr id="22" name="Text 15"/>
          <p:cNvSpPr txBox="1"/>
          <p:nvPr/>
        </p:nvSpPr>
        <p:spPr>
          <a:xfrm>
            <a:off x="7955280" y="4453128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家長改金額或刪掉，孩子那筆跟著動；孩子不能改刪</a:t>
            </a:r>
            <a:endParaRPr lang="en-US" sz="1250" dirty="0"/>
          </a:p>
        </p:txBody>
      </p:sp>
      <p:sp>
        <p:nvSpPr>
          <p:cNvPr id="23" name="alw-c4-circle"/>
          <p:cNvSpPr/>
          <p:nvPr/>
        </p:nvSpPr>
        <p:spPr>
          <a:xfrm>
            <a:off x="7315200" y="5056632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alw-c4-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5959" y="5187391"/>
            <a:ext cx="241402" cy="241402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7955280" y="5020056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子女可以退出家庭</a:t>
            </a:r>
            <a:endParaRPr lang="en-US" sz="1600" dirty="0"/>
          </a:p>
        </p:txBody>
      </p:sp>
      <p:sp>
        <p:nvSpPr>
          <p:cNvPr id="26" name="Text 18"/>
          <p:cNvSpPr txBox="1"/>
          <p:nvPr/>
        </p:nvSpPr>
        <p:spPr>
          <a:xfrm>
            <a:off x="7955280" y="5385816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只離開家庭，自己的帳都還在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-tag"/>
          <p:cNvSpPr/>
          <p:nvPr/>
        </p:nvSpPr>
        <p:spPr>
          <a:xfrm>
            <a:off x="9921240" y="475488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9525">
            <a:solidFill>
              <a:srgbClr val="D6E0EE"/>
            </a:solidFill>
            <a:prstDash val="solid"/>
          </a:ln>
        </p:spPr>
      </p:sp>
      <p:sp>
        <p:nvSpPr>
          <p:cNvPr id="3" name="dom-tag-text"/>
          <p:cNvSpPr/>
          <p:nvPr/>
        </p:nvSpPr>
        <p:spPr>
          <a:xfrm>
            <a:off x="9921240" y="47548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領域 4／4・家庭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即時通知與到期任務</a:t>
            </a:r>
            <a:endParaRPr lang="en-US" sz="3200" dirty="0"/>
          </a:p>
        </p:txBody>
      </p:sp>
      <p:sp>
        <p:nvSpPr>
          <p:cNvPr id="5" name="shot-ntf-frame"/>
          <p:cNvSpPr/>
          <p:nvPr/>
        </p:nvSpPr>
        <p:spPr>
          <a:xfrm>
            <a:off x="557784" y="1289304"/>
            <a:ext cx="6473952" cy="4107942"/>
          </a:xfrm>
          <a:prstGeom prst="roundRect">
            <a:avLst>
              <a:gd name="adj" fmla="val 2671"/>
            </a:avLst>
          </a:prstGeom>
          <a:solidFill>
            <a:schemeClr val="bg1"/>
          </a:solidFill>
          <a:ln w="9525">
            <a:solidFill>
              <a:srgbClr val="D6E0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5B">
                <a:alpha val="14000"/>
              </a:srgbClr>
            </a:outerShdw>
          </a:effectLst>
        </p:spPr>
      </p:sp>
      <p:pic>
        <p:nvPicPr>
          <p:cNvPr id="6" name="shot-ntf" descr="C:\Users\User\Desktop\agent\final_project\report\assets\kid_b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6309360" cy="3943350"/>
          </a:xfrm>
          <a:prstGeom prst="rect">
            <a:avLst/>
          </a:prstGeom>
        </p:spPr>
      </p:pic>
      <p:sp>
        <p:nvSpPr>
          <p:cNvPr id="7" name="ntf-c0-circle"/>
          <p:cNvSpPr/>
          <p:nvPr/>
        </p:nvSpPr>
        <p:spPr>
          <a:xfrm>
            <a:off x="7315200" y="13258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ntf-c0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5959" y="1456639"/>
            <a:ext cx="241402" cy="24140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955280" y="1289304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通知都進鈴鐺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955280" y="1655064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邀請、零用金、固定收入、目標金額、活動開始、孩子記帳</a:t>
            </a:r>
            <a:endParaRPr lang="en-US" sz="1250" dirty="0"/>
          </a:p>
        </p:txBody>
      </p:sp>
      <p:sp>
        <p:nvSpPr>
          <p:cNvPr id="11" name="ntf-c1-circle"/>
          <p:cNvSpPr/>
          <p:nvPr/>
        </p:nvSpPr>
        <p:spPr>
          <a:xfrm>
            <a:off x="7315200" y="225856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ntf-c1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5959" y="2389327"/>
            <a:ext cx="241402" cy="24140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955280" y="2221992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每 5 秒更新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7955280" y="258775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用 since 只拿新的；做完會產生通知的動作立刻再問一次</a:t>
            </a:r>
            <a:endParaRPr lang="en-US" sz="1250" dirty="0"/>
          </a:p>
        </p:txBody>
      </p:sp>
      <p:sp>
        <p:nvSpPr>
          <p:cNvPr id="15" name="ntf-c2-circle"/>
          <p:cNvSpPr/>
          <p:nvPr/>
        </p:nvSpPr>
        <p:spPr>
          <a:xfrm>
            <a:off x="7315200" y="319125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ntf-c2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5959" y="3322015"/>
            <a:ext cx="241402" cy="24140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955280" y="315468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沒有排程器</a:t>
            </a:r>
            <a:endParaRPr lang="en-US" sz="1600" dirty="0"/>
          </a:p>
        </p:txBody>
      </p:sp>
      <p:sp>
        <p:nvSpPr>
          <p:cNvPr id="18" name="Text 12"/>
          <p:cNvSpPr txBox="1"/>
          <p:nvPr/>
        </p:nvSpPr>
        <p:spPr>
          <a:xfrm>
            <a:off x="7955280" y="352044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到期的事在有人打開系統時補做：零用金、固定收入、目標金額、活動開始</a:t>
            </a:r>
            <a:endParaRPr lang="en-US" sz="1250" dirty="0"/>
          </a:p>
        </p:txBody>
      </p:sp>
      <p:sp>
        <p:nvSpPr>
          <p:cNvPr id="19" name="ntf-c3-circle"/>
          <p:cNvSpPr/>
          <p:nvPr/>
        </p:nvSpPr>
        <p:spPr>
          <a:xfrm>
            <a:off x="7315200" y="4123944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ntf-c3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5959" y="4254703"/>
            <a:ext cx="241402" cy="24140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7955280" y="408736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不會重複</a:t>
            </a:r>
            <a:endParaRPr lang="en-US" sz="1600" dirty="0"/>
          </a:p>
        </p:txBody>
      </p:sp>
      <p:sp>
        <p:nvSpPr>
          <p:cNvPr id="22" name="Text 15"/>
          <p:cNvSpPr txBox="1"/>
          <p:nvPr/>
        </p:nvSpPr>
        <p:spPr>
          <a:xfrm>
            <a:off x="7955280" y="4453128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唯一鍵＋帶條件的 UPDATE：同時好幾個請求只會寫一次</a:t>
            </a:r>
            <a:endParaRPr lang="en-US" sz="1250" dirty="0"/>
          </a:p>
        </p:txBody>
      </p:sp>
      <p:sp>
        <p:nvSpPr>
          <p:cNvPr id="23" name="ntf-c4-circle"/>
          <p:cNvSpPr/>
          <p:nvPr/>
        </p:nvSpPr>
        <p:spPr>
          <a:xfrm>
            <a:off x="7315200" y="5056632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ntf-c4-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5959" y="5187391"/>
            <a:ext cx="241402" cy="241402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7955280" y="5020056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留下紀錄</a:t>
            </a:r>
            <a:endParaRPr lang="en-US" sz="1600" dirty="0"/>
          </a:p>
        </p:txBody>
      </p:sp>
      <p:sp>
        <p:nvSpPr>
          <p:cNvPr id="26" name="Text 18"/>
          <p:cNvSpPr txBox="1"/>
          <p:nvPr/>
        </p:nvSpPr>
        <p:spPr>
          <a:xfrm>
            <a:off x="7955280" y="5385816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家庭裡的重要動作寫進稽核紀錄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測試：自動測試＋真的伺服器走一遍</a:t>
            </a:r>
            <a:endParaRPr lang="en-US" sz="3200" dirty="0"/>
          </a:p>
        </p:txBody>
      </p:sp>
      <p:sp>
        <p:nvSpPr>
          <p:cNvPr id="3" name="test-unit"/>
          <p:cNvSpPr/>
          <p:nvPr/>
        </p:nvSpPr>
        <p:spPr>
          <a:xfrm>
            <a:off x="548640" y="1417320"/>
            <a:ext cx="3383280" cy="2194560"/>
          </a:xfrm>
          <a:prstGeom prst="roundRect">
            <a:avLst>
              <a:gd name="adj" fmla="val 58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941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5146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個自動測試，全部通過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260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每一支路由都有驗收測試，模型呼叫層、日期換算、資料品質也有</a:t>
            </a:r>
            <a:endParaRPr lang="en-US" sz="1200" dirty="0"/>
          </a:p>
        </p:txBody>
      </p:sp>
      <p:sp>
        <p:nvSpPr>
          <p:cNvPr id="7" name="test-e2e"/>
          <p:cNvSpPr/>
          <p:nvPr/>
        </p:nvSpPr>
        <p:spPr>
          <a:xfrm>
            <a:off x="548640" y="3840480"/>
            <a:ext cx="3383280" cy="224028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40233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96/96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937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端到端步驟通過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5349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認證 36/36　家庭 20/20　記帳 26/26　數字 14/14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343400" y="1417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端到端測試驗到的幾件事</a:t>
            </a:r>
            <a:endParaRPr lang="en-US" sz="1800" dirty="0"/>
          </a:p>
        </p:txBody>
      </p:sp>
      <p:sp>
        <p:nvSpPr>
          <p:cNvPr id="12" name="chk-0-circle"/>
          <p:cNvSpPr/>
          <p:nvPr/>
        </p:nvSpPr>
        <p:spPr>
          <a:xfrm>
            <a:off x="4343400" y="20116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3" name="chk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43252" y="2111532"/>
            <a:ext cx="184343" cy="184343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846320" y="1993392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沒登入打 API 一律 401</a:t>
            </a:r>
            <a:endParaRPr lang="en-US" sz="1400" dirty="0"/>
          </a:p>
        </p:txBody>
      </p:sp>
      <p:sp>
        <p:nvSpPr>
          <p:cNvPr id="15" name="chk-1-circle"/>
          <p:cNvSpPr/>
          <p:nvPr/>
        </p:nvSpPr>
        <p:spPr>
          <a:xfrm>
            <a:off x="8001000" y="20116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hk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0852" y="2111532"/>
            <a:ext cx="184343" cy="184343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8503920" y="1993392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子女看不到家長的帳（403）</a:t>
            </a:r>
            <a:endParaRPr lang="en-US" sz="1400" dirty="0"/>
          </a:p>
        </p:txBody>
      </p:sp>
      <p:sp>
        <p:nvSpPr>
          <p:cNvPr id="18" name="chk-2-circle"/>
          <p:cNvSpPr/>
          <p:nvPr/>
        </p:nvSpPr>
        <p:spPr>
          <a:xfrm>
            <a:off x="4343400" y="2798064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9" name="chk-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252" y="2897916"/>
            <a:ext cx="184343" cy="184343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846320" y="2779776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外人改不了別人的帳</a:t>
            </a:r>
            <a:endParaRPr lang="en-US" sz="1400" dirty="0"/>
          </a:p>
        </p:txBody>
      </p:sp>
      <p:sp>
        <p:nvSpPr>
          <p:cNvPr id="21" name="chk-3-circle"/>
          <p:cNvSpPr/>
          <p:nvPr/>
        </p:nvSpPr>
        <p:spPr>
          <a:xfrm>
            <a:off x="8001000" y="2798064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2" name="chk-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0852" y="2897916"/>
            <a:ext cx="184343" cy="18434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503920" y="2779776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平台管理員讀不到任何人的帳</a:t>
            </a:r>
            <a:endParaRPr lang="en-US" sz="1400" dirty="0"/>
          </a:p>
        </p:txBody>
      </p:sp>
      <p:sp>
        <p:nvSpPr>
          <p:cNvPr id="24" name="chk-4-circle"/>
          <p:cNvSpPr/>
          <p:nvPr/>
        </p:nvSpPr>
        <p:spPr>
          <a:xfrm>
            <a:off x="4343400" y="358444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5" name="chk-4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3252" y="3684300"/>
            <a:ext cx="184343" cy="18434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846320" y="356616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邀請碼用過、刪掉就不能再用</a:t>
            </a:r>
            <a:endParaRPr lang="en-US" sz="1400" dirty="0"/>
          </a:p>
        </p:txBody>
      </p:sp>
      <p:sp>
        <p:nvSpPr>
          <p:cNvPr id="27" name="chk-5-circle"/>
          <p:cNvSpPr/>
          <p:nvPr/>
        </p:nvSpPr>
        <p:spPr>
          <a:xfrm>
            <a:off x="8001000" y="358444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8" name="chk-5-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0852" y="3684300"/>
            <a:ext cx="184343" cy="184343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8503920" y="356616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結算後的活動帳本不能再記</a:t>
            </a:r>
            <a:endParaRPr lang="en-US" sz="1400" dirty="0"/>
          </a:p>
        </p:txBody>
      </p:sp>
      <p:sp>
        <p:nvSpPr>
          <p:cNvPr id="30" name="chk-6-circle"/>
          <p:cNvSpPr/>
          <p:nvPr/>
        </p:nvSpPr>
        <p:spPr>
          <a:xfrm>
            <a:off x="4343400" y="4370832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chk-6-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43252" y="4470684"/>
            <a:ext cx="184343" cy="184343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4846320" y="4352544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改密碼後其他裝置被登出</a:t>
            </a:r>
            <a:endParaRPr lang="en-US" sz="1400" dirty="0"/>
          </a:p>
        </p:txBody>
      </p:sp>
      <p:sp>
        <p:nvSpPr>
          <p:cNvPr id="33" name="chk-7-circle"/>
          <p:cNvSpPr/>
          <p:nvPr/>
        </p:nvSpPr>
        <p:spPr>
          <a:xfrm>
            <a:off x="8001000" y="4370832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4" name="chk-7-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00852" y="4470684"/>
            <a:ext cx="184343" cy="184343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503920" y="4352544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段落確認寫入：全部成功或全部不寫</a:t>
            </a:r>
            <a:endParaRPr lang="en-US" sz="1400" dirty="0"/>
          </a:p>
        </p:txBody>
      </p:sp>
      <p:sp>
        <p:nvSpPr>
          <p:cNvPr id="36" name="chk-8-circle"/>
          <p:cNvSpPr/>
          <p:nvPr/>
        </p:nvSpPr>
        <p:spPr>
          <a:xfrm>
            <a:off x="4343400" y="5157216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7" name="chk-8-icon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43252" y="5257068"/>
            <a:ext cx="184343" cy="184343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4846320" y="5138928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跨過提醒門檻，鈴鐺出現提醒</a:t>
            </a:r>
            <a:endParaRPr lang="en-US" sz="1400" dirty="0"/>
          </a:p>
        </p:txBody>
      </p:sp>
      <p:sp>
        <p:nvSpPr>
          <p:cNvPr id="39" name="chk-9-circle"/>
          <p:cNvSpPr/>
          <p:nvPr/>
        </p:nvSpPr>
        <p:spPr>
          <a:xfrm>
            <a:off x="8001000" y="5157216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0" name="chk-9-icon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00852" y="5257068"/>
            <a:ext cx="184343" cy="184343"/>
          </a:xfrm>
          <a:prstGeom prst="rect">
            <a:avLst/>
          </a:prstGeom>
        </p:spPr>
      </p:pic>
      <p:sp>
        <p:nvSpPr>
          <p:cNvPr id="41" name="Text 29"/>
          <p:cNvSpPr txBox="1"/>
          <p:nvPr/>
        </p:nvSpPr>
        <p:spPr>
          <a:xfrm>
            <a:off x="8503920" y="5138928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停權的人登不進去，解除後恢復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未來展望</a:t>
            </a:r>
            <a:endParaRPr lang="en-US" sz="3200" dirty="0"/>
          </a:p>
        </p:txBody>
      </p:sp>
      <p:sp>
        <p:nvSpPr>
          <p:cNvPr id="3" name="future-0"/>
          <p:cNvSpPr/>
          <p:nvPr/>
        </p:nvSpPr>
        <p:spPr>
          <a:xfrm>
            <a:off x="548640" y="1417320"/>
            <a:ext cx="2633472" cy="4160520"/>
          </a:xfrm>
          <a:prstGeom prst="roundRect">
            <a:avLst>
              <a:gd name="adj" fmla="val 48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future-ic-0-circle"/>
          <p:cNvSpPr/>
          <p:nvPr/>
        </p:nvSpPr>
        <p:spPr>
          <a:xfrm>
            <a:off x="822960" y="16916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future-ic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1858061"/>
            <a:ext cx="307238" cy="3072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5146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AI 更準、更省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06324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使用者改過的解析收回來，變成真實的評測與微調資料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微調的小模型上線，降低商業 API 的成本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建議加上跟上個月比的趨勢與異常提醒</a:t>
            </a:r>
            <a:endParaRPr lang="en-US" sz="1350" dirty="0"/>
          </a:p>
        </p:txBody>
      </p:sp>
      <p:sp>
        <p:nvSpPr>
          <p:cNvPr id="8" name="future-1"/>
          <p:cNvSpPr/>
          <p:nvPr/>
        </p:nvSpPr>
        <p:spPr>
          <a:xfrm>
            <a:off x="3364992" y="1417320"/>
            <a:ext cx="2633472" cy="4160520"/>
          </a:xfrm>
          <a:prstGeom prst="roundRect">
            <a:avLst>
              <a:gd name="adj" fmla="val 48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future-ic-1-circle"/>
          <p:cNvSpPr/>
          <p:nvPr/>
        </p:nvSpPr>
        <p:spPr>
          <a:xfrm>
            <a:off x="3639312" y="169164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future-ic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1858061"/>
            <a:ext cx="307238" cy="30723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39312" y="25146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記帳更省事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3639312" y="306324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拍收據、讀電子發票載具自動入帳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說一句話就變成段落記帳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房租、訂閱這類固定支出到日自動記</a:t>
            </a:r>
            <a:endParaRPr lang="en-US" sz="1350" dirty="0"/>
          </a:p>
        </p:txBody>
      </p:sp>
      <p:sp>
        <p:nvSpPr>
          <p:cNvPr id="13" name="future-2"/>
          <p:cNvSpPr/>
          <p:nvPr/>
        </p:nvSpPr>
        <p:spPr>
          <a:xfrm>
            <a:off x="6181344" y="1417320"/>
            <a:ext cx="2633472" cy="4160520"/>
          </a:xfrm>
          <a:prstGeom prst="roundRect">
            <a:avLst>
              <a:gd name="adj" fmla="val 48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future-ic-2-circle"/>
          <p:cNvSpPr/>
          <p:nvPr/>
        </p:nvSpPr>
        <p:spPr>
          <a:xfrm>
            <a:off x="6455664" y="169164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5" name="future-ic-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2085" y="1858061"/>
            <a:ext cx="307238" cy="30723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55664" y="25146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變成手機 App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6455664" y="306324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PWA：加到主畫面、沒網路也能先記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推播通知取代每 5 秒問一次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用排程器取代「打開系統時補做」</a:t>
            </a:r>
            <a:endParaRPr lang="en-US" sz="1350" dirty="0"/>
          </a:p>
        </p:txBody>
      </p:sp>
      <p:sp>
        <p:nvSpPr>
          <p:cNvPr id="18" name="future-3"/>
          <p:cNvSpPr/>
          <p:nvPr/>
        </p:nvSpPr>
        <p:spPr>
          <a:xfrm>
            <a:off x="8997696" y="1417320"/>
            <a:ext cx="2633472" cy="4160520"/>
          </a:xfrm>
          <a:prstGeom prst="roundRect">
            <a:avLst>
              <a:gd name="adj" fmla="val 48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future-ic-3-circle"/>
          <p:cNvSpPr/>
          <p:nvPr/>
        </p:nvSpPr>
        <p:spPr>
          <a:xfrm>
            <a:off x="9272016" y="1691640"/>
            <a:ext cx="640080" cy="6400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0" name="future-ic-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8437" y="1858061"/>
            <a:ext cx="307238" cy="30723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272016" y="25146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家庭與理財教育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9272016" y="306324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子女的存錢任務與零用金目標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家庭長期目標拆成每個月的進度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活動支援多幣別，出國旅行也能記</a:t>
            </a:r>
            <a:endParaRPr lang="en-US" sz="1350" dirty="0"/>
          </a:p>
        </p:txBody>
      </p:sp>
      <p:sp>
        <p:nvSpPr>
          <p:cNvPr id="23" name="future-line"/>
          <p:cNvSpPr/>
          <p:nvPr/>
        </p:nvSpPr>
        <p:spPr>
          <a:xfrm>
            <a:off x="548640" y="5760720"/>
            <a:ext cx="11064240" cy="502920"/>
          </a:xfrm>
          <a:prstGeom prst="roundRect">
            <a:avLst>
              <a:gd name="adj" fmla="val 25455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788152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方向：從「記得下去」，走到「看得懂自己的錢、全家一起做得到」。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288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謝謝聆聽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accent6"/>
                </a:solidFill>
              </a:rPr>
              <a:t>Q &amp; A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github.com/cbes502034/final_project　｜　fambudget-web.onrender.com</a:t>
            </a:r>
            <a:endParaRPr lang="en-US" sz="1600" dirty="0"/>
          </a:p>
        </p:txBody>
      </p:sp>
      <p:sp>
        <p:nvSpPr>
          <p:cNvPr id="5" name="qr-end-card"/>
          <p:cNvSpPr/>
          <p:nvPr/>
        </p:nvSpPr>
        <p:spPr>
          <a:xfrm>
            <a:off x="9464040" y="685800"/>
            <a:ext cx="2103120" cy="2514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qr-end" descr="C:\Users\User\Desktop\agent\final_project\report\assets\qr_s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0" y="822960"/>
            <a:ext cx="1737360" cy="1737360"/>
          </a:xfrm>
          <a:prstGeom prst="rect">
            <a:avLst/>
          </a:prstGeom>
        </p:spPr>
      </p:pic>
      <p:sp>
        <p:nvSpPr>
          <p:cNvPr id="7" name="qr-end-cap"/>
          <p:cNvSpPr/>
          <p:nvPr/>
        </p:nvSpPr>
        <p:spPr>
          <a:xfrm>
            <a:off x="9555480" y="258775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33F"/>
                </a:solidFill>
              </a:rPr>
              <a:t>掃描開啟網站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6233F"/>
                </a:solidFill>
              </a:rPr>
              <a:t>fambudget-web.onrender.com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mBudget">
  <a:themeElements>
    <a:clrScheme name="FamBudget">
      <a:dk1>
        <a:srgbClr val="16233F"/>
      </a:dk1>
      <a:lt1>
        <a:srgbClr val="FFFFFF"/>
      </a:lt1>
      <a:dk2>
        <a:srgbClr val="0B2A5B"/>
      </a:dk2>
      <a:lt2>
        <a:srgbClr val="EEF3FA"/>
      </a:lt2>
      <a:accent1>
        <a:srgbClr val="1F5FBF"/>
      </a:accent1>
      <a:accent2>
        <a:srgbClr val="13A07A"/>
      </a:accent2>
      <a:accent3>
        <a:srgbClr val="E8663D"/>
      </a:accent3>
      <a:accent4>
        <a:srgbClr val="F2B33D"/>
      </a:accent4>
      <a:accent5>
        <a:srgbClr val="6B7A99"/>
      </a:accent5>
      <a:accent6>
        <a:srgbClr val="9DBDF0"/>
      </a:accent6>
      <a:hlink>
        <a:srgbClr val="1F5FBF"/>
      </a:hlink>
      <a:folHlink>
        <a:srgbClr val="6B7A99"/>
      </a:folHlink>
    </a:clrScheme>
    <a:fontScheme name="FamBudget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家庭記帳 FamBudget 期末報告</dc:title>
  <dc:subject>PptxGenJS Presentation</dc:subject>
  <dc:creator>冠文、宇傑、明樺、囷洧</dc:creator>
  <cp:lastModifiedBy>冠文、宇傑、明樺、囷洧</cp:lastModifiedBy>
  <cp:revision>1</cp:revision>
  <dcterms:created xsi:type="dcterms:W3CDTF">2026-10-27T14:44:49Z</dcterms:created>
  <dcterms:modified xsi:type="dcterms:W3CDTF">2026-10-27T14:44:49Z</dcterms:modified>
</cp:coreProperties>
</file>