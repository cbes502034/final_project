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15f07026-e89f-a092-0994-95512ea13075}">
          <p14:sldIdLst>
            <p14:sldId id="256"/>
            <p14:sldId id="257"/>
            <p14:sldId id="258"/>
          </p14:sldIdLst>
        </p14:section>
        <p14:section name="系統" id="{2c68f4b0-0536-ec4d-4f89-362efdc75e4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I 功能" id="{4a794e0b-8ba4-6d90-35e7-0e0aa3adf867}">
          <p14:sldIdLst>
            <p14:sldId id="266"/>
            <p14:sldId id="267"/>
            <p14:sldId id="268"/>
            <p14:sldId id="269"/>
            <p14:sldId id="270"/>
          </p14:sldIdLst>
        </p14:section>
        <p14:section name="評測與測試" id="{1c9c6f4d-b543-fc5d-6b40-4cfae8241d45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結語" id="{43efb41c-67de-4b91-b4b9-7eaa3ec66620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5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2A5B"/>
                </a:solidFill>
                <a:latin typeface="+mn-lt"/>
              </a:rPr>
              <a:t>留出集 101 題（125 筆）的題型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題數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A9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單筆</c:v>
                  </c:pt>
                  <c:pt idx="1">
                    <c:v>一段多筆</c:v>
                  </c:pt>
                  <c:pt idx="2">
                    <c:v>收入</c:v>
                  </c:pt>
                  <c:pt idx="3">
                    <c:v>中文數字</c:v>
                  </c:pt>
                  <c:pt idx="4">
                    <c:v>店名陷阱</c:v>
                  </c:pt>
                  <c:pt idx="5">
                    <c:v>難題</c:v>
                  </c:pt>
                  <c:pt idx="6">
                    <c:v>相對日期</c:v>
                  </c:pt>
                  <c:pt idx="7">
                    <c:v>絕對日期</c:v>
                  </c:pt>
                  <c:pt idx="8">
                    <c:v>沒講金額</c:v>
                  </c:pt>
                  <c:pt idx="9">
                    <c:v>星期幾</c:v>
                  </c:pt>
                  <c:pt idx="10">
                    <c:v>沒有標點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83</c:v>
                </c:pt>
                <c:pt idx="1">
                  <c:v>18</c:v>
                </c:pt>
                <c:pt idx="2">
                  <c:v>16</c:v>
                </c:pt>
                <c:pt idx="3">
                  <c:v>15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A9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5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5B"/>
                </a:solidFill>
                <a:latin typeface="+mn-lt"/>
              </a:rPr>
              <a:t>正確率（%）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前端規則（基準）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63.4</c:v>
                </c:pt>
                <c:pt idx="2">
                  <c:v>84.8</c:v>
                </c:pt>
                <c:pt idx="3">
                  <c:v>90.4</c:v>
                </c:pt>
                <c:pt idx="4">
                  <c:v>86.4</c:v>
                </c:pt>
                <c:pt idx="5">
                  <c:v>79.1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Claude（線上，含輸出檢查）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deepseek-r1:1.5b</c:v>
                </c:pt>
              </c:strCache>
            </c:strRef>
          </c:tx>
          <c:spPr>
            <a:solidFill>
              <a:srgbClr val="13A0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84.2</c:v>
                </c:pt>
                <c:pt idx="1">
                  <c:v>6.9</c:v>
                </c:pt>
                <c:pt idx="2">
                  <c:v>84</c:v>
                </c:pt>
                <c:pt idx="3">
                  <c:v>73.6</c:v>
                </c:pt>
                <c:pt idx="4">
                  <c:v>24.8</c:v>
                </c:pt>
                <c:pt idx="5">
                  <c:v>12.9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9525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3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大家好，我們的題目是家庭記帳 FamBudget。一句話：使用者說一段話，系統用大型語言模型切成好幾筆帳，家人之間依權限看得到彼此，財務建議的每一個數字都有出處。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 App 很多，但大家還是記不下去。我們觀察到三個問題：輸入太麻煩、家人各記各的、AI 建議沒有根據。後面每一段都對應其中一個問題。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先講成果。79 支 API、22 張表、850 個自動測試全部通過；端到端測試用真的伺服器把四個領域走一遍，96 個步驟全部通過。AI 解析有 101 題的留出集來量成績。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架構是前後端分離。前端是純靜態網頁，所有資料都經過 api.js 這一個入口。後端用 FastAPI，依領域分成認證、記帳、數字、家庭四塊。模型服務可以換，叫不動的時候系統不會壞，前端會退回規則解析。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這是登入後的首頁。最重要的數字是「這個月還可以花多少」：收入減掉每月想存的錢，就是可以花的上限。右邊是常用功能。整個網站在手機上也能用。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左邊是收支明細，每一筆都標了來源，看得出是段落記帳還是手動記的。右邊是統計，按月對照、近六個月的趨勢，還有錢花在哪。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庭功能的重點是權限。這張表是後端實際的規則：家長看得到照看中孩子的帳，子女看不到家長的；平台管理員只能停權、看帳號狀態與安全事件，讀不到任何人的帳。家長切換成孩子帳號這個功能，我們刻意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帳號這一塊有兩個重點。第一，註冊完不會直接登入：畫面回到登入頁、請他去收信，點了信裡的按鈕才登入，接著做個人化設定和新手導覽；還沒驗證的人進不了設定。第二，使用者登記的東西都能自己刪：收支、建議、通知、自訂分類，連帳號本身都可以。刪分類不會讓帳消失，會改到「其他」；刪帳號要再輸入密碼和確認碼，還在家庭裡的要先退出，才不會讓家人的帳本少一個人卻沒人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平台管理員的畫面。上面是即時的數字，左邊每個帳號一個燈號，右邊是被規則擋下的安全事件。規則都是數次數，例如同一個帳號十五分鐘錯五次密碼就先鎖十五分鐘；帳號不存在也一樣鎖，才不會洩漏帳號在不在。規則只暫時擋，要不要停權由管理員決定。我們刻意不讓 AI 自動封鎖：這些都是明確的事實，用規則判斷最準，AI 只會多出誤判跟費用。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資料庫一共 22 張表，跟 API 一樣依四個領域分。nlp_parses 會記下每一次 AI 解析的原始結果與使用者改了什麼，之後可以拿來當評測與訓練資料；security_events 與 error_logs 是平台管理頁即時看的兩張表，都不放任何金額。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 AI 的部分。整份設計只有一個原則：模型只做語意判斷，凡是能用程式確定的東西，都不交給模型。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段落記帳分五步。第三步是唯一交給模型的：用 record_transactions 這個工具把好幾筆交出來。為什麼用工具呼叫？因為參數有 schema 約束，格式由服務端保證。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這是解析完的畫面。每一筆都對照原句的哪一段；沒講金額的那一格是空的、標紅，使用者一定會發現，比猜一個錯的數字安全。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個設計的核心，也是我們的輸出管理：模型說的不算，原句寫的才算。左邊是模型擅長的語意判斷；右邊是程式逐筆對事實。例如句子裡寫上禮拜三，模型就算給錯日期，程式也會依原句重算；原句裡沒有任何數字，模型填的金額一律清掉。備註也一樣：模型常把整段原句當備註，程式會拿掉連接詞、時間、地點、金額和動詞，只留買了什麼。使用者改過的分類也會記下來，下次同一個品項先照他的習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建議的原則是數字由資料庫算，模型只寫句子。模型寫回來之後，程式會把每一個數字拿去比對出處，也檢查有沒有套錯分類。像一年會花十萬三千二這種模型自己乘出來的數字，那一則就不顯示——以前是壓低信心度，但畫面上沒有顯示信心度，錯的數字照樣被當成事實，所以改成直接不要。上線實測時，每一則建議的數字我們都手算對過，11 個數字全對。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我們用 101 題、125 筆的留出集來量解析的成績，題型包含一段多筆、中文數字、相對日期、沒講金額這些難點。只比日期、金額、收支、分類四欄。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這是評測結果，三套系統用同一份 101 題。前端規則的整題完全正確率是 63.4%。線上那一套是 Claude 加上我們的輸出管理，直接打部署好的 API 量的，整題完全正確 100.0%。本機的 1.5B 小模型零樣本只有 6.9%，分類幾乎亂挑，每句還要等二三十秒。要提醒的是，題目是 AI 產生的，比真人說話整齊，所以一百分不代表不會錯；上線後使用者改過的解析，會收回來當新的題目。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這幾題是deepseek-r1:1.5b錯的例子，每一種錯誤類型挑一題。線上那一套在這份題目沒有錯題，所以這裡看小模型錯在哪，說明為什麼不能拿它直接上線。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微調是加分項。資料用模板產生 1500 題，prompt 跟上線用的是同一支函式。設計上最重要的一點是分類 id 每題打亂，讓模型學會讀清單。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測試分兩層。850 個自動測試在每次改程式時跑；端到端測試則是真的開一台伺服器、用全新的資料庫，從註冊一路走到停權，96 個步驟全部通過。右邊是其中幾個跟安全有關的檢查。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自動測試之外，我們在部署好的正式網站上，用測試工程師的角度把每個功能實測一遍：收得到的信、寫進資料庫的資料、過期之後關不關得掉、AI 的每一個數字對不對。兩輪一共找到 26 個問題，全部修正、重新部署，再到線上驗一次；第二輪補的是平台管理、防濫用、註冊收信、刪除功能和 AI 的備註。接著換成一般使用者的角度逐項打分，平均從 57.6 分到 85.7 分，低於六十分的功能歸零。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兩輪是我們用測試帳號替使用者走一遍；第三輪是使用者本人打開網站，指出看了會困惑的地方。共同點是同一件事講太多遍、用不到的東西一直掛著。我們照他的話收乾淨：帳本只剩一份清單、收入支出各自點進去、首頁寫家庭的名字、主題自己一頁、搜尋和帳本切換只在用得到的頁面出現。另外補上信箱驗證的把關：沒點驗證信的帳號不能登入並給提示；平台管理頁把這類帳號標成「待驗證」，驗證連結過期就從後台消失，跟能不能登入同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最後是限制與下一步。最重要的限制是資料由 AI 產生；下一步是把使用者真的改過的解析收回來，變成真實的評測與訓練資料。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展示前根據使用者回饋定案的下一版。使用者說：這不應該是管理、控制子女的系統，而是開放式的。所以成員一律平等，家庭的帳來自每個人自己選擇併進去的明細，兩邊都算。後端第一段已經完成、測試全部通過，前端會在下一版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說一段話就記好帳、全家看得到彼此的家庭財務系統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記帳難在三件事</a:t>
            </a:r>
            <a:endParaRPr lang="en-US" sz="3200" dirty="0"/>
          </a:p>
        </p:txBody>
      </p:sp>
      <p:sp>
        <p:nvSpPr>
          <p:cNvPr id="3" name="pain-card-0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in-0-circl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ain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懶得一筆一筆填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早餐、午餐、加油……每一筆都要選日期、分類、填金額，三天就放棄。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說一段話，模型切成好幾筆、欄位自動填好，人只要檢查</a:t>
            </a:r>
            <a:endParaRPr lang="en-US" sz="1500" dirty="0"/>
          </a:p>
        </p:txBody>
      </p:sp>
      <p:sp>
        <p:nvSpPr>
          <p:cNvPr id="10" name="pain-card-1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in-1-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pai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家人各記各的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爸媽各有一本帳、孩子的零用錢沒人知道，全家花多少錢沒人說得出來。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家庭、帳本、照看孩子；誰看得到誰由權限決定</a:t>
            </a:r>
            <a:endParaRPr lang="en-US" sz="1500" dirty="0"/>
          </a:p>
        </p:txBody>
      </p:sp>
      <p:sp>
        <p:nvSpPr>
          <p:cNvPr id="17" name="pain-card-2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in-2-circle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pai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建議沒有根據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叫 AI 給理財建議，它可能隨口編一個數字，使用者根本無法驗算。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數字全部由資料庫算，模型只寫句子，每個數字都要找得到出處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做出來的東西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支 API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認證 25・記帳 20・數字 12・家庭 22</a:t>
            </a:r>
            <a:endParaRPr lang="en-US" sz="1400" dirty="0"/>
          </a:p>
        </p:txBody>
      </p:sp>
      <p:sp>
        <p:nvSpPr>
          <p:cNvPr id="7" name="stat-1"/>
          <p:cNvSpPr/>
          <p:nvPr/>
        </p:nvSpPr>
        <p:spPr>
          <a:xfrm>
            <a:off x="2798064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26664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026664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張資料表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PostgreSQL，Alembic 管遷移</a:t>
            </a:r>
            <a:endParaRPr 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5047488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個自動測試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全部通過，每一支路由都有驗收測試</a:t>
            </a:r>
            <a:endParaRPr 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7296912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96/96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端到端步驟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真的伺服器、真的資料庫走完四個領域</a:t>
            </a:r>
            <a:endParaRPr lang="en-US" sz="1400" dirty="0"/>
          </a:p>
        </p:txBody>
      </p:sp>
      <p:sp>
        <p:nvSpPr>
          <p:cNvPr id="19" name="stat-4"/>
          <p:cNvSpPr/>
          <p:nvPr/>
        </p:nvSpPr>
        <p:spPr>
          <a:xfrm>
            <a:off x="9546336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4936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題留出集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量 AI 解析的成績；另有 1,500 題微調資料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前端：純靜態網頁（HTML／CSS／JS）　後端：FastAPI　資料庫：PostgreSQL　部署：Render　模型：Claude／OpenAI／開源模型（Ollama、Hugging Face）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系統架構：前後端分離，模型可以換</a:t>
            </a:r>
            <a:endParaRPr lang="en-US" sz="3200" dirty="0"/>
          </a:p>
        </p:txBody>
      </p:sp>
      <p:sp>
        <p:nvSpPr>
          <p:cNvPr id="3" name="arch-browser"/>
          <p:cNvSpPr/>
          <p:nvPr/>
        </p:nvSpPr>
        <p:spPr>
          <a:xfrm>
            <a:off x="548640" y="1463040"/>
            <a:ext cx="265176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rch-browser-circle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rch-brows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瀏覽器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手機、電腦都能用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（RWD：375／768／1280 寬都測過）</a:t>
            </a:r>
            <a:endParaRPr lang="en-US" sz="1400" dirty="0"/>
          </a:p>
        </p:txBody>
      </p:sp>
      <p:sp>
        <p:nvSpPr>
          <p:cNvPr id="8" name="arch-front"/>
          <p:cNvSpPr/>
          <p:nvPr/>
        </p:nvSpPr>
        <p:spPr>
          <a:xfrm>
            <a:off x="3657600" y="1463040"/>
            <a:ext cx="292608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rch-front-circle"/>
          <p:cNvSpPr/>
          <p:nvPr/>
        </p:nvSpPr>
        <p:spPr>
          <a:xfrm>
            <a:off x="388620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rch-fron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601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前端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3774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純靜態網頁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api.js 是唯一的資料入口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後端沒做好的功能不顯示假資料</a:t>
            </a:r>
            <a:endParaRPr lang="en-US" sz="1400" dirty="0"/>
          </a:p>
        </p:txBody>
      </p:sp>
      <p:sp>
        <p:nvSpPr>
          <p:cNvPr id="13" name="arch-back"/>
          <p:cNvSpPr/>
          <p:nvPr/>
        </p:nvSpPr>
        <p:spPr>
          <a:xfrm>
            <a:off x="7040880" y="1463040"/>
            <a:ext cx="457200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rch-back-circle"/>
          <p:cNvSpPr/>
          <p:nvPr/>
        </p:nvSpPr>
        <p:spPr>
          <a:xfrm>
            <a:off x="726948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rch-back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81" y="183904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55280" y="1691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後端 FastAPI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0" y="2377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dom-0"/>
          <p:cNvSpPr/>
          <p:nvPr/>
        </p:nvSpPr>
        <p:spPr>
          <a:xfrm>
            <a:off x="731520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認證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25 支</a:t>
            </a:r>
            <a:endParaRPr lang="en-US" sz="1300" dirty="0"/>
          </a:p>
        </p:txBody>
      </p:sp>
      <p:sp>
        <p:nvSpPr>
          <p:cNvPr id="21" name="dom-1"/>
          <p:cNvSpPr/>
          <p:nvPr/>
        </p:nvSpPr>
        <p:spPr>
          <a:xfrm>
            <a:off x="836676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36676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記帳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20 支</a:t>
            </a:r>
            <a:endParaRPr lang="en-US" sz="1300" dirty="0"/>
          </a:p>
        </p:txBody>
      </p:sp>
      <p:sp>
        <p:nvSpPr>
          <p:cNvPr id="24" name="dom-2"/>
          <p:cNvSpPr/>
          <p:nvPr/>
        </p:nvSpPr>
        <p:spPr>
          <a:xfrm>
            <a:off x="941832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41832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數字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941832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12 支</a:t>
            </a:r>
            <a:endParaRPr lang="en-US" sz="1300" dirty="0"/>
          </a:p>
        </p:txBody>
      </p:sp>
      <p:sp>
        <p:nvSpPr>
          <p:cNvPr id="27" name="dom-3"/>
          <p:cNvSpPr/>
          <p:nvPr/>
        </p:nvSpPr>
        <p:spPr>
          <a:xfrm>
            <a:off x="1046988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46988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家庭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46988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22 支</a:t>
            </a:r>
            <a:endParaRPr lang="en-US" sz="1300" dirty="0"/>
          </a:p>
        </p:txBody>
      </p:sp>
      <p:sp>
        <p:nvSpPr>
          <p:cNvPr id="30" name="arch-a1"/>
          <p:cNvSpPr/>
          <p:nvPr/>
        </p:nvSpPr>
        <p:spPr>
          <a:xfrm>
            <a:off x="3246120" y="26517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arch-a2"/>
          <p:cNvSpPr/>
          <p:nvPr/>
        </p:nvSpPr>
        <p:spPr>
          <a:xfrm>
            <a:off x="6629400" y="26517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ch-db"/>
          <p:cNvSpPr/>
          <p:nvPr/>
        </p:nvSpPr>
        <p:spPr>
          <a:xfrm>
            <a:off x="7040880" y="4434840"/>
            <a:ext cx="214884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rch-db-circle"/>
          <p:cNvSpPr/>
          <p:nvPr/>
        </p:nvSpPr>
        <p:spPr>
          <a:xfrm>
            <a:off x="7269480" y="4663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arch-db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81" y="4810841"/>
            <a:ext cx="272125" cy="27212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955280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資料庫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0" y="5349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22 張表</a:t>
            </a:r>
            <a:endParaRPr lang="en-US" sz="1400" dirty="0"/>
          </a:p>
        </p:txBody>
      </p:sp>
      <p:sp>
        <p:nvSpPr>
          <p:cNvPr id="37" name="arch-model"/>
          <p:cNvSpPr/>
          <p:nvPr/>
        </p:nvSpPr>
        <p:spPr>
          <a:xfrm>
            <a:off x="9464040" y="4434840"/>
            <a:ext cx="214884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arch-model-circle"/>
          <p:cNvSpPr/>
          <p:nvPr/>
        </p:nvSpPr>
        <p:spPr>
          <a:xfrm>
            <a:off x="9692640" y="46634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9" name="arch-model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041" y="4810841"/>
            <a:ext cx="272125" cy="27212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378440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模型服務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9738360" y="5349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Claude／OpenAI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或自架開源模型</a:t>
            </a:r>
            <a:endParaRPr lang="en-US" sz="1400" dirty="0"/>
          </a:p>
        </p:txBody>
      </p:sp>
      <p:sp>
        <p:nvSpPr>
          <p:cNvPr id="42" name="arch-a3"/>
          <p:cNvSpPr/>
          <p:nvPr/>
        </p:nvSpPr>
        <p:spPr>
          <a:xfrm>
            <a:off x="8092440" y="3886200"/>
            <a:ext cx="0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arch-a4"/>
          <p:cNvSpPr/>
          <p:nvPr/>
        </p:nvSpPr>
        <p:spPr>
          <a:xfrm>
            <a:off x="10515600" y="3886200"/>
            <a:ext cx="0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arch-note"/>
          <p:cNvSpPr/>
          <p:nvPr/>
        </p:nvSpPr>
        <p:spPr>
          <a:xfrm>
            <a:off x="548640" y="4434840"/>
            <a:ext cx="6035040" cy="1691640"/>
          </a:xfrm>
          <a:prstGeom prst="roundRect">
            <a:avLst>
              <a:gd name="adj" fmla="val 756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22960" y="461772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部署在 Render：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前端靜態站、後端、資料庫各一個服務。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模型可以換：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設定檔改 MODEL_PROVIDER 就能在 Claude、OpenAI、自己的模型之間切換，程式不用動。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模型叫不動：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後端回 503，前端改用規則解析，系統照常能用。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首頁：一眼看到這個月還可以花多少</a:t>
            </a:r>
            <a:endParaRPr lang="en-US" sz="3200" dirty="0"/>
          </a:p>
        </p:txBody>
      </p:sp>
      <p:sp>
        <p:nvSpPr>
          <p:cNvPr id="3" name="shot-home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home" descr="C:\Users\User\Desktop\agent\final_project\report\asse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home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ome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嗨，名字＋家庭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1783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像銀行 App 一樣先打招呼，下面寫是哪個家庭的誰</a:t>
            </a:r>
            <a:endParaRPr lang="en-US" sz="1300" dirty="0"/>
          </a:p>
        </p:txBody>
      </p:sp>
      <p:sp>
        <p:nvSpPr>
          <p:cNvPr id="9" name="home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home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這個月還可以花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961120" y="29718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收入 − 每月想存＝可支配；用掉幾成一條進度條看完</a:t>
            </a:r>
            <a:endParaRPr lang="en-US" sz="1300" dirty="0"/>
          </a:p>
        </p:txBody>
      </p:sp>
      <p:sp>
        <p:nvSpPr>
          <p:cNvPr id="13" name="home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home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常用功能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961120" y="41605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記一筆、明細、帳本、統計、建議，一格一個入口</a:t>
            </a:r>
            <a:endParaRPr lang="en-US" sz="1300" dirty="0"/>
          </a:p>
        </p:txBody>
      </p:sp>
      <p:sp>
        <p:nvSpPr>
          <p:cNvPr id="17" name="home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home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手機也能用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961120" y="5349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版面在手機寬度重新排，沒有左右捲動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收支明細與統計</a:t>
            </a:r>
            <a:endParaRPr lang="en-US" sz="3200" dirty="0"/>
          </a:p>
        </p:txBody>
      </p:sp>
      <p:sp>
        <p:nvSpPr>
          <p:cNvPr id="3" name="shot-entry-frame"/>
          <p:cNvSpPr/>
          <p:nvPr/>
        </p:nvSpPr>
        <p:spPr>
          <a:xfrm>
            <a:off x="557784" y="1335024"/>
            <a:ext cx="5513832" cy="3507867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entry" descr="C:\Users\User\Desktop\agent\final_project\report\assets\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349240" cy="3343275"/>
          </a:xfrm>
          <a:prstGeom prst="rect">
            <a:avLst/>
          </a:prstGeom>
        </p:spPr>
      </p:pic>
      <p:sp>
        <p:nvSpPr>
          <p:cNvPr id="5" name="shot-stats-frame"/>
          <p:cNvSpPr/>
          <p:nvPr/>
        </p:nvSpPr>
        <p:spPr>
          <a:xfrm>
            <a:off x="6135624" y="1335024"/>
            <a:ext cx="5513832" cy="3507867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shot-stats" descr="C:\Users\User\Desktop\agent\final_project\report\assets\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983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收支明細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依帳本、收支、來源（段落記帳／手動）篩選；可以改、可以多選刪除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983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統計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按月收支對照、近六個月趨勢、錢花在哪（分類比例）；全家模式看加總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家庭與權限：誰看得到誰，由後端決定</a:t>
            </a:r>
            <a:endParaRPr lang="en-US" sz="3200" dirty="0"/>
          </a:p>
        </p:txBody>
      </p:sp>
      <p:sp>
        <p:nvSpPr>
          <p:cNvPr id="3" name="shot-members-frame"/>
          <p:cNvSpPr/>
          <p:nvPr/>
        </p:nvSpPr>
        <p:spPr>
          <a:xfrm>
            <a:off x="557784" y="1335024"/>
            <a:ext cx="5285232" cy="3364992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members" descr="C:\Users\User\Desktop\agent\final_project\report\assets\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邀請碼只顯示一次、可以命名、有效期 7 天、沒用的可以刪；家長可以「照看」孩子並設零用金。</a:t>
            </a:r>
            <a:endParaRPr lang="en-US" sz="1400" dirty="0"/>
          </a:p>
        </p:txBody>
      </p:sp>
      <p:graphicFrame>
        <p:nvGraphicFramePr>
          <p:cNvPr id="8" name="per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91440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能做的事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家長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子女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平台管理員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看自己的帳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看照看中孩子的帳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看全家的總覽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自己的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產生邀請碼、設零用金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停權、看帳號狀態與安全事件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讀任何人的帳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perm-note"/>
          <p:cNvSpPr/>
          <p:nvPr/>
        </p:nvSpPr>
        <p:spPr>
          <a:xfrm>
            <a:off x="6172200" y="5120640"/>
            <a:ext cx="5440680" cy="868680"/>
          </a:xfrm>
          <a:prstGeom prst="roundRect">
            <a:avLst>
              <a:gd name="adj" fmla="val 14737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5230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家長不能切換成孩子的帳號、平台管理員讀不到任何人的帳——刻意不做，不是沒做完。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帳號與資料：點了驗證信才開始，登記的都能刪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註冊流程</a:t>
            </a:r>
            <a:endParaRPr lang="en-US" sz="1800" dirty="0"/>
          </a:p>
        </p:txBody>
      </p:sp>
      <p:sp>
        <p:nvSpPr>
          <p:cNvPr id="4" name="reg-0"/>
          <p:cNvSpPr/>
          <p:nvPr/>
        </p:nvSpPr>
        <p:spPr>
          <a:xfrm>
            <a:off x="548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g-ic-0-circle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reg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填資料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名字、email、密碼</a:t>
            </a:r>
            <a:endParaRPr lang="en-US" sz="1200" dirty="0"/>
          </a:p>
        </p:txBody>
      </p:sp>
      <p:sp>
        <p:nvSpPr>
          <p:cNvPr id="9" name="reg-a-0"/>
          <p:cNvSpPr/>
          <p:nvPr/>
        </p:nvSpPr>
        <p:spPr>
          <a:xfrm>
            <a:off x="2624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reg-1"/>
          <p:cNvSpPr/>
          <p:nvPr/>
        </p:nvSpPr>
        <p:spPr>
          <a:xfrm>
            <a:off x="2834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g-ic-1-circle"/>
          <p:cNvSpPr/>
          <p:nvPr/>
        </p:nvSpPr>
        <p:spPr>
          <a:xfrm>
            <a:off x="3063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reg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21881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回登入頁去收信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這時還沒登入，email 先幫他填好</a:t>
            </a:r>
            <a:endParaRPr lang="en-US" sz="1200" dirty="0"/>
          </a:p>
        </p:txBody>
      </p:sp>
      <p:sp>
        <p:nvSpPr>
          <p:cNvPr id="15" name="reg-a-1"/>
          <p:cNvSpPr/>
          <p:nvPr/>
        </p:nvSpPr>
        <p:spPr>
          <a:xfrm>
            <a:off x="4910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reg-2"/>
          <p:cNvSpPr/>
          <p:nvPr/>
        </p:nvSpPr>
        <p:spPr>
          <a:xfrm>
            <a:off x="5120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g-ic-2-circle"/>
          <p:cNvSpPr/>
          <p:nvPr/>
        </p:nvSpPr>
        <p:spPr>
          <a:xfrm>
            <a:off x="5349240" y="20574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reg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999" y="21881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點信裡的按鈕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49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第一次點就直接登入；連結 24 小時有效</a:t>
            </a:r>
            <a:endParaRPr lang="en-US" sz="1200" dirty="0"/>
          </a:p>
        </p:txBody>
      </p:sp>
      <p:sp>
        <p:nvSpPr>
          <p:cNvPr id="21" name="reg-a-2"/>
          <p:cNvSpPr/>
          <p:nvPr/>
        </p:nvSpPr>
        <p:spPr>
          <a:xfrm>
            <a:off x="7196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reg-3"/>
          <p:cNvSpPr/>
          <p:nvPr/>
        </p:nvSpPr>
        <p:spPr>
          <a:xfrm>
            <a:off x="7406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eg-ic-3-circle"/>
          <p:cNvSpPr/>
          <p:nvPr/>
        </p:nvSpPr>
        <p:spPr>
          <a:xfrm>
            <a:off x="7635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reg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999" y="218815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35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個人化設定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635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每月想存多少、理財習慣、主題；沒驗證的進不來</a:t>
            </a:r>
            <a:endParaRPr lang="en-US" sz="1200" dirty="0"/>
          </a:p>
        </p:txBody>
      </p:sp>
      <p:sp>
        <p:nvSpPr>
          <p:cNvPr id="27" name="reg-a-3"/>
          <p:cNvSpPr/>
          <p:nvPr/>
        </p:nvSpPr>
        <p:spPr>
          <a:xfrm>
            <a:off x="9482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reg-4"/>
          <p:cNvSpPr/>
          <p:nvPr/>
        </p:nvSpPr>
        <p:spPr>
          <a:xfrm>
            <a:off x="9692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eg-ic-4-circle"/>
          <p:cNvSpPr/>
          <p:nvPr/>
        </p:nvSpPr>
        <p:spPr>
          <a:xfrm>
            <a:off x="9921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reg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999" y="218815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21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新手導覽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921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照畫面上看得到的東西帶一遍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登記的資料都能刪</a:t>
            </a:r>
            <a:endParaRPr lang="en-US" sz="1800" dirty="0"/>
          </a:p>
        </p:txBody>
      </p:sp>
      <p:graphicFrame>
        <p:nvGraphicFramePr>
          <p:cNvPr id="9" name="de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資料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怎麼刪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刪了之後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收支明細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每列刪除，或多選一次刪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數字、統計跟著重算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財務建議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展開後「刪除這則建議」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 秒內可以按「復原」；全家的只有家長能刪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通知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每則右邊的 ×、「清除已讀」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只刪自己收到的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自訂分類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標籤後面的 ×（要再輸入密碼）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用它記的帳改到「其他」，不會消失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帳號本身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個人資料最下面（密碼＋確認碼）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帳全部刪掉、email 空出來；還在家庭裡要先退出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平台管理：即時看狀態，規則先擋、人來決定</a:t>
            </a:r>
            <a:endParaRPr lang="en-US" sz="3200" dirty="0"/>
          </a:p>
        </p:txBody>
      </p:sp>
      <p:sp>
        <p:nvSpPr>
          <p:cNvPr id="3" name="shot-admin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admin" descr="C:\Users\User\Desktop\agent\final_project\report\asset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adm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dm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紅綠燈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1783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每個帳號在不在線上，每 10 秒更新；按了登出馬上變紅燈</a:t>
            </a:r>
            <a:endParaRPr lang="en-US" sz="1300" dirty="0"/>
          </a:p>
        </p:txBody>
      </p:sp>
      <p:sp>
        <p:nvSpPr>
          <p:cNvPr id="9" name="adm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dm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錯誤訊息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96112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後端的 5xx、使用者畫面上出的錯即時列出；使用者只看到白話，技術細節只到這裡</a:t>
            </a:r>
            <a:endParaRPr lang="en-US" sz="1300" dirty="0"/>
          </a:p>
        </p:txBody>
      </p:sp>
      <p:sp>
        <p:nvSpPr>
          <p:cNvPr id="13" name="adm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dm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規則先擋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96112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同一帳號 15 分鐘錯 5 次鎖 15 分鐘、同一來源大量註冊、AI 每人每日額度</a:t>
            </a:r>
            <a:endParaRPr lang="en-US" sz="1300" dirty="0"/>
          </a:p>
        </p:txBody>
      </p:sp>
      <p:sp>
        <p:nvSpPr>
          <p:cNvPr id="17" name="adm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adm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停權由人按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961120" y="5349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規則只暫時擋下、時間到自己解開；要不要停權由管理員決定，每一次都寫稽核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6053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管理員一樣讀不到任何人的帳：這一頁只有身分欄位、狀態與次數（停權是關門，不是配鑰匙）。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資料庫：22 張表，依四個領域分</a:t>
            </a:r>
            <a:endParaRPr lang="en-US" sz="3200" dirty="0"/>
          </a:p>
        </p:txBody>
      </p:sp>
      <p:sp>
        <p:nvSpPr>
          <p:cNvPr id="3" name="db-col-0"/>
          <p:cNvSpPr/>
          <p:nvPr/>
        </p:nvSpPr>
        <p:spPr>
          <a:xfrm>
            <a:off x="548640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認證</a:t>
            </a:r>
            <a:endParaRPr lang="en-US" sz="2000" dirty="0"/>
          </a:p>
        </p:txBody>
      </p:sp>
      <p:sp>
        <p:nvSpPr>
          <p:cNvPr id="5" name="tbl-users"/>
          <p:cNvSpPr/>
          <p:nvPr/>
        </p:nvSpPr>
        <p:spPr>
          <a:xfrm>
            <a:off x="777240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使用者</a:t>
            </a:r>
            <a:endParaRPr lang="en-US" sz="1500" dirty="0"/>
          </a:p>
        </p:txBody>
      </p:sp>
      <p:sp>
        <p:nvSpPr>
          <p:cNvPr id="7" name="tbl-sessions"/>
          <p:cNvSpPr/>
          <p:nvPr/>
        </p:nvSpPr>
        <p:spPr>
          <a:xfrm>
            <a:off x="777240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登入中的裝置</a:t>
            </a:r>
            <a:endParaRPr lang="en-US" sz="1500" dirty="0"/>
          </a:p>
        </p:txBody>
      </p:sp>
      <p:sp>
        <p:nvSpPr>
          <p:cNvPr id="9" name="tbl-password_resets"/>
          <p:cNvSpPr/>
          <p:nvPr/>
        </p:nvSpPr>
        <p:spPr>
          <a:xfrm>
            <a:off x="777240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password_resets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重設密碼</a:t>
            </a:r>
            <a:endParaRPr lang="en-US" sz="1500" dirty="0"/>
          </a:p>
        </p:txBody>
      </p:sp>
      <p:sp>
        <p:nvSpPr>
          <p:cNvPr id="11" name="tbl-security_events"/>
          <p:cNvSpPr/>
          <p:nvPr/>
        </p:nvSpPr>
        <p:spPr>
          <a:xfrm>
            <a:off x="777240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security_events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安全事件</a:t>
            </a:r>
            <a:endParaRPr lang="en-US" sz="1500" dirty="0"/>
          </a:p>
        </p:txBody>
      </p:sp>
      <p:sp>
        <p:nvSpPr>
          <p:cNvPr id="13" name="tbl-error_logs"/>
          <p:cNvSpPr/>
          <p:nvPr/>
        </p:nvSpPr>
        <p:spPr>
          <a:xfrm>
            <a:off x="777240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error_logs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錯誤紀錄</a:t>
            </a:r>
            <a:endParaRPr lang="en-US" sz="1500" dirty="0"/>
          </a:p>
        </p:txBody>
      </p:sp>
      <p:sp>
        <p:nvSpPr>
          <p:cNvPr id="15" name="db-col-1"/>
          <p:cNvSpPr/>
          <p:nvPr/>
        </p:nvSpPr>
        <p:spPr>
          <a:xfrm>
            <a:off x="3364992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39312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記帳</a:t>
            </a:r>
            <a:endParaRPr lang="en-US" sz="2000" dirty="0"/>
          </a:p>
        </p:txBody>
      </p:sp>
      <p:sp>
        <p:nvSpPr>
          <p:cNvPr id="17" name="tbl-transactions"/>
          <p:cNvSpPr/>
          <p:nvPr/>
        </p:nvSpPr>
        <p:spPr>
          <a:xfrm>
            <a:off x="3593592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收支明細</a:t>
            </a:r>
            <a:endParaRPr lang="en-US" sz="1500" dirty="0"/>
          </a:p>
        </p:txBody>
      </p:sp>
      <p:sp>
        <p:nvSpPr>
          <p:cNvPr id="19" name="tbl-accounts"/>
          <p:cNvSpPr/>
          <p:nvPr/>
        </p:nvSpPr>
        <p:spPr>
          <a:xfrm>
            <a:off x="3593592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帳戶（錢包）</a:t>
            </a:r>
            <a:endParaRPr lang="en-US" sz="1500" dirty="0"/>
          </a:p>
        </p:txBody>
      </p:sp>
      <p:sp>
        <p:nvSpPr>
          <p:cNvPr id="21" name="tbl-categories"/>
          <p:cNvSpPr/>
          <p:nvPr/>
        </p:nvSpPr>
        <p:spPr>
          <a:xfrm>
            <a:off x="3593592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12464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分類</a:t>
            </a:r>
            <a:endParaRPr lang="en-US" sz="1500" dirty="0"/>
          </a:p>
        </p:txBody>
      </p:sp>
      <p:sp>
        <p:nvSpPr>
          <p:cNvPr id="23" name="tbl-groups"/>
          <p:cNvSpPr/>
          <p:nvPr/>
        </p:nvSpPr>
        <p:spPr>
          <a:xfrm>
            <a:off x="3593592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12464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帳本</a:t>
            </a:r>
            <a:endParaRPr lang="en-US" sz="1500" dirty="0"/>
          </a:p>
        </p:txBody>
      </p:sp>
      <p:sp>
        <p:nvSpPr>
          <p:cNvPr id="25" name="tbl-group_members"/>
          <p:cNvSpPr/>
          <p:nvPr/>
        </p:nvSpPr>
        <p:spPr>
          <a:xfrm>
            <a:off x="3593592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2464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group_members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帳本成員</a:t>
            </a:r>
            <a:endParaRPr lang="en-US" sz="1500" dirty="0"/>
          </a:p>
        </p:txBody>
      </p:sp>
      <p:sp>
        <p:nvSpPr>
          <p:cNvPr id="27" name="tbl-nlp_parses"/>
          <p:cNvSpPr/>
          <p:nvPr/>
        </p:nvSpPr>
        <p:spPr>
          <a:xfrm>
            <a:off x="3593592" y="48920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49103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nlp_parses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AI 解析紀錄</a:t>
            </a:r>
            <a:endParaRPr lang="en-US" sz="1500" dirty="0"/>
          </a:p>
        </p:txBody>
      </p:sp>
      <p:sp>
        <p:nvSpPr>
          <p:cNvPr id="29" name="db-col-2"/>
          <p:cNvSpPr/>
          <p:nvPr/>
        </p:nvSpPr>
        <p:spPr>
          <a:xfrm>
            <a:off x="6181344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5664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數字</a:t>
            </a:r>
            <a:endParaRPr lang="en-US" sz="2000" dirty="0"/>
          </a:p>
        </p:txBody>
      </p:sp>
      <p:sp>
        <p:nvSpPr>
          <p:cNvPr id="31" name="tbl-budgets"/>
          <p:cNvSpPr/>
          <p:nvPr/>
        </p:nvSpPr>
        <p:spPr>
          <a:xfrm>
            <a:off x="6409944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28816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預算</a:t>
            </a:r>
            <a:endParaRPr lang="en-US" sz="1500" dirty="0"/>
          </a:p>
        </p:txBody>
      </p:sp>
      <p:sp>
        <p:nvSpPr>
          <p:cNvPr id="33" name="tbl-savings_goals"/>
          <p:cNvSpPr/>
          <p:nvPr/>
        </p:nvSpPr>
        <p:spPr>
          <a:xfrm>
            <a:off x="6409944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28816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savings_goals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存款目標</a:t>
            </a:r>
            <a:endParaRPr lang="en-US" sz="1500" dirty="0"/>
          </a:p>
        </p:txBody>
      </p:sp>
      <p:sp>
        <p:nvSpPr>
          <p:cNvPr id="35" name="tbl-alert_rules"/>
          <p:cNvSpPr/>
          <p:nvPr/>
        </p:nvSpPr>
        <p:spPr>
          <a:xfrm>
            <a:off x="6409944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28816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alert_rules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提醒門檻</a:t>
            </a:r>
            <a:endParaRPr lang="en-US" sz="1500" dirty="0"/>
          </a:p>
        </p:txBody>
      </p:sp>
      <p:sp>
        <p:nvSpPr>
          <p:cNvPr id="37" name="tbl-advices"/>
          <p:cNvSpPr/>
          <p:nvPr/>
        </p:nvSpPr>
        <p:spPr>
          <a:xfrm>
            <a:off x="6409944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28816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advices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財務建議</a:t>
            </a:r>
            <a:endParaRPr lang="en-US" sz="1500" dirty="0"/>
          </a:p>
        </p:txBody>
      </p:sp>
      <p:sp>
        <p:nvSpPr>
          <p:cNvPr id="39" name="db-col-3"/>
          <p:cNvSpPr/>
          <p:nvPr/>
        </p:nvSpPr>
        <p:spPr>
          <a:xfrm>
            <a:off x="8997696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72016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家庭</a:t>
            </a:r>
            <a:endParaRPr lang="en-US" sz="2000" dirty="0"/>
          </a:p>
        </p:txBody>
      </p:sp>
      <p:sp>
        <p:nvSpPr>
          <p:cNvPr id="41" name="tbl-families"/>
          <p:cNvSpPr/>
          <p:nvPr/>
        </p:nvSpPr>
        <p:spPr>
          <a:xfrm>
            <a:off x="9226296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45168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家庭</a:t>
            </a:r>
            <a:endParaRPr lang="en-US" sz="1500" dirty="0"/>
          </a:p>
        </p:txBody>
      </p:sp>
      <p:sp>
        <p:nvSpPr>
          <p:cNvPr id="43" name="tbl-family_members"/>
          <p:cNvSpPr/>
          <p:nvPr/>
        </p:nvSpPr>
        <p:spPr>
          <a:xfrm>
            <a:off x="9226296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45168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family_members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家庭成員</a:t>
            </a:r>
            <a:endParaRPr lang="en-US" sz="1500" dirty="0"/>
          </a:p>
        </p:txBody>
      </p:sp>
      <p:sp>
        <p:nvSpPr>
          <p:cNvPr id="45" name="tbl-family_invites"/>
          <p:cNvSpPr/>
          <p:nvPr/>
        </p:nvSpPr>
        <p:spPr>
          <a:xfrm>
            <a:off x="9226296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45168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family_invites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邀請</a:t>
            </a:r>
            <a:endParaRPr lang="en-US" sz="1500" dirty="0"/>
          </a:p>
        </p:txBody>
      </p:sp>
      <p:sp>
        <p:nvSpPr>
          <p:cNvPr id="47" name="tbl-guardianships"/>
          <p:cNvSpPr/>
          <p:nvPr/>
        </p:nvSpPr>
        <p:spPr>
          <a:xfrm>
            <a:off x="9226296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45168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guardianships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照看關係</a:t>
            </a:r>
            <a:endParaRPr lang="en-US" sz="1500" dirty="0"/>
          </a:p>
        </p:txBody>
      </p:sp>
      <p:sp>
        <p:nvSpPr>
          <p:cNvPr id="49" name="tbl-allowances"/>
          <p:cNvSpPr/>
          <p:nvPr/>
        </p:nvSpPr>
        <p:spPr>
          <a:xfrm>
            <a:off x="9226296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45168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allowances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零用金</a:t>
            </a:r>
            <a:endParaRPr lang="en-US" sz="1500" dirty="0"/>
          </a:p>
        </p:txBody>
      </p:sp>
      <p:sp>
        <p:nvSpPr>
          <p:cNvPr id="51" name="tbl-notifications"/>
          <p:cNvSpPr/>
          <p:nvPr/>
        </p:nvSpPr>
        <p:spPr>
          <a:xfrm>
            <a:off x="9226296" y="48920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45168" y="49103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通知</a:t>
            </a:r>
            <a:endParaRPr lang="en-US" sz="1500" dirty="0"/>
          </a:p>
        </p:txBody>
      </p:sp>
      <p:sp>
        <p:nvSpPr>
          <p:cNvPr id="53" name="tbl-audit_logs"/>
          <p:cNvSpPr/>
          <p:nvPr/>
        </p:nvSpPr>
        <p:spPr>
          <a:xfrm>
            <a:off x="9226296" y="54406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45168" y="5458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稽核紀錄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兩個 AI 功能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段落記帳（抽取）與財務建議（生成）——模型只做語意判斷，能用程式確定的都不交給模型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段落記帳：一段話變成好幾筆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ic-0-circle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720169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一段話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「昨天全聯買衛生紙199，晚上加油」</a:t>
            </a:r>
            <a:endParaRPr lang="en-US" sz="1400" dirty="0"/>
          </a:p>
        </p:txBody>
      </p:sp>
      <p:sp>
        <p:nvSpPr>
          <p:cNvPr id="8" name="step-a-0"/>
          <p:cNvSpPr/>
          <p:nvPr/>
        </p:nvSpPr>
        <p:spPr>
          <a:xfrm>
            <a:off x="2624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-1"/>
          <p:cNvSpPr/>
          <p:nvPr/>
        </p:nvSpPr>
        <p:spPr>
          <a:xfrm>
            <a:off x="2834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ic-1-circle"/>
          <p:cNvSpPr/>
          <p:nvPr/>
        </p:nvSpPr>
        <p:spPr>
          <a:xfrm>
            <a:off x="3063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41" y="172016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組 prompt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規則＋今天日期＋這個家的分類清單＋一組範例</a:t>
            </a:r>
            <a:endParaRPr lang="en-US" sz="1400" dirty="0"/>
          </a:p>
        </p:txBody>
      </p:sp>
      <p:sp>
        <p:nvSpPr>
          <p:cNvPr id="14" name="step-a-1"/>
          <p:cNvSpPr/>
          <p:nvPr/>
        </p:nvSpPr>
        <p:spPr>
          <a:xfrm>
            <a:off x="4910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-2"/>
          <p:cNvSpPr/>
          <p:nvPr/>
        </p:nvSpPr>
        <p:spPr>
          <a:xfrm>
            <a:off x="5120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ic-2-circle"/>
          <p:cNvSpPr/>
          <p:nvPr/>
        </p:nvSpPr>
        <p:spPr>
          <a:xfrm>
            <a:off x="5349240" y="15727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tep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641" y="172016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49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模型用工具交出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349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record_transactions：每一筆每一欄都要表態，沒講就填 null</a:t>
            </a:r>
            <a:endParaRPr lang="en-US" sz="1400" dirty="0"/>
          </a:p>
        </p:txBody>
      </p:sp>
      <p:sp>
        <p:nvSpPr>
          <p:cNvPr id="20" name="step-a-2"/>
          <p:cNvSpPr/>
          <p:nvPr/>
        </p:nvSpPr>
        <p:spPr>
          <a:xfrm>
            <a:off x="7196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ep-3"/>
          <p:cNvSpPr/>
          <p:nvPr/>
        </p:nvSpPr>
        <p:spPr>
          <a:xfrm>
            <a:off x="7406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-ic-3-circle"/>
          <p:cNvSpPr/>
          <p:nvPr/>
        </p:nvSpPr>
        <p:spPr>
          <a:xfrm>
            <a:off x="7635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tep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641" y="1720169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35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程式逐欄驗證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635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日期重算、金額對原句、分類要在清單裡</a:t>
            </a:r>
            <a:endParaRPr lang="en-US" sz="1400" dirty="0"/>
          </a:p>
        </p:txBody>
      </p:sp>
      <p:sp>
        <p:nvSpPr>
          <p:cNvPr id="26" name="step-a-3"/>
          <p:cNvSpPr/>
          <p:nvPr/>
        </p:nvSpPr>
        <p:spPr>
          <a:xfrm>
            <a:off x="9482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tep-4"/>
          <p:cNvSpPr/>
          <p:nvPr/>
        </p:nvSpPr>
        <p:spPr>
          <a:xfrm>
            <a:off x="9692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-ic-4-circle"/>
          <p:cNvSpPr/>
          <p:nvPr/>
        </p:nvSpPr>
        <p:spPr>
          <a:xfrm>
            <a:off x="9921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step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8641" y="1720169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921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人確認才寫入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921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缺的標紅、沒把握的標黃，按確認才存</a:t>
            </a:r>
            <a:endParaRPr lang="en-US" sz="1400" dirty="0"/>
          </a:p>
        </p:txBody>
      </p:sp>
      <p:graphicFrame>
        <p:nvGraphicFramePr>
          <p:cNvPr id="13" name="parse-ex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1371600"/>
                <a:gridCol w="1371600"/>
                <a:gridCol w="2926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原句的那一段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日期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金額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分類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畫面上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昨天全聯買衛生紙199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10/14（程式依「昨天」算）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日用品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正常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晚上加油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10/15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（沒講）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交通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金額標紅、補上才能送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tool-why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5330952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為什麼用工具呼叫（function calling），不是叫模型「回 JSON」？
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工具的參數有 JSON Schema 約束：每一欄都 required、不收多的欄位，Claude 的 strict 模式保證格式一定對。模型要嘛交出合格的結構，要嘛交不出來——不會有「JSON 少一個括號」這種錯。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解析結果：人一眼看得出哪裡要補</a:t>
            </a:r>
            <a:endParaRPr lang="en-US" sz="3200" dirty="0"/>
          </a:p>
        </p:txBody>
      </p:sp>
      <p:sp>
        <p:nvSpPr>
          <p:cNvPr id="3" name="shot-parse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parse" descr="C:\Users\User\Desktop\agent\final_project\report\assets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53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截圖：本機沒接模型時的備援結果（標紅、標黃的方式跟接模型時一樣；線上接的是 Claude）</a:t>
            </a:r>
            <a:endParaRPr lang="en-US" sz="1100" dirty="0"/>
          </a:p>
        </p:txBody>
      </p:sp>
      <p:sp>
        <p:nvSpPr>
          <p:cNvPr id="6" name="parse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rse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只留項目、附原句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961120" y="1783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備註只寫買了什麼，例如「自動鉛筆」；原句那一段小字附在下面，切錯一眼就看得到</a:t>
            </a:r>
            <a:endParaRPr lang="en-US" sz="1300" dirty="0"/>
          </a:p>
        </p:txBody>
      </p:sp>
      <p:sp>
        <p:nvSpPr>
          <p:cNvPr id="10" name="parse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arse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缺的標紅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96112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沒講金額就是空的、標「必填」，不會猜一個數字；補上才能送出</a:t>
            </a:r>
            <a:endParaRPr lang="en-US" sz="1300" dirty="0"/>
          </a:p>
        </p:txBody>
      </p:sp>
      <p:sp>
        <p:nvSpPr>
          <p:cNvPr id="14" name="parse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parse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沒把握的標黃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896112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每一欄各自有信心度，低於 85% 標黃顯示百分比</a:t>
            </a:r>
            <a:endParaRPr lang="en-US" sz="1300" dirty="0"/>
          </a:p>
        </p:txBody>
      </p:sp>
      <p:sp>
        <p:nvSpPr>
          <p:cNvPr id="18" name="parse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parse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模型叫不動也能用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8961120" y="5349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後端回 503 時先用簡易規則拆好、畫面上講清楚，寫入照樣走後端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模型負責理解，程式負責確定的事</a:t>
            </a:r>
            <a:endParaRPr lang="en-US" sz="3200" dirty="0"/>
          </a:p>
        </p:txBody>
      </p:sp>
      <p:sp>
        <p:nvSpPr>
          <p:cNvPr id="3" name="split-0"/>
          <p:cNvSpPr/>
          <p:nvPr/>
        </p:nvSpPr>
        <p:spPr>
          <a:xfrm>
            <a:off x="548640" y="1417320"/>
            <a:ext cx="544068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plit-ic-0-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plit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交給模型（語意判斷）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把一段話切成幾筆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「全家」是店名還是家人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「退款」「賣二手」是收入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從分類清單挑最像的那一個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沒講的欄位老實填 null</a:t>
            </a:r>
            <a:endParaRPr lang="en-US" sz="1500" dirty="0"/>
          </a:p>
        </p:txBody>
      </p:sp>
      <p:sp>
        <p:nvSpPr>
          <p:cNvPr id="8" name="split-1"/>
          <p:cNvSpPr/>
          <p:nvPr/>
        </p:nvSpPr>
        <p:spPr>
          <a:xfrm>
            <a:off x="6172200" y="1417320"/>
            <a:ext cx="544068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plit-ic-1-circle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plit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交給程式（對事實）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「昨天」「上禮拜三」「9/17」換成日期；這一段沒講就沿用前一段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原句沒有數字，金額一定是空的；跟原句（含「1.2 萬」）對不上就標出來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店家要在原句裡；備註只留項目（「自動鉛筆」）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分類要在清單裡、收支要對得上；照這個人以前的改法調整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確認後才寫資料庫（全部成功或全部不寫）</a:t>
            </a:r>
            <a:endParaRPr lang="en-US" sz="1500" dirty="0"/>
          </a:p>
        </p:txBody>
      </p:sp>
      <p:sp>
        <p:nvSpPr>
          <p:cNvPr id="13" name="date-why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為什麼日期不給模型算：模型最常錯的就是差一天，而這種錯使用者幾乎不會發現，月統計卻已經跑掉。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財務建議：每一個數字都要找得到出處</a:t>
            </a:r>
            <a:endParaRPr lang="en-US" sz="3200" dirty="0"/>
          </a:p>
        </p:txBody>
      </p:sp>
      <p:sp>
        <p:nvSpPr>
          <p:cNvPr id="3" name="adv-0"/>
          <p:cNvSpPr/>
          <p:nvPr/>
        </p:nvSpPr>
        <p:spPr>
          <a:xfrm>
            <a:off x="54864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資料庫算數字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收入、支出、各分類、可支配上限</a:t>
            </a:r>
            <a:endParaRPr lang="en-US" sz="1300" dirty="0"/>
          </a:p>
        </p:txBody>
      </p:sp>
      <p:sp>
        <p:nvSpPr>
          <p:cNvPr id="6" name="adv-a-0"/>
          <p:cNvSpPr/>
          <p:nvPr/>
        </p:nvSpPr>
        <p:spPr>
          <a:xfrm>
            <a:off x="318211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adv-1"/>
          <p:cNvSpPr/>
          <p:nvPr/>
        </p:nvSpPr>
        <p:spPr>
          <a:xfrm>
            <a:off x="338328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先算好比例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支出佔收入、用掉幾成、各分類佔比</a:t>
            </a:r>
            <a:endParaRPr lang="en-US" sz="1300" dirty="0"/>
          </a:p>
        </p:txBody>
      </p:sp>
      <p:sp>
        <p:nvSpPr>
          <p:cNvPr id="10" name="adv-a-1"/>
          <p:cNvSpPr/>
          <p:nvPr/>
        </p:nvSpPr>
        <p:spPr>
          <a:xfrm>
            <a:off x="601675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dv-2"/>
          <p:cNvSpPr/>
          <p:nvPr/>
        </p:nvSpPr>
        <p:spPr>
          <a:xfrm>
            <a:off x="621792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模型只寫句子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結構化輸出；理財習慣標成「資料，不是指令」</a:t>
            </a:r>
            <a:endParaRPr lang="en-US" sz="1300" dirty="0"/>
          </a:p>
        </p:txBody>
      </p:sp>
      <p:sp>
        <p:nvSpPr>
          <p:cNvPr id="14" name="adv-a-2"/>
          <p:cNvSpPr/>
          <p:nvPr/>
        </p:nvSpPr>
        <p:spPr>
          <a:xfrm>
            <a:off x="885139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dv-3"/>
          <p:cNvSpPr/>
          <p:nvPr/>
        </p:nvSpPr>
        <p:spPr>
          <a:xfrm>
            <a:off x="905256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檢查數字出處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找不到出處、或套錯分類的那一則直接不顯示</a:t>
            </a:r>
            <a:endParaRPr lang="en-US" sz="1300" dirty="0"/>
          </a:p>
        </p:txBody>
      </p:sp>
      <p:sp>
        <p:nvSpPr>
          <p:cNvPr id="18" name="adv-ex-0"/>
          <p:cNvSpPr/>
          <p:nvPr/>
        </p:nvSpPr>
        <p:spPr>
          <a:xfrm>
            <a:off x="548640" y="32918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adv-ex-ic-0-circle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adv-ex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605479"/>
            <a:ext cx="241402" cy="24140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有出處，照常顯示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「這個月已經用掉 86% 的可支配上限」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572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86% 是程式先算好的比例 → 信心度照模型給的</a:t>
            </a:r>
            <a:endParaRPr lang="en-US" sz="1250" dirty="0"/>
          </a:p>
        </p:txBody>
      </p:sp>
      <p:sp>
        <p:nvSpPr>
          <p:cNvPr id="24" name="adv-ex-1"/>
          <p:cNvSpPr/>
          <p:nvPr/>
        </p:nvSpPr>
        <p:spPr>
          <a:xfrm>
            <a:off x="6172200" y="32918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5" name="adv-ex-ic-1-circle"/>
          <p:cNvSpPr/>
          <p:nvPr/>
        </p:nvSpPr>
        <p:spPr>
          <a:xfrm>
            <a:off x="6446520" y="34747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adv-ex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3605479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3232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沒出處或套錯，整則不顯示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「照這樣一年會花 103,200 元」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4572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103,200 是模型自己乘出來的；「交通花了 6,000」其實是餐飲的 → 都丟掉；一則都不剩就改用同一批數字整理的版本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邊界規則：不給投資、保險、稅務建議；不對個人做價值判斷（不說「你太浪費」）；使用者填的理財習慣只當背景。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怎麼量 AI 解析的成績</a:t>
            </a:r>
            <a:endParaRPr lang="en-US" sz="3200" dirty="0"/>
          </a:p>
        </p:txBody>
      </p:sp>
      <p:graphicFrame>
        <p:nvGraphicFramePr>
          <p:cNvPr id="3" name="chart-tags" descr=""/>
          <p:cNvGraphicFramePr/>
          <p:nvPr/>
        </p:nvGraphicFramePr>
        <p:xfrm>
          <a:off x="548640" y="137160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看什麼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切分正確率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切出來的筆數跟答案一樣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整題完全正確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筆數對、每一筆四欄都對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30540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日期／金額／收支／分類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逐欄正確率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6210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分類 Macro-F1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小分類跟大分類一樣重要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187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沒講金額卻填數字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幻覺率：答案是空的、模型卻給了數字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754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延遲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p50／p95 秒數</a:t>
            </a:r>
            <a:endParaRPr lang="en-US" sz="1400" dirty="0"/>
          </a:p>
        </p:txBody>
      </p:sp>
      <p:sp>
        <p:nvSpPr>
          <p:cNvPr id="11" name="eval-note"/>
          <p:cNvSpPr/>
          <p:nvPr/>
        </p:nvSpPr>
        <p:spPr>
          <a:xfrm>
            <a:off x="6583680" y="5440680"/>
            <a:ext cx="5029200" cy="685800"/>
          </a:xfrm>
          <a:prstGeom prst="roundRect">
            <a:avLst>
              <a:gd name="adj" fmla="val 18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5486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答案由 AI 產生，再用程式獨立驗算金額、日期、收支（0 錯）。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評測結果：同一份 101 題，三套系統</a:t>
            </a:r>
            <a:endParaRPr lang="en-US" sz="3200" dirty="0"/>
          </a:p>
        </p:txBody>
      </p:sp>
      <p:graphicFrame>
        <p:nvGraphicFramePr>
          <p:cNvPr id="3" name="chart-eval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val-side"/>
          <p:cNvSpPr/>
          <p:nvPr/>
        </p:nvSpPr>
        <p:spPr>
          <a:xfrm>
            <a:off x="7863840" y="1463040"/>
            <a:ext cx="3749040" cy="4617720"/>
          </a:xfrm>
          <a:prstGeom prst="roundRect">
            <a:avLst>
              <a:gd name="adj" fmla="val 341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數字背後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整題完全正確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04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100.0%（線上）／63.4%（規則）／6.9%（1.5B）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分類 Macro-F1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100.0%（線上）／79.1%（規則）／12.9%（1.5B）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沒講金額卻填數字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0.0%（線上）／0.0%（規則）／50.0%（1.5B）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每句要等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2.06 秒（線上 p50，p95 5.16）；1.5B 本機 27.27 秒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9377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線上量的是上線那一套：Claude＋輸出管理（程式逐筆對原句）。⚠️ 題目由 AI 產生、句型比真人整齊，100% 不代表不會錯。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錯誤分析：deepseek-r1:1.5b 錯在哪</a:t>
            </a:r>
            <a:endParaRPr lang="en-US" sz="3200" dirty="0"/>
          </a:p>
        </p:txBody>
      </p:sp>
      <p:graphicFrame>
        <p:nvGraphicFramePr>
          <p:cNvPr id="19" name="mis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句子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錯在哪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原因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早餐55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分類：居住 → 應為 餐飲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不會照分類清單挑，常挑到不相干的分類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宵夜鹽酥雞150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切成 2 筆（答案 1 筆）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把一筆切成兩筆，或把兩筆併成一筆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Uber 回家 270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收支：（沒填） → 應為 支出；分類：薪資 → 應為 交通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收支沒填或填反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全家一起吃火鍋 1800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金額：（沒填） → 應為 1800；分類：醫療 → 應為 餐飲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金額漏抄或抄錯；沒講金額時反而自己補一個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小孩補習費四千五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日期：（沒填） → 應為 2026-10-14；分類：（沒填） → 應為 教育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整筆欄位都沒交出來（有時間詞的日期由程式依原句重算）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miss-take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8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小模型零樣本：分類幾乎亂挑、沒講金額一半會自己補數字，還會把原句轉成簡體。所以上線用 Claude（同一份題目全對），小模型留作微調的對照組。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加分項：微調自己的小模型當對照組</a:t>
            </a:r>
            <a:endParaRPr lang="en-US" sz="3200" dirty="0"/>
          </a:p>
        </p:txBody>
      </p:sp>
      <p:sp>
        <p:nvSpPr>
          <p:cNvPr id="3" name="ft-0"/>
          <p:cNvSpPr/>
          <p:nvPr/>
        </p:nvSpPr>
        <p:spPr>
          <a:xfrm>
            <a:off x="54864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t-ic-0-circle"/>
          <p:cNvSpPr/>
          <p:nvPr/>
        </p:nvSpPr>
        <p:spPr>
          <a:xfrm>
            <a:off x="77724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t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710660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產生訓練資料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1,500 題，一半是一段多筆</a:t>
            </a:r>
            <a:endParaRPr lang="en-US" sz="1300" dirty="0"/>
          </a:p>
        </p:txBody>
      </p:sp>
      <p:sp>
        <p:nvSpPr>
          <p:cNvPr id="8" name="ft-1"/>
          <p:cNvSpPr/>
          <p:nvPr/>
        </p:nvSpPr>
        <p:spPr>
          <a:xfrm>
            <a:off x="242316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t-ic-1-circle"/>
          <p:cNvSpPr/>
          <p:nvPr/>
        </p:nvSpPr>
        <p:spPr>
          <a:xfrm>
            <a:off x="265176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t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52" y="171066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轉成對話格式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prompt 直接用上線那一支，一字不差</a:t>
            </a:r>
            <a:endParaRPr lang="en-US" sz="1300" dirty="0"/>
          </a:p>
        </p:txBody>
      </p:sp>
      <p:sp>
        <p:nvSpPr>
          <p:cNvPr id="13" name="ft-2"/>
          <p:cNvSpPr/>
          <p:nvPr/>
        </p:nvSpPr>
        <p:spPr>
          <a:xfrm>
            <a:off x="429768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t-ic-2-circle"/>
          <p:cNvSpPr/>
          <p:nvPr/>
        </p:nvSpPr>
        <p:spPr>
          <a:xfrm>
            <a:off x="4526280" y="1572768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ft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172" y="1710660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8056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Colab 免費 T4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Unsloth QLoRA 微調 Qwen2.5-1.5B</a:t>
            </a:r>
            <a:endParaRPr lang="en-US" sz="1300" dirty="0"/>
          </a:p>
        </p:txBody>
      </p:sp>
      <p:sp>
        <p:nvSpPr>
          <p:cNvPr id="18" name="ft-3"/>
          <p:cNvSpPr/>
          <p:nvPr/>
        </p:nvSpPr>
        <p:spPr>
          <a:xfrm>
            <a:off x="617220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t-ic-3-circle"/>
          <p:cNvSpPr/>
          <p:nvPr/>
        </p:nvSpPr>
        <p:spPr>
          <a:xfrm>
            <a:off x="640080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t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1710660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轉 GGUF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q4_k_m，約 1 GB</a:t>
            </a:r>
            <a:endParaRPr lang="en-US" sz="1300" dirty="0"/>
          </a:p>
        </p:txBody>
      </p:sp>
      <p:sp>
        <p:nvSpPr>
          <p:cNvPr id="23" name="ft-4"/>
          <p:cNvSpPr/>
          <p:nvPr/>
        </p:nvSpPr>
        <p:spPr>
          <a:xfrm>
            <a:off x="804672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t-ic-4-circle"/>
          <p:cNvSpPr/>
          <p:nvPr/>
        </p:nvSpPr>
        <p:spPr>
          <a:xfrm>
            <a:off x="827532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ft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212" y="1710660"/>
            <a:ext cx="254569" cy="25456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上線服務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Ollama 或 Hugging Face Space</a:t>
            </a:r>
            <a:endParaRPr lang="en-US" sz="1300" dirty="0"/>
          </a:p>
        </p:txBody>
      </p:sp>
      <p:sp>
        <p:nvSpPr>
          <p:cNvPr id="28" name="ft-5"/>
          <p:cNvSpPr/>
          <p:nvPr/>
        </p:nvSpPr>
        <p:spPr>
          <a:xfrm>
            <a:off x="992124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t-ic-5-circle"/>
          <p:cNvSpPr/>
          <p:nvPr/>
        </p:nvSpPr>
        <p:spPr>
          <a:xfrm>
            <a:off x="1014984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ft-ic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732" y="1710660"/>
            <a:ext cx="254569" cy="25456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041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同一份題目評分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010412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跟商業 API、規則放在同一張圖</a:t>
            </a:r>
            <a:endParaRPr lang="en-US" sz="1300" dirty="0"/>
          </a:p>
        </p:txBody>
      </p:sp>
      <p:sp>
        <p:nvSpPr>
          <p:cNvPr id="33" name="ft-pt-0"/>
          <p:cNvSpPr/>
          <p:nvPr/>
        </p:nvSpPr>
        <p:spPr>
          <a:xfrm>
            <a:off x="54864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分類 id 每題打亂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逼模型讀 prompt 裡的清單，不是背「餐飲＝1」。每個家庭的自訂分類 id 都不一樣。</a:t>
            </a:r>
            <a:endParaRPr lang="en-US" sz="1500" dirty="0"/>
          </a:p>
        </p:txBody>
      </p:sp>
      <p:sp>
        <p:nvSpPr>
          <p:cNvPr id="36" name="ft-pt-1"/>
          <p:cNvSpPr/>
          <p:nvPr/>
        </p:nvSpPr>
        <p:spPr>
          <a:xfrm>
            <a:off x="429768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57200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只學回答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很長（規則＋分類＋工具定義），loss 不花在背 prompt 上。</a:t>
            </a:r>
            <a:endParaRPr lang="en-US" sz="1500" dirty="0"/>
          </a:p>
        </p:txBody>
      </p:sp>
      <p:sp>
        <p:nvSpPr>
          <p:cNvPr id="39" name="ft-pt-2"/>
          <p:cNvSpPr/>
          <p:nvPr/>
        </p:nvSpPr>
        <p:spPr>
          <a:xfrm>
            <a:off x="804672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32104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訓練跟上線一字不差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832104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訓練資料直接 import 上線的 build_prompt；改了 prompt，測試會紅燈提醒重產資料。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測試：自動測試＋真的伺服器走一遍</a:t>
            </a:r>
            <a:endParaRPr lang="en-US" sz="3200" dirty="0"/>
          </a:p>
        </p:txBody>
      </p:sp>
      <p:sp>
        <p:nvSpPr>
          <p:cNvPr id="3" name="test-unit"/>
          <p:cNvSpPr/>
          <p:nvPr/>
        </p:nvSpPr>
        <p:spPr>
          <a:xfrm>
            <a:off x="548640" y="1417320"/>
            <a:ext cx="338328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個自動測試，全部通過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每一支路由都有驗收測試，模型呼叫層、日期換算、資料品質也有</a:t>
            </a:r>
            <a:endParaRPr lang="en-US" sz="1200" dirty="0"/>
          </a:p>
        </p:txBody>
      </p:sp>
      <p:sp>
        <p:nvSpPr>
          <p:cNvPr id="7" name="test-e2e"/>
          <p:cNvSpPr/>
          <p:nvPr/>
        </p:nvSpPr>
        <p:spPr>
          <a:xfrm>
            <a:off x="548640" y="3840480"/>
            <a:ext cx="3383280" cy="2240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96/96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端到端步驟通過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認證 36/36　家庭 20/20　記帳 26/26　數字 14/14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端到端測試驗到的幾件事</a:t>
            </a:r>
            <a:endParaRPr lang="en-US" sz="1800" dirty="0"/>
          </a:p>
        </p:txBody>
      </p:sp>
      <p:sp>
        <p:nvSpPr>
          <p:cNvPr id="12" name="chk-0-circle"/>
          <p:cNvSpPr/>
          <p:nvPr/>
        </p:nvSpPr>
        <p:spPr>
          <a:xfrm>
            <a:off x="4343400" y="2011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chk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252" y="2111532"/>
            <a:ext cx="184343" cy="18434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846320" y="199339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沒登入打 API 一律 401</a:t>
            </a:r>
            <a:endParaRPr lang="en-US" sz="1400" dirty="0"/>
          </a:p>
        </p:txBody>
      </p:sp>
      <p:sp>
        <p:nvSpPr>
          <p:cNvPr id="15" name="chk-1-circle"/>
          <p:cNvSpPr/>
          <p:nvPr/>
        </p:nvSpPr>
        <p:spPr>
          <a:xfrm>
            <a:off x="8001000" y="2011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hk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52" y="2111532"/>
            <a:ext cx="184343" cy="184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503920" y="199339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子女看不到家長的帳（403）</a:t>
            </a:r>
            <a:endParaRPr lang="en-US" sz="1400" dirty="0"/>
          </a:p>
        </p:txBody>
      </p:sp>
      <p:sp>
        <p:nvSpPr>
          <p:cNvPr id="18" name="chk-2-circle"/>
          <p:cNvSpPr/>
          <p:nvPr/>
        </p:nvSpPr>
        <p:spPr>
          <a:xfrm>
            <a:off x="4343400" y="27980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chk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52" y="2897916"/>
            <a:ext cx="184343" cy="184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46320" y="27797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外人改不了別人的帳</a:t>
            </a:r>
            <a:endParaRPr lang="en-US" sz="1400" dirty="0"/>
          </a:p>
        </p:txBody>
      </p:sp>
      <p:sp>
        <p:nvSpPr>
          <p:cNvPr id="21" name="chk-3-circle"/>
          <p:cNvSpPr/>
          <p:nvPr/>
        </p:nvSpPr>
        <p:spPr>
          <a:xfrm>
            <a:off x="8001000" y="27980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chk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852" y="2897916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03920" y="27797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平台管理員讀不到任何人的帳</a:t>
            </a:r>
            <a:endParaRPr lang="en-US" sz="1400" dirty="0"/>
          </a:p>
        </p:txBody>
      </p:sp>
      <p:sp>
        <p:nvSpPr>
          <p:cNvPr id="24" name="chk-4-circle"/>
          <p:cNvSpPr/>
          <p:nvPr/>
        </p:nvSpPr>
        <p:spPr>
          <a:xfrm>
            <a:off x="434340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hk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252" y="3684300"/>
            <a:ext cx="184343" cy="184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46320" y="35661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邀請碼用過、刪掉就不能再用</a:t>
            </a:r>
            <a:endParaRPr lang="en-US" sz="1400" dirty="0"/>
          </a:p>
        </p:txBody>
      </p:sp>
      <p:sp>
        <p:nvSpPr>
          <p:cNvPr id="27" name="chk-5-circle"/>
          <p:cNvSpPr/>
          <p:nvPr/>
        </p:nvSpPr>
        <p:spPr>
          <a:xfrm>
            <a:off x="800100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chk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852" y="3684300"/>
            <a:ext cx="184343" cy="18434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503920" y="35661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結算後的活動帳本不能再記</a:t>
            </a:r>
            <a:endParaRPr lang="en-US" sz="1400" dirty="0"/>
          </a:p>
        </p:txBody>
      </p:sp>
      <p:sp>
        <p:nvSpPr>
          <p:cNvPr id="30" name="chk-6-circle"/>
          <p:cNvSpPr/>
          <p:nvPr/>
        </p:nvSpPr>
        <p:spPr>
          <a:xfrm>
            <a:off x="4343400" y="43708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chk-6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252" y="4470684"/>
            <a:ext cx="184343" cy="18434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846320" y="43525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改密碼後其他裝置被登出</a:t>
            </a:r>
            <a:endParaRPr lang="en-US" sz="1400" dirty="0"/>
          </a:p>
        </p:txBody>
      </p:sp>
      <p:sp>
        <p:nvSpPr>
          <p:cNvPr id="33" name="chk-7-circle"/>
          <p:cNvSpPr/>
          <p:nvPr/>
        </p:nvSpPr>
        <p:spPr>
          <a:xfrm>
            <a:off x="8001000" y="43708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chk-7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0852" y="4470684"/>
            <a:ext cx="184343" cy="184343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503920" y="43525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段落確認寫入：全部成功或全部不寫</a:t>
            </a:r>
            <a:endParaRPr lang="en-US" sz="1400" dirty="0"/>
          </a:p>
        </p:txBody>
      </p:sp>
      <p:sp>
        <p:nvSpPr>
          <p:cNvPr id="36" name="chk-8-circle"/>
          <p:cNvSpPr/>
          <p:nvPr/>
        </p:nvSpPr>
        <p:spPr>
          <a:xfrm>
            <a:off x="4343400" y="51572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chk-8-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252" y="5257068"/>
            <a:ext cx="184343" cy="184343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846320" y="51389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跨過提醒門檻，鈴鐺出現提醒</a:t>
            </a:r>
            <a:endParaRPr lang="en-US" sz="1400" dirty="0"/>
          </a:p>
        </p:txBody>
      </p:sp>
      <p:sp>
        <p:nvSpPr>
          <p:cNvPr id="39" name="chk-9-circle"/>
          <p:cNvSpPr/>
          <p:nvPr/>
        </p:nvSpPr>
        <p:spPr>
          <a:xfrm>
            <a:off x="8001000" y="51572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chk-9-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0852" y="5257068"/>
            <a:ext cx="184343" cy="184343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503920" y="51389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停權的人登不進去，解除後恢復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上線實測：測試工程師與使用者各走一遍</a:t>
            </a:r>
            <a:endParaRPr lang="en-US" sz="3200" dirty="0"/>
          </a:p>
        </p:txBody>
      </p:sp>
      <p:sp>
        <p:nvSpPr>
          <p:cNvPr id="3" name="qa-0"/>
          <p:cNvSpPr/>
          <p:nvPr/>
        </p:nvSpPr>
        <p:spPr>
          <a:xfrm>
            <a:off x="548640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個問題找到並修正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兩輪合計 P0 2、P1 10、P2 9、P3 5；每一個都重新部署、到線上再驗一次</a:t>
            </a:r>
            <a:endParaRPr lang="en-US" sz="1250" dirty="0"/>
          </a:p>
        </p:txBody>
      </p:sp>
      <p:sp>
        <p:nvSpPr>
          <p:cNvPr id="7" name="qa-1"/>
          <p:cNvSpPr/>
          <p:nvPr/>
        </p:nvSpPr>
        <p:spPr>
          <a:xfrm>
            <a:off x="3364992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過期後關閉存取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驗證信、重設密碼、邀請碼、登入權杖：時間到真的用不了</a:t>
            </a:r>
            <a:endParaRPr lang="en-US" sz="1250" dirty="0"/>
          </a:p>
        </p:txBody>
      </p:sp>
      <p:sp>
        <p:nvSpPr>
          <p:cNvPr id="11" name="qa-2"/>
          <p:cNvSpPr/>
          <p:nvPr/>
        </p:nvSpPr>
        <p:spPr>
          <a:xfrm>
            <a:off x="6181344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建議裡的數字全對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每一則財務建議的數字都拿帳上的資料手算對過</a:t>
            </a:r>
            <a:endParaRPr lang="en-US" sz="1250" dirty="0"/>
          </a:p>
        </p:txBody>
      </p:sp>
      <p:sp>
        <p:nvSpPr>
          <p:cNvPr id="15" name="qa-3"/>
          <p:cNvSpPr/>
          <p:nvPr/>
        </p:nvSpPr>
        <p:spPr>
          <a:xfrm>
            <a:off x="8997696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三種寬度橫向溢出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375／768／1280 寬，24 個畫面逐一量過</a:t>
            </a:r>
            <a:endParaRPr lang="en-US" sz="1250" dirty="0"/>
          </a:p>
        </p:txBody>
      </p:sp>
      <p:sp>
        <p:nvSpPr>
          <p:cNvPr id="19" name="qa-user"/>
          <p:cNvSpPr/>
          <p:nvPr/>
        </p:nvSpPr>
        <p:spPr>
          <a:xfrm>
            <a:off x="548640" y="4114800"/>
            <a:ext cx="5486400" cy="1965960"/>
          </a:xfrm>
          <a:prstGeom prst="roundRect">
            <a:avLst>
              <a:gd name="adj" fmla="val 65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使用者評分（17 個功能，滿分 100）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 → 85.7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低於 60 分的功能 7 個 → 0 個；修正後最低 80 分。家長、子女各用一個帳號在正式網站上把每個功能實際用過。</a:t>
            </a:r>
            <a:endParaRPr lang="en-US" sz="1500" dirty="0"/>
          </a:p>
        </p:txBody>
      </p:sp>
      <p:sp>
        <p:nvSpPr>
          <p:cNvPr id="22" name="qa-files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交付的佐證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6634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線上測試報告（PDF，每個問題附重現步驟與修正後的驗證）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使用者評分與改善建議（PDF）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完整測試流程影片（約 4 分鐘，游標標出每一次點擊）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線上評測結果與資料庫核對查詢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第三輪：照使用者的話把畫面收乾淨</a:t>
            </a:r>
            <a:endParaRPr lang="en-US" sz="3200" dirty="0"/>
          </a:p>
        </p:txBody>
      </p:sp>
      <p:sp>
        <p:nvSpPr>
          <p:cNvPr id="3" name="shot-groups-frame"/>
          <p:cNvSpPr/>
          <p:nvPr/>
        </p:nvSpPr>
        <p:spPr>
          <a:xfrm>
            <a:off x="557784" y="1289304"/>
            <a:ext cx="6473952" cy="4107942"/>
          </a:xfrm>
          <a:prstGeom prst="roundRect">
            <a:avLst>
              <a:gd name="adj" fmla="val 2671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groups" descr="C:\Users\User\Desktop\agent\final_project\report\assets\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309360" cy="3943350"/>
          </a:xfrm>
          <a:prstGeom prst="rect">
            <a:avLst/>
          </a:prstGeom>
        </p:spPr>
      </p:pic>
      <p:sp>
        <p:nvSpPr>
          <p:cNvPr id="5" name="third-c0-circle"/>
          <p:cNvSpPr/>
          <p:nvPr/>
        </p:nvSpPr>
        <p:spPr>
          <a:xfrm>
            <a:off x="7315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hird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959" y="1456639"/>
            <a:ext cx="241402" cy="241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55280" y="12893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帳本只剩一份清單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16550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不分常設、活動；一顆「開一本帳」，結束日選填</a:t>
            </a:r>
            <a:endParaRPr lang="en-US" sz="1250" dirty="0"/>
          </a:p>
        </p:txBody>
      </p:sp>
      <p:sp>
        <p:nvSpPr>
          <p:cNvPr id="9" name="third-c1-circle"/>
          <p:cNvSpPr/>
          <p:nvPr/>
        </p:nvSpPr>
        <p:spPr>
          <a:xfrm>
            <a:off x="731520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hird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59" y="227959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55280" y="21122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收入、支出各自點進去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955280" y="24780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點本月收入只看收入、點支出只看支出</a:t>
            </a:r>
            <a:endParaRPr lang="en-US" sz="1250" dirty="0"/>
          </a:p>
        </p:txBody>
      </p:sp>
      <p:sp>
        <p:nvSpPr>
          <p:cNvPr id="13" name="third-c2-circle"/>
          <p:cNvSpPr/>
          <p:nvPr/>
        </p:nvSpPr>
        <p:spPr>
          <a:xfrm>
            <a:off x="731520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hird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959" y="310255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55280" y="29352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寫家庭的名字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955280" y="33009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常用功能那格寫「林家」，不寫「家庭帳本」</a:t>
            </a:r>
            <a:endParaRPr lang="en-US" sz="1250" dirty="0"/>
          </a:p>
        </p:txBody>
      </p:sp>
      <p:sp>
        <p:nvSpPr>
          <p:cNvPr id="17" name="third-c3-circle"/>
          <p:cNvSpPr/>
          <p:nvPr/>
        </p:nvSpPr>
        <p:spPr>
          <a:xfrm>
            <a:off x="731520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third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959" y="392551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955280" y="37581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主題自己一頁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955280" y="41239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八套排成卡片，按一下就換</a:t>
            </a:r>
            <a:endParaRPr lang="en-US" sz="1250" dirty="0"/>
          </a:p>
        </p:txBody>
      </p:sp>
      <p:sp>
        <p:nvSpPr>
          <p:cNvPr id="21" name="third-c4-circle"/>
          <p:cNvSpPr/>
          <p:nvPr/>
        </p:nvSpPr>
        <p:spPr>
          <a:xfrm>
            <a:off x="7315200" y="4617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third-c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959" y="4748479"/>
            <a:ext cx="241402" cy="2414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955280" y="458114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用不到的不掛著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955280" y="49469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搜尋、帳本切換只在用得到的頁面出現</a:t>
            </a:r>
            <a:endParaRPr lang="en-US" sz="1250" dirty="0"/>
          </a:p>
        </p:txBody>
      </p:sp>
      <p:sp>
        <p:nvSpPr>
          <p:cNvPr id="25" name="third-c5-circle"/>
          <p:cNvSpPr/>
          <p:nvPr/>
        </p:nvSpPr>
        <p:spPr>
          <a:xfrm>
            <a:off x="7315200" y="5440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third-c5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959" y="5571439"/>
            <a:ext cx="241402" cy="2414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955280" y="54041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沒驗證信箱不能登入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955280" y="57698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登入給提示；管理頁標「待驗證」，連結過期就從後台消失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限制與下一步</a:t>
            </a:r>
            <a:endParaRPr lang="en-US" sz="3200" dirty="0"/>
          </a:p>
        </p:txBody>
      </p:sp>
      <p:sp>
        <p:nvSpPr>
          <p:cNvPr id="3" name="lim-0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ic-0-circle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lim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限制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留出集與訓練資料由 AI 產生；程式驗算過金額、日期、收支，但句型比真人整齊——線上那一套全對，不代表真人說的話都對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微調的小模型還沒跑同一份題目；本機 1.5B 零樣本只有 6.9%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財務建議沒有標準答案，只能用規則檢查（數字出處、套錯分類、邊界）加上人看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防濫用的規則只看次數：換來源的攻擊只擋得住「同一個帳號錯太多次」那一條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免費主機會休眠：第一次開要等一下</a:t>
            </a:r>
            <a:endParaRPr lang="en-US" sz="1500" dirty="0"/>
          </a:p>
        </p:txBody>
      </p:sp>
      <p:sp>
        <p:nvSpPr>
          <p:cNvPr id="8" name="lim-1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-ic-1-circle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im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74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45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下一步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把使用者改過的解析（nlp_parses.user_corrected）收進下一版留出集與訓練資料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微調模型跑同一份題目，跟線上那一套放在同一張表比較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建議加上「跟上個月比」的趨勢敘述（數字一樣由資料庫先算）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家庭改成開放式（下一頁）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下一版：從「照看子女」改成開放式家庭</a:t>
            </a:r>
            <a:endParaRPr lang="en-US" sz="3200" dirty="0"/>
          </a:p>
        </p:txBody>
      </p:sp>
      <p:sp>
        <p:nvSpPr>
          <p:cNvPr id="3" name="redo-0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do-ic-0-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do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514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成員一律平等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444752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拿掉家長／子女與照看、零用金；誰看得到我的帳由我自己決定。動到別人的資料要輸入自己的密碼</a:t>
            </a:r>
            <a:endParaRPr lang="en-US" sz="1300" dirty="0"/>
          </a:p>
        </p:txBody>
      </p:sp>
      <p:sp>
        <p:nvSpPr>
          <p:cNvPr id="8" name="redo-1"/>
          <p:cNvSpPr/>
          <p:nvPr/>
        </p:nvSpPr>
        <p:spPr>
          <a:xfrm>
            <a:off x="548640" y="2304288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do-ic-1-circle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edo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58409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個人／家庭兩種模式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2377440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功能一樣、各有基底與帳本；家庭的明細來自每個人自己選擇「併進家庭」的，個人照算、家庭也算</a:t>
            </a:r>
            <a:endParaRPr lang="en-US" sz="1300" dirty="0"/>
          </a:p>
        </p:txBody>
      </p:sp>
      <p:sp>
        <p:nvSpPr>
          <p:cNvPr id="13" name="redo-2"/>
          <p:cNvSpPr/>
          <p:nvPr/>
        </p:nvSpPr>
        <p:spPr>
          <a:xfrm>
            <a:off x="548640" y="3236976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do-ic-2-circle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redo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16782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3284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家庭的初始化設定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389120" y="3310128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建立的人先填家庭想存多少、收入怎麼估；AI 建議也能針對全家產生。家庭模式的主題每個人自己選</a:t>
            </a:r>
            <a:endParaRPr lang="en-US" sz="1300" dirty="0"/>
          </a:p>
        </p:txBody>
      </p:sp>
      <p:sp>
        <p:nvSpPr>
          <p:cNvPr id="18" name="redo-3"/>
          <p:cNvSpPr/>
          <p:nvPr/>
        </p:nvSpPr>
        <p:spPr>
          <a:xfrm>
            <a:off x="548640" y="4169664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do-ic-3-circle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edo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4449470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2611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帳本只剩合併與刪除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389120" y="4242816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一顆「開一本帳」；活動帳本可設存錢目標（綠光）、花費上限（紅光）與到期日，到期可合併或延長</a:t>
            </a:r>
            <a:endParaRPr lang="en-US" sz="1300" dirty="0"/>
          </a:p>
        </p:txBody>
      </p:sp>
      <p:sp>
        <p:nvSpPr>
          <p:cNvPr id="23" name="redo-4"/>
          <p:cNvSpPr/>
          <p:nvPr/>
        </p:nvSpPr>
        <p:spPr>
          <a:xfrm>
            <a:off x="548640" y="5102352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edo-ic-4-circle"/>
          <p:cNvSpPr/>
          <p:nvPr/>
        </p:nvSpPr>
        <p:spPr>
          <a:xfrm>
            <a:off x="731520" y="52395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redo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38215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5193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每月自動打包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389120" y="5175504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過去的月份收成一包：筆數、收入、支出合計，點開才看每一筆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謝謝聆聽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github.com/cbes502034/final_project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2026-10-21T08:04:02Z</dcterms:created>
  <dcterms:modified xsi:type="dcterms:W3CDTF">2026-10-21T08:04:02Z</dcterms:modified>
</cp:coreProperties>
</file>