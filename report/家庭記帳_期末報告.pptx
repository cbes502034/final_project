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22902e6b-10fd-0028-907b-ff0e5fc7b975}">
          <p14:sldIdLst>
            <p14:sldId id="256"/>
            <p14:sldId id="257"/>
            <p14:sldId id="258"/>
          </p14:sldIdLst>
        </p14:section>
        <p14:section name="系統" id="{56296b57-1831-15e8-abcc-93c62859b0e3}">
          <p14:sldIdLst>
            <p14:sldId id="259"/>
            <p14:sldId id="260"/>
            <p14:sldId id="261"/>
            <p14:sldId id="262"/>
            <p14:sldId id="263"/>
          </p14:sldIdLst>
        </p14:section>
        <p14:section name="AI 功能" id="{15ee1329-a4a4-518c-dbe4-3417a071094d}">
          <p14:sldIdLst>
            <p14:sldId id="264"/>
            <p14:sldId id="265"/>
            <p14:sldId id="266"/>
            <p14:sldId id="267"/>
            <p14:sldId id="268"/>
          </p14:sldIdLst>
        </p14:section>
        <p14:section name="評測與測試" id="{d78a313a-0224-57a4-cc9b-369a26c664f3}">
          <p14:sldIdLst>
            <p14:sldId id="269"/>
            <p14:sldId id="270"/>
            <p14:sldId id="271"/>
            <p14:sldId id="272"/>
            <p14:sldId id="273"/>
          </p14:sldIdLst>
        </p14:section>
        <p14:section name="結語" id="{213b8ec2-f8e4-689e-5c9d-5c32ab148627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2A5B"/>
                </a:solidFill>
                <a:latin typeface="+mn-lt"/>
              </a:rPr>
              <a:t>留出集 101 題（125 筆）的題型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題數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A9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單筆</c:v>
                  </c:pt>
                  <c:pt idx="1">
                    <c:v>一段多筆</c:v>
                  </c:pt>
                  <c:pt idx="2">
                    <c:v>收入</c:v>
                  </c:pt>
                  <c:pt idx="3">
                    <c:v>中文數字</c:v>
                  </c:pt>
                  <c:pt idx="4">
                    <c:v>店名陷阱</c:v>
                  </c:pt>
                  <c:pt idx="5">
                    <c:v>難題</c:v>
                  </c:pt>
                  <c:pt idx="6">
                    <c:v>相對日期</c:v>
                  </c:pt>
                  <c:pt idx="7">
                    <c:v>絕對日期</c:v>
                  </c:pt>
                  <c:pt idx="8">
                    <c:v>沒講金額</c:v>
                  </c:pt>
                  <c:pt idx="9">
                    <c:v>星期幾</c:v>
                  </c:pt>
                  <c:pt idx="10">
                    <c:v>沒有標點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83</c:v>
                </c:pt>
                <c:pt idx="1">
                  <c:v>18</c:v>
                </c:pt>
                <c:pt idx="2">
                  <c:v>16</c:v>
                </c:pt>
                <c:pt idx="3">
                  <c:v>15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7</c:v>
                </c:pt>
                <c:pt idx="8">
                  <c:v>6</c:v>
                </c:pt>
                <c:pt idx="9">
                  <c:v>6</c:v>
                </c:pt>
                <c:pt idx="1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A9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A5B"/>
                </a:solidFill>
                <a:latin typeface="+mn-lt"/>
              </a:rPr>
              <a:t>正確率（%）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前端規則（基準）</c:v>
                </c:pt>
              </c:strCache>
            </c:strRef>
          </c:tx>
          <c:spPr>
            <a:solidFill>
              <a:srgbClr val="6B7A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</c:v>
                </c:pt>
                <c:pt idx="1">
                  <c:v>63.4</c:v>
                </c:pt>
                <c:pt idx="2">
                  <c:v>84.8</c:v>
                </c:pt>
                <c:pt idx="3">
                  <c:v>90.4</c:v>
                </c:pt>
                <c:pt idx="4">
                  <c:v>86.4</c:v>
                </c:pt>
                <c:pt idx="5">
                  <c:v>79.1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deepseek-r1:1.5b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84.2</c:v>
                </c:pt>
                <c:pt idx="1">
                  <c:v>6.9</c:v>
                </c:pt>
                <c:pt idx="2">
                  <c:v>84</c:v>
                </c:pt>
                <c:pt idx="3">
                  <c:v>73.6</c:v>
                </c:pt>
                <c:pt idx="4">
                  <c:v>24.8</c:v>
                </c:pt>
                <c:pt idx="5">
                  <c:v>12.9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大家好，我們的題目是家庭記帳 FamBudget。一句話：使用者說一段話，系統用大型語言模型切成好幾筆帳，家人之間依權限看得到彼此，財務建議的每一個數字都有出處。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 App 很多，但大家還是記不下去。我們觀察到三個問題：輸入太麻煩、家人各記各的、AI 建議沒有根據。後面每一段都對應其中一個問題。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先講成果。70 支 API、20 張表、735 個自動測試全部通過，還有一個端到端測試，用真的伺服器把四個領域走一遍，全部通過。AI 解析有 101 題的留出集來量成績。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架構是前後端分離。前端是純靜態網頁，所有資料都經過 api.js 這一個入口。後端用 FastAPI，依領域分成認證、記帳、數字、家庭四塊。模型服務可以換，叫不動的時候系統不會壞，前端會退回規則解析。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這是登入後的首頁。最重要的數字是「這個月還可以花多少」：收入減掉每月想存的錢，就是可以花的上限。右邊是常用功能。整個網站在手機上也能用。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左邊是收支明細，每一筆都標了來源，看得出是段落記帳還是手動記的。右邊是統計，按月對照、近六個月的趨勢，還有錢花在哪。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家庭功能的重點是權限。這張表是後端實際的規則：家長看得到照看中孩子的帳，子女看不到家長的；平台管理員只能停權和看稽核，讀不到任何人的帳。家長切換成孩子帳號這個功能，我們刻意不做。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資料庫一共 20 張表，跟 API 一樣依四個領域分。nlp_parses 會記下每一次 AI 解析的原始結果與使用者改了什麼，之後可以拿來當評測與訓練資料。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 AI 的部分。整份設計只有一個原則：模型只做語意判斷，凡是能用程式確定的東西，都不交給模型。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段落記帳分五步。第三步是唯一交給模型的：用 record_transactions 這個工具把好幾筆交出來。為什麼用工具呼叫？因為參數有 schema 約束，格式由服務端保證。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這是解析完的畫面。每一筆都對照原句的哪一段；沒講金額的那一格是空的、標紅，使用者一定會發現，比猜一個錯的數字安全。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這張是整個設計的核心。左邊是模型擅長的語意判斷；右邊是可以用程式算死的東西。例如句子裡寫上禮拜三，模型就算給錯日期，程式也會依原句重算。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財務建議的原則是數字由資料庫算，模型只寫句子。模型寫回來之後，程式會把每一個數字拿去比對出處。像一年會花十萬三千二這種模型自己乘出來的數字，就會被標成要自己驗算。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我們用 101 題、125 筆的留出集來量解析的成績，題型包含一段多筆、中文數字、相對日期、沒講金額這些難點。只比日期、金額、收支、分類四欄。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這是評測結果。前端規則的整題完全正確率是 63.4%。我們在本機用 Ollama 跑了 deepseek-r1:1.5b，整題完全正確率只有 6.9%，分類幾乎是亂挑，每一句還要等二三十秒。結論是小模型零樣本做不到，這正是為什麼上線用商業 API、並規劃微調。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這幾題是deepseek-r1:1.5b錯的例子，每一種錯誤類型挑一題。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微調是加分項。資料用模板產生 1500 題，prompt 跟上線用的是同一支函式。設計上最重要的一點是分類 id 每題打亂，讓模型學會讀清單。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測試分兩層。735 個自動測試在每次改程式時跑；端到端測試則是真的開一台伺服器、用全新的資料庫，從註冊一路走到停權，85 個步驟全部通過。右邊是其中幾個跟安全有關的檢查。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最後是限制與下一步。最重要的限制是資料由 AI 產生；下一步是把使用者真的改過的解析收回來，變成真實的評測與訓練資料。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說一段話就記好帳、全家看得到彼此的家庭財務系統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記帳難在三件事</a:t>
            </a:r>
            <a:endParaRPr lang="en-US" sz="3200" dirty="0"/>
          </a:p>
        </p:txBody>
      </p:sp>
      <p:sp>
        <p:nvSpPr>
          <p:cNvPr id="3" name="pain-card-0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in-0-circl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in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懶得一筆一筆填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早餐、午餐、加油……每一筆都要選日期、分類、填金額，三天就放棄。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說一段話，模型切成好幾筆、欄位自動填好，人只要檢查</a:t>
            </a:r>
            <a:endParaRPr lang="en-US" sz="1500" dirty="0"/>
          </a:p>
        </p:txBody>
      </p:sp>
      <p:sp>
        <p:nvSpPr>
          <p:cNvPr id="10" name="pain-card-1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in-1-circle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pain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19275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家人各記各的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爸媽各有一本帳、孩子的零用錢沒人知道，全家花多少錢沒人說得出來。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家庭、帳本、照看孩子；誰看得到誰由權限決定</a:t>
            </a:r>
            <a:endParaRPr lang="en-US" sz="1500" dirty="0"/>
          </a:p>
        </p:txBody>
      </p:sp>
      <p:sp>
        <p:nvSpPr>
          <p:cNvPr id="17" name="pain-card-2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ain-2-circle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pain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19275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建議沒有根據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叫 AI 給理財建議，它可能隨口編一個數字，使用者根本無法驗算。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數字全部由資料庫算，模型只寫句子，每個數字都要找得到出處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做出來的東西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支 API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認證 19・記帳 19・數字 11・家庭 21</a:t>
            </a:r>
            <a:endParaRPr lang="en-US" sz="1400" dirty="0"/>
          </a:p>
        </p:txBody>
      </p:sp>
      <p:sp>
        <p:nvSpPr>
          <p:cNvPr id="7" name="stat-1"/>
          <p:cNvSpPr/>
          <p:nvPr/>
        </p:nvSpPr>
        <p:spPr>
          <a:xfrm>
            <a:off x="2798064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26664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026664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張資料表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026664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PostgreSQL，Alembic 管遷移</a:t>
            </a:r>
            <a:endParaRPr lang="en-US" sz="1400" dirty="0"/>
          </a:p>
        </p:txBody>
      </p:sp>
      <p:sp>
        <p:nvSpPr>
          <p:cNvPr id="11" name="stat-2"/>
          <p:cNvSpPr/>
          <p:nvPr/>
        </p:nvSpPr>
        <p:spPr>
          <a:xfrm>
            <a:off x="5047488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6088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738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5276088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個自動測試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全部通過，每一支路由都有驗收測試</a:t>
            </a:r>
            <a:endParaRPr lang="en-US" sz="1400" dirty="0"/>
          </a:p>
        </p:txBody>
      </p:sp>
      <p:sp>
        <p:nvSpPr>
          <p:cNvPr id="15" name="stat-3"/>
          <p:cNvSpPr/>
          <p:nvPr/>
        </p:nvSpPr>
        <p:spPr>
          <a:xfrm>
            <a:off x="7296912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85/85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端到端步驟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真的伺服器、真的資料庫走完四個領域</a:t>
            </a:r>
            <a:endParaRPr lang="en-US" sz="1400" dirty="0"/>
          </a:p>
        </p:txBody>
      </p:sp>
      <p:sp>
        <p:nvSpPr>
          <p:cNvPr id="19" name="stat-4"/>
          <p:cNvSpPr/>
          <p:nvPr/>
        </p:nvSpPr>
        <p:spPr>
          <a:xfrm>
            <a:off x="9546336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74936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9774936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題留出集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774936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量 AI 解析的成績；另有 1,500 題微調資料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前端：純靜態網頁（HTML／CSS／JS）　後端：FastAPI　資料庫：PostgreSQL　部署：Render　模型：Claude／OpenAI／開源模型（Ollama、Hugging Face）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系統架構：前後端分離，模型可以換</a:t>
            </a:r>
            <a:endParaRPr lang="en-US" sz="3200" dirty="0"/>
          </a:p>
        </p:txBody>
      </p:sp>
      <p:sp>
        <p:nvSpPr>
          <p:cNvPr id="3" name="arch-browser"/>
          <p:cNvSpPr/>
          <p:nvPr/>
        </p:nvSpPr>
        <p:spPr>
          <a:xfrm>
            <a:off x="548640" y="1463040"/>
            <a:ext cx="265176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rch-browser-circle"/>
          <p:cNvSpPr/>
          <p:nvPr/>
        </p:nvSpPr>
        <p:spPr>
          <a:xfrm>
            <a:off x="777240" y="169164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arch-brows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3904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瀏覽器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手機、電腦都能用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（RWD：375／768／1280 寬都測過）</a:t>
            </a:r>
            <a:endParaRPr lang="en-US" sz="1400" dirty="0"/>
          </a:p>
        </p:txBody>
      </p:sp>
      <p:sp>
        <p:nvSpPr>
          <p:cNvPr id="8" name="arch-front"/>
          <p:cNvSpPr/>
          <p:nvPr/>
        </p:nvSpPr>
        <p:spPr>
          <a:xfrm>
            <a:off x="3657600" y="1463040"/>
            <a:ext cx="292608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front-circle"/>
          <p:cNvSpPr/>
          <p:nvPr/>
        </p:nvSpPr>
        <p:spPr>
          <a:xfrm>
            <a:off x="388620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rch-fron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601" y="1839041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16916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前端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23774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純靜態網頁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api.js 是唯一的資料入口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後端沒做好的功能不顯示假資料</a:t>
            </a:r>
            <a:endParaRPr lang="en-US" sz="1400" dirty="0"/>
          </a:p>
        </p:txBody>
      </p:sp>
      <p:sp>
        <p:nvSpPr>
          <p:cNvPr id="13" name="arch-back"/>
          <p:cNvSpPr/>
          <p:nvPr/>
        </p:nvSpPr>
        <p:spPr>
          <a:xfrm>
            <a:off x="7040880" y="1463040"/>
            <a:ext cx="457200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rch-back-circle"/>
          <p:cNvSpPr/>
          <p:nvPr/>
        </p:nvSpPr>
        <p:spPr>
          <a:xfrm>
            <a:off x="726948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rch-back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81" y="1839041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955280" y="16916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後端 FastAPI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0" y="2377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dom-0"/>
          <p:cNvSpPr/>
          <p:nvPr/>
        </p:nvSpPr>
        <p:spPr>
          <a:xfrm>
            <a:off x="731520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認證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19 支</a:t>
            </a:r>
            <a:endParaRPr lang="en-US" sz="1300" dirty="0"/>
          </a:p>
        </p:txBody>
      </p:sp>
      <p:sp>
        <p:nvSpPr>
          <p:cNvPr id="21" name="dom-1"/>
          <p:cNvSpPr/>
          <p:nvPr/>
        </p:nvSpPr>
        <p:spPr>
          <a:xfrm>
            <a:off x="836676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36676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記帳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19 支</a:t>
            </a:r>
            <a:endParaRPr lang="en-US" sz="1300" dirty="0"/>
          </a:p>
        </p:txBody>
      </p:sp>
      <p:sp>
        <p:nvSpPr>
          <p:cNvPr id="24" name="dom-2"/>
          <p:cNvSpPr/>
          <p:nvPr/>
        </p:nvSpPr>
        <p:spPr>
          <a:xfrm>
            <a:off x="941832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41832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數字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11 支</a:t>
            </a:r>
            <a:endParaRPr lang="en-US" sz="1300" dirty="0"/>
          </a:p>
        </p:txBody>
      </p:sp>
      <p:sp>
        <p:nvSpPr>
          <p:cNvPr id="27" name="dom-3"/>
          <p:cNvSpPr/>
          <p:nvPr/>
        </p:nvSpPr>
        <p:spPr>
          <a:xfrm>
            <a:off x="1046988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46988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家庭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46988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21 支</a:t>
            </a:r>
            <a:endParaRPr lang="en-US" sz="1300" dirty="0"/>
          </a:p>
        </p:txBody>
      </p:sp>
      <p:sp>
        <p:nvSpPr>
          <p:cNvPr id="30" name="arch-a1"/>
          <p:cNvSpPr/>
          <p:nvPr/>
        </p:nvSpPr>
        <p:spPr>
          <a:xfrm>
            <a:off x="324612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arch-a2"/>
          <p:cNvSpPr/>
          <p:nvPr/>
        </p:nvSpPr>
        <p:spPr>
          <a:xfrm>
            <a:off x="662940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arch-db"/>
          <p:cNvSpPr/>
          <p:nvPr/>
        </p:nvSpPr>
        <p:spPr>
          <a:xfrm>
            <a:off x="704088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db-circle"/>
          <p:cNvSpPr/>
          <p:nvPr/>
        </p:nvSpPr>
        <p:spPr>
          <a:xfrm>
            <a:off x="7269480" y="466344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arch-db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4810841"/>
            <a:ext cx="272125" cy="27212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95528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資料庫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731520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 張表</a:t>
            </a:r>
            <a:endParaRPr lang="en-US" sz="1400" dirty="0"/>
          </a:p>
        </p:txBody>
      </p:sp>
      <p:sp>
        <p:nvSpPr>
          <p:cNvPr id="37" name="arch-model"/>
          <p:cNvSpPr/>
          <p:nvPr/>
        </p:nvSpPr>
        <p:spPr>
          <a:xfrm>
            <a:off x="946404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arch-model-circle"/>
          <p:cNvSpPr/>
          <p:nvPr/>
        </p:nvSpPr>
        <p:spPr>
          <a:xfrm>
            <a:off x="9692640" y="466344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9" name="arch-model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0041" y="4810841"/>
            <a:ext cx="272125" cy="272125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7844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模型服務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973836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Claude／OpenAI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或自架開源模型</a:t>
            </a:r>
            <a:endParaRPr lang="en-US" sz="1400" dirty="0"/>
          </a:p>
        </p:txBody>
      </p:sp>
      <p:sp>
        <p:nvSpPr>
          <p:cNvPr id="42" name="arch-a3"/>
          <p:cNvSpPr/>
          <p:nvPr/>
        </p:nvSpPr>
        <p:spPr>
          <a:xfrm>
            <a:off x="809244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arch-a4"/>
          <p:cNvSpPr/>
          <p:nvPr/>
        </p:nvSpPr>
        <p:spPr>
          <a:xfrm>
            <a:off x="1051560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arch-note"/>
          <p:cNvSpPr/>
          <p:nvPr/>
        </p:nvSpPr>
        <p:spPr>
          <a:xfrm>
            <a:off x="548640" y="4434840"/>
            <a:ext cx="6035040" cy="1691640"/>
          </a:xfrm>
          <a:prstGeom prst="roundRect">
            <a:avLst>
              <a:gd name="adj" fmla="val 756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22960" y="461772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部署在 Render：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前端靜態站、後端、資料庫各一個服務。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模型可以換：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設定檔改 MODEL_PROVIDER 就能在 Claude、OpenAI、自己的模型之間切換，程式不用動。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模型叫不動：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後端回 503，前端改用規則解析，系統照常能用。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首頁：一眼看到這個月還可以花多少</a:t>
            </a:r>
            <a:endParaRPr lang="en-US" sz="3200" dirty="0"/>
          </a:p>
        </p:txBody>
      </p:sp>
      <p:sp>
        <p:nvSpPr>
          <p:cNvPr id="3" name="shot-hom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home" descr="C:\Users\User\Desktop\agent\final_project\report\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hom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hom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嗨，名字＋家庭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像銀行 App 一樣先打招呼，下面寫是哪個家庭的誰</a:t>
            </a:r>
            <a:endParaRPr lang="en-US" sz="1300" dirty="0"/>
          </a:p>
        </p:txBody>
      </p:sp>
      <p:sp>
        <p:nvSpPr>
          <p:cNvPr id="9" name="hom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hom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這個月還可以花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 − 每月想存＝可支配；用掉幾成一條進度條看完</a:t>
            </a:r>
            <a:endParaRPr lang="en-US" sz="1300" dirty="0"/>
          </a:p>
        </p:txBody>
      </p:sp>
      <p:sp>
        <p:nvSpPr>
          <p:cNvPr id="13" name="hom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hom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常用功能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記一筆、明細、帳本、統計、建議，一格一個入口</a:t>
            </a:r>
            <a:endParaRPr lang="en-US" sz="1300" dirty="0"/>
          </a:p>
        </p:txBody>
      </p:sp>
      <p:sp>
        <p:nvSpPr>
          <p:cNvPr id="17" name="hom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hom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手機也能用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版面在手機寬度重新排，沒有左右捲動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收支明細與統計</a:t>
            </a:r>
            <a:endParaRPr lang="en-US" sz="3200" dirty="0"/>
          </a:p>
        </p:txBody>
      </p:sp>
      <p:sp>
        <p:nvSpPr>
          <p:cNvPr id="3" name="shot-entry-frame"/>
          <p:cNvSpPr/>
          <p:nvPr/>
        </p:nvSpPr>
        <p:spPr>
          <a:xfrm>
            <a:off x="55778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entry" descr="C:\Users\User\Desktop\agent\final_project\report\assets\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349240" cy="3343275"/>
          </a:xfrm>
          <a:prstGeom prst="rect">
            <a:avLst/>
          </a:prstGeom>
        </p:spPr>
      </p:pic>
      <p:sp>
        <p:nvSpPr>
          <p:cNvPr id="5" name="shot-stats-frame"/>
          <p:cNvSpPr/>
          <p:nvPr/>
        </p:nvSpPr>
        <p:spPr>
          <a:xfrm>
            <a:off x="613562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stats" descr="C:\Users\User\Desktop\agent\final_project\report\assets\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17320"/>
            <a:ext cx="5349240" cy="33432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收支明細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依帳本、收支、來源（段落記帳／手動）篩選；可以改、可以多選刪除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統計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按月收支對照、近六個月趨勢、錢花在哪（分類比例）；全家模式看加總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家庭與權限：誰看得到誰，由後端決定</a:t>
            </a:r>
            <a:endParaRPr lang="en-US" sz="3200" dirty="0"/>
          </a:p>
        </p:txBody>
      </p:sp>
      <p:sp>
        <p:nvSpPr>
          <p:cNvPr id="3" name="shot-members-frame"/>
          <p:cNvSpPr/>
          <p:nvPr/>
        </p:nvSpPr>
        <p:spPr>
          <a:xfrm>
            <a:off x="557784" y="1335024"/>
            <a:ext cx="5285232" cy="3364992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members" descr="C:\Users\User\Desktop\agent\final_project\report\assets\memb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846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邀請碼只顯示一次、可以命名、有效期 7 天、沒用的可以刪；家長可以「照看」孩子並設零用金。</a:t>
            </a:r>
            <a:endParaRPr lang="en-US" sz="1400" dirty="0"/>
          </a:p>
        </p:txBody>
      </p:sp>
      <p:graphicFrame>
        <p:nvGraphicFramePr>
          <p:cNvPr id="8" name="per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91440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能做的事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家長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子女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平台管理員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看自己的帳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看照看中孩子的帳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看全家的總覽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自己的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產生邀請碼、設零用金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停權帳號、看稽核紀錄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讀任何人的帳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perm-note"/>
          <p:cNvSpPr/>
          <p:nvPr/>
        </p:nvSpPr>
        <p:spPr>
          <a:xfrm>
            <a:off x="6172200" y="5120640"/>
            <a:ext cx="5440680" cy="868680"/>
          </a:xfrm>
          <a:prstGeom prst="roundRect">
            <a:avLst>
              <a:gd name="adj" fmla="val 1473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0" y="523036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家長不能切換成孩子的帳號、平台管理員讀不到任何人的帳——刻意不做，不是沒做完。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資料庫：20 張表，依四個領域分</a:t>
            </a:r>
            <a:endParaRPr lang="en-US" sz="3200" dirty="0"/>
          </a:p>
        </p:txBody>
      </p:sp>
      <p:sp>
        <p:nvSpPr>
          <p:cNvPr id="3" name="db-col-0"/>
          <p:cNvSpPr/>
          <p:nvPr/>
        </p:nvSpPr>
        <p:spPr>
          <a:xfrm>
            <a:off x="548640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認證</a:t>
            </a:r>
            <a:endParaRPr lang="en-US" sz="2000" dirty="0"/>
          </a:p>
        </p:txBody>
      </p:sp>
      <p:sp>
        <p:nvSpPr>
          <p:cNvPr id="5" name="tbl-users"/>
          <p:cNvSpPr/>
          <p:nvPr/>
        </p:nvSpPr>
        <p:spPr>
          <a:xfrm>
            <a:off x="777240" y="219456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311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使用者</a:t>
            </a:r>
            <a:endParaRPr lang="en-US" sz="1500" dirty="0"/>
          </a:p>
        </p:txBody>
      </p:sp>
      <p:sp>
        <p:nvSpPr>
          <p:cNvPr id="7" name="tbl-accounts"/>
          <p:cNvSpPr/>
          <p:nvPr/>
        </p:nvSpPr>
        <p:spPr>
          <a:xfrm>
            <a:off x="777240" y="2816352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852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登入帳號</a:t>
            </a:r>
            <a:endParaRPr lang="en-US" sz="1500" dirty="0"/>
          </a:p>
        </p:txBody>
      </p:sp>
      <p:sp>
        <p:nvSpPr>
          <p:cNvPr id="9" name="tbl-sessions"/>
          <p:cNvSpPr/>
          <p:nvPr/>
        </p:nvSpPr>
        <p:spPr>
          <a:xfrm>
            <a:off x="777240" y="3438144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3474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登入中的裝置</a:t>
            </a:r>
            <a:endParaRPr lang="en-US" sz="1500" dirty="0"/>
          </a:p>
        </p:txBody>
      </p:sp>
      <p:sp>
        <p:nvSpPr>
          <p:cNvPr id="11" name="tbl-password_resets"/>
          <p:cNvSpPr/>
          <p:nvPr/>
        </p:nvSpPr>
        <p:spPr>
          <a:xfrm>
            <a:off x="777240" y="4059936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4096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password_resets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重設密碼</a:t>
            </a:r>
            <a:endParaRPr lang="en-US" sz="1500" dirty="0"/>
          </a:p>
        </p:txBody>
      </p:sp>
      <p:sp>
        <p:nvSpPr>
          <p:cNvPr id="13" name="tbl-audit_logs"/>
          <p:cNvSpPr/>
          <p:nvPr/>
        </p:nvSpPr>
        <p:spPr>
          <a:xfrm>
            <a:off x="777240" y="4681728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471830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audit_logs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稽核紀錄</a:t>
            </a:r>
            <a:endParaRPr lang="en-US" sz="1500" dirty="0"/>
          </a:p>
        </p:txBody>
      </p:sp>
      <p:sp>
        <p:nvSpPr>
          <p:cNvPr id="15" name="db-col-1"/>
          <p:cNvSpPr/>
          <p:nvPr/>
        </p:nvSpPr>
        <p:spPr>
          <a:xfrm>
            <a:off x="3364992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39312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記帳</a:t>
            </a:r>
            <a:endParaRPr lang="en-US" sz="2000" dirty="0"/>
          </a:p>
        </p:txBody>
      </p:sp>
      <p:sp>
        <p:nvSpPr>
          <p:cNvPr id="17" name="tbl-transactions"/>
          <p:cNvSpPr/>
          <p:nvPr/>
        </p:nvSpPr>
        <p:spPr>
          <a:xfrm>
            <a:off x="3593592" y="219456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12464" y="22311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收支明細</a:t>
            </a:r>
            <a:endParaRPr lang="en-US" sz="1500" dirty="0"/>
          </a:p>
        </p:txBody>
      </p:sp>
      <p:sp>
        <p:nvSpPr>
          <p:cNvPr id="19" name="tbl-categories"/>
          <p:cNvSpPr/>
          <p:nvPr/>
        </p:nvSpPr>
        <p:spPr>
          <a:xfrm>
            <a:off x="3593592" y="2816352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12464" y="2852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分類</a:t>
            </a:r>
            <a:endParaRPr lang="en-US" sz="1500" dirty="0"/>
          </a:p>
        </p:txBody>
      </p:sp>
      <p:sp>
        <p:nvSpPr>
          <p:cNvPr id="21" name="tbl-groups"/>
          <p:cNvSpPr/>
          <p:nvPr/>
        </p:nvSpPr>
        <p:spPr>
          <a:xfrm>
            <a:off x="3593592" y="3438144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712464" y="3474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</a:t>
            </a:r>
            <a:endParaRPr lang="en-US" sz="1500" dirty="0"/>
          </a:p>
        </p:txBody>
      </p:sp>
      <p:sp>
        <p:nvSpPr>
          <p:cNvPr id="23" name="tbl-group_members"/>
          <p:cNvSpPr/>
          <p:nvPr/>
        </p:nvSpPr>
        <p:spPr>
          <a:xfrm>
            <a:off x="3593592" y="4059936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4096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帳本成員</a:t>
            </a:r>
            <a:endParaRPr lang="en-US" sz="1500" dirty="0"/>
          </a:p>
        </p:txBody>
      </p:sp>
      <p:sp>
        <p:nvSpPr>
          <p:cNvPr id="25" name="tbl-nlp_parses"/>
          <p:cNvSpPr/>
          <p:nvPr/>
        </p:nvSpPr>
        <p:spPr>
          <a:xfrm>
            <a:off x="3593592" y="4681728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12464" y="471830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nlp_parses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AI 解析紀錄</a:t>
            </a:r>
            <a:endParaRPr lang="en-US" sz="1500" dirty="0"/>
          </a:p>
        </p:txBody>
      </p:sp>
      <p:sp>
        <p:nvSpPr>
          <p:cNvPr id="27" name="db-col-2"/>
          <p:cNvSpPr/>
          <p:nvPr/>
        </p:nvSpPr>
        <p:spPr>
          <a:xfrm>
            <a:off x="6181344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55664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數字</a:t>
            </a:r>
            <a:endParaRPr lang="en-US" sz="2000" dirty="0"/>
          </a:p>
        </p:txBody>
      </p:sp>
      <p:sp>
        <p:nvSpPr>
          <p:cNvPr id="29" name="tbl-budgets"/>
          <p:cNvSpPr/>
          <p:nvPr/>
        </p:nvSpPr>
        <p:spPr>
          <a:xfrm>
            <a:off x="6409944" y="219456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28816" y="22311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budgets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預算</a:t>
            </a:r>
            <a:endParaRPr lang="en-US" sz="1500" dirty="0"/>
          </a:p>
        </p:txBody>
      </p:sp>
      <p:sp>
        <p:nvSpPr>
          <p:cNvPr id="31" name="tbl-savings_goals"/>
          <p:cNvSpPr/>
          <p:nvPr/>
        </p:nvSpPr>
        <p:spPr>
          <a:xfrm>
            <a:off x="6409944" y="2816352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28816" y="2852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savings_goals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存款目標</a:t>
            </a:r>
            <a:endParaRPr lang="en-US" sz="1500" dirty="0"/>
          </a:p>
        </p:txBody>
      </p:sp>
      <p:sp>
        <p:nvSpPr>
          <p:cNvPr id="33" name="tbl-alert_rules"/>
          <p:cNvSpPr/>
          <p:nvPr/>
        </p:nvSpPr>
        <p:spPr>
          <a:xfrm>
            <a:off x="6409944" y="3438144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3474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alert_rules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提醒門檻</a:t>
            </a:r>
            <a:endParaRPr lang="en-US" sz="1500" dirty="0"/>
          </a:p>
        </p:txBody>
      </p:sp>
      <p:sp>
        <p:nvSpPr>
          <p:cNvPr id="35" name="tbl-advices"/>
          <p:cNvSpPr/>
          <p:nvPr/>
        </p:nvSpPr>
        <p:spPr>
          <a:xfrm>
            <a:off x="6409944" y="4059936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28816" y="4096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財務建議</a:t>
            </a:r>
            <a:endParaRPr lang="en-US" sz="1500" dirty="0"/>
          </a:p>
        </p:txBody>
      </p:sp>
      <p:sp>
        <p:nvSpPr>
          <p:cNvPr id="37" name="db-col-3"/>
          <p:cNvSpPr/>
          <p:nvPr/>
        </p:nvSpPr>
        <p:spPr>
          <a:xfrm>
            <a:off x="8997696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72016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家庭</a:t>
            </a:r>
            <a:endParaRPr lang="en-US" sz="2000" dirty="0"/>
          </a:p>
        </p:txBody>
      </p:sp>
      <p:sp>
        <p:nvSpPr>
          <p:cNvPr id="39" name="tbl-families"/>
          <p:cNvSpPr/>
          <p:nvPr/>
        </p:nvSpPr>
        <p:spPr>
          <a:xfrm>
            <a:off x="9226296" y="219456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345168" y="22311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</a:t>
            </a:r>
            <a:endParaRPr lang="en-US" sz="1500" dirty="0"/>
          </a:p>
        </p:txBody>
      </p:sp>
      <p:sp>
        <p:nvSpPr>
          <p:cNvPr id="41" name="tbl-family_members"/>
          <p:cNvSpPr/>
          <p:nvPr/>
        </p:nvSpPr>
        <p:spPr>
          <a:xfrm>
            <a:off x="9226296" y="2816352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45168" y="2852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家庭成員</a:t>
            </a:r>
            <a:endParaRPr lang="en-US" sz="1500" dirty="0"/>
          </a:p>
        </p:txBody>
      </p:sp>
      <p:sp>
        <p:nvSpPr>
          <p:cNvPr id="43" name="tbl-family_invites"/>
          <p:cNvSpPr/>
          <p:nvPr/>
        </p:nvSpPr>
        <p:spPr>
          <a:xfrm>
            <a:off x="9226296" y="3438144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45168" y="3474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family_invites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邀請</a:t>
            </a:r>
            <a:endParaRPr lang="en-US" sz="1500" dirty="0"/>
          </a:p>
        </p:txBody>
      </p:sp>
      <p:sp>
        <p:nvSpPr>
          <p:cNvPr id="45" name="tbl-guardianships"/>
          <p:cNvSpPr/>
          <p:nvPr/>
        </p:nvSpPr>
        <p:spPr>
          <a:xfrm>
            <a:off x="9226296" y="4059936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45168" y="4096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guardianships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照看關係</a:t>
            </a:r>
            <a:endParaRPr lang="en-US" sz="1500" dirty="0"/>
          </a:p>
        </p:txBody>
      </p:sp>
      <p:sp>
        <p:nvSpPr>
          <p:cNvPr id="47" name="tbl-allowances"/>
          <p:cNvSpPr/>
          <p:nvPr/>
        </p:nvSpPr>
        <p:spPr>
          <a:xfrm>
            <a:off x="9226296" y="4681728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345168" y="471830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allowances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零用金</a:t>
            </a:r>
            <a:endParaRPr lang="en-US" sz="1500" dirty="0"/>
          </a:p>
        </p:txBody>
      </p:sp>
      <p:sp>
        <p:nvSpPr>
          <p:cNvPr id="49" name="tbl-notifications"/>
          <p:cNvSpPr/>
          <p:nvPr/>
        </p:nvSpPr>
        <p:spPr>
          <a:xfrm>
            <a:off x="9226296" y="5303520"/>
            <a:ext cx="2176272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345168" y="534009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通知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兩個 AI 功能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段落記帳（抽取）與財務建議（生成）——模型只做語意判斷，能用程式確定的都不交給模型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段落記帳：一段話變成好幾筆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ic-0-circle"/>
          <p:cNvSpPr/>
          <p:nvPr/>
        </p:nvSpPr>
        <p:spPr>
          <a:xfrm>
            <a:off x="777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tep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720169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一段話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「昨天全聯買衛生紙199，晚上加油」</a:t>
            </a:r>
            <a:endParaRPr lang="en-US" sz="1400" dirty="0"/>
          </a:p>
        </p:txBody>
      </p:sp>
      <p:sp>
        <p:nvSpPr>
          <p:cNvPr id="8" name="step-a-0"/>
          <p:cNvSpPr/>
          <p:nvPr/>
        </p:nvSpPr>
        <p:spPr>
          <a:xfrm>
            <a:off x="2624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"/>
          <p:cNvSpPr/>
          <p:nvPr/>
        </p:nvSpPr>
        <p:spPr>
          <a:xfrm>
            <a:off x="2834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ic-1-circle"/>
          <p:cNvSpPr/>
          <p:nvPr/>
        </p:nvSpPr>
        <p:spPr>
          <a:xfrm>
            <a:off x="3063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tep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641" y="172016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組 prompt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規則＋今天日期＋這個家的分類清單＋一組範例</a:t>
            </a:r>
            <a:endParaRPr lang="en-US" sz="1400" dirty="0"/>
          </a:p>
        </p:txBody>
      </p:sp>
      <p:sp>
        <p:nvSpPr>
          <p:cNvPr id="14" name="step-a-1"/>
          <p:cNvSpPr/>
          <p:nvPr/>
        </p:nvSpPr>
        <p:spPr>
          <a:xfrm>
            <a:off x="4910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tep-2"/>
          <p:cNvSpPr/>
          <p:nvPr/>
        </p:nvSpPr>
        <p:spPr>
          <a:xfrm>
            <a:off x="5120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ic-2-circle"/>
          <p:cNvSpPr/>
          <p:nvPr/>
        </p:nvSpPr>
        <p:spPr>
          <a:xfrm>
            <a:off x="5349240" y="1572768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step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641" y="1720169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49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模型用工具交出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349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record_transactions：每一筆每一欄都要表態，沒講就填 null</a:t>
            </a:r>
            <a:endParaRPr lang="en-US" sz="1400" dirty="0"/>
          </a:p>
        </p:txBody>
      </p:sp>
      <p:sp>
        <p:nvSpPr>
          <p:cNvPr id="20" name="step-a-2"/>
          <p:cNvSpPr/>
          <p:nvPr/>
        </p:nvSpPr>
        <p:spPr>
          <a:xfrm>
            <a:off x="7196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ep-3"/>
          <p:cNvSpPr/>
          <p:nvPr/>
        </p:nvSpPr>
        <p:spPr>
          <a:xfrm>
            <a:off x="7406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ic-3-circle"/>
          <p:cNvSpPr/>
          <p:nvPr/>
        </p:nvSpPr>
        <p:spPr>
          <a:xfrm>
            <a:off x="7635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tep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641" y="1720169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35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程式逐欄驗證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日期重算、金額對原句、分類要在清單裡</a:t>
            </a:r>
            <a:endParaRPr lang="en-US" sz="1400" dirty="0"/>
          </a:p>
        </p:txBody>
      </p:sp>
      <p:sp>
        <p:nvSpPr>
          <p:cNvPr id="26" name="step-a-3"/>
          <p:cNvSpPr/>
          <p:nvPr/>
        </p:nvSpPr>
        <p:spPr>
          <a:xfrm>
            <a:off x="9482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tep-4"/>
          <p:cNvSpPr/>
          <p:nvPr/>
        </p:nvSpPr>
        <p:spPr>
          <a:xfrm>
            <a:off x="9692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tep-ic-4-circle"/>
          <p:cNvSpPr/>
          <p:nvPr/>
        </p:nvSpPr>
        <p:spPr>
          <a:xfrm>
            <a:off x="9921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step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8641" y="1720169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921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人確認才寫入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921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缺的標紅、沒把握的標黃，按確認才存</a:t>
            </a:r>
            <a:endParaRPr lang="en-US" sz="1400" dirty="0"/>
          </a:p>
        </p:txBody>
      </p:sp>
      <p:graphicFrame>
        <p:nvGraphicFramePr>
          <p:cNvPr id="11" name="parse-exa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1371600"/>
                <a:gridCol w="137160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原句的那一段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日期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畫面上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昨天全聯買衛生紙199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10/14（程式依「昨天」算）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日用品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正常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晚上加油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（沒講）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交通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金額標紅、補上才能送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3" name="tool-why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4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5330952"/>
            <a:ext cx="10515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為什麼用工具呼叫（function calling），不是叫模型「回 JSON」？
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工具的參數有 JSON Schema 約束：每一欄都 required、不收多的欄位，Claude 的 strict 模式保證格式一定對。模型要嘛交出合格的結構，要嘛交不出來——不會有「JSON 少一個括號」這種錯。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解析結果：人一眼看得出哪裡要補</a:t>
            </a:r>
            <a:endParaRPr lang="en-US" sz="3200" dirty="0"/>
          </a:p>
        </p:txBody>
      </p:sp>
      <p:sp>
        <p:nvSpPr>
          <p:cNvPr id="3" name="shot-pars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parse" descr="C:\Users\User\Desktop\agent\final_project\report\assets\pa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053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截圖：本機沒接模型時，前端用規則解析的結果（標紅、標黃的方式跟接模型時一樣）</a:t>
            </a:r>
            <a:endParaRPr lang="en-US" sz="1100" dirty="0"/>
          </a:p>
        </p:txBody>
      </p:sp>
      <p:sp>
        <p:nvSpPr>
          <p:cNvPr id="6" name="pars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pars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原句對照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每一筆都標出是原句的哪一段（span），切錯一眼就看得到</a:t>
            </a:r>
            <a:endParaRPr lang="en-US" sz="1300" dirty="0"/>
          </a:p>
        </p:txBody>
      </p:sp>
      <p:sp>
        <p:nvSpPr>
          <p:cNvPr id="10" name="pars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ars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缺的標紅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沒講金額就是空的、標「必填」，不會猜一個數字；補上才能送出</a:t>
            </a:r>
            <a:endParaRPr lang="en-US" sz="1300" dirty="0"/>
          </a:p>
        </p:txBody>
      </p:sp>
      <p:sp>
        <p:nvSpPr>
          <p:cNvPr id="14" name="pars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pars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沒把握的標黃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每一欄各自有信心度，低於 85% 標黃顯示百分比</a:t>
            </a:r>
            <a:endParaRPr lang="en-US" sz="1300" dirty="0"/>
          </a:p>
        </p:txBody>
      </p:sp>
      <p:sp>
        <p:nvSpPr>
          <p:cNvPr id="18" name="pars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pars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模型叫不動也能用</a:t>
            </a:r>
            <a:endParaRPr lang="en-US" sz="1700" dirty="0"/>
          </a:p>
        </p:txBody>
      </p:sp>
      <p:sp>
        <p:nvSpPr>
          <p:cNvPr id="21" name="Text 14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後端回 503 時，前端改用規則切分，寫入照樣走後端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模型負責理解，程式負責確定的事</a:t>
            </a:r>
            <a:endParaRPr lang="en-US" sz="3200" dirty="0"/>
          </a:p>
        </p:txBody>
      </p:sp>
      <p:sp>
        <p:nvSpPr>
          <p:cNvPr id="3" name="split-0"/>
          <p:cNvSpPr/>
          <p:nvPr/>
        </p:nvSpPr>
        <p:spPr>
          <a:xfrm>
            <a:off x="54864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plit-ic-0-circle"/>
          <p:cNvSpPr/>
          <p:nvPr/>
        </p:nvSpPr>
        <p:spPr>
          <a:xfrm>
            <a:off x="868680" y="16459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spli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交給模型（語意判斷）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把一段話切成幾筆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「全家」是店名還是家人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「退款」「賣二手」是收入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從分類清單挑最像的那一個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沒講的欄位老實填 null</a:t>
            </a:r>
            <a:endParaRPr lang="en-US" sz="1500" dirty="0"/>
          </a:p>
        </p:txBody>
      </p:sp>
      <p:sp>
        <p:nvSpPr>
          <p:cNvPr id="8" name="split-1"/>
          <p:cNvSpPr/>
          <p:nvPr/>
        </p:nvSpPr>
        <p:spPr>
          <a:xfrm>
            <a:off x="617220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plit-ic-1-circle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pli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交給程式（確定的計算）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「昨天」「上禮拜三」「9/17」「28號」換成日期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金額跟原句的數字對不上 → 信心度壓到 50%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分類一定要在清單裡、收支要對得上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金額 &gt; 0，抽不到放進 missing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確認後才寫資料庫（全部成功或全部不寫）</a:t>
            </a:r>
            <a:endParaRPr lang="en-US" sz="1500" dirty="0"/>
          </a:p>
        </p:txBody>
      </p:sp>
      <p:sp>
        <p:nvSpPr>
          <p:cNvPr id="13" name="date-why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15556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為什麼日期不給模型算：模型最常錯的就是差一天，而這種錯使用者幾乎不會發現，月統計卻已經跑掉。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財務建議：每一個數字都要找得到出處</a:t>
            </a:r>
            <a:endParaRPr lang="en-US" sz="3200" dirty="0"/>
          </a:p>
        </p:txBody>
      </p:sp>
      <p:sp>
        <p:nvSpPr>
          <p:cNvPr id="3" name="adv-0"/>
          <p:cNvSpPr/>
          <p:nvPr/>
        </p:nvSpPr>
        <p:spPr>
          <a:xfrm>
            <a:off x="54864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資料庫算數字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收入、支出、各分類、可支配上限</a:t>
            </a:r>
            <a:endParaRPr lang="en-US" sz="1300" dirty="0"/>
          </a:p>
        </p:txBody>
      </p:sp>
      <p:sp>
        <p:nvSpPr>
          <p:cNvPr id="6" name="adv-a-0"/>
          <p:cNvSpPr/>
          <p:nvPr/>
        </p:nvSpPr>
        <p:spPr>
          <a:xfrm>
            <a:off x="318211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adv-1"/>
          <p:cNvSpPr/>
          <p:nvPr/>
        </p:nvSpPr>
        <p:spPr>
          <a:xfrm>
            <a:off x="338328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先算好比例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支出佔收入、用掉幾成、各分類佔比</a:t>
            </a:r>
            <a:endParaRPr lang="en-US" sz="1300" dirty="0"/>
          </a:p>
        </p:txBody>
      </p:sp>
      <p:sp>
        <p:nvSpPr>
          <p:cNvPr id="10" name="adv-a-1"/>
          <p:cNvSpPr/>
          <p:nvPr/>
        </p:nvSpPr>
        <p:spPr>
          <a:xfrm>
            <a:off x="601675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adv-2"/>
          <p:cNvSpPr/>
          <p:nvPr/>
        </p:nvSpPr>
        <p:spPr>
          <a:xfrm>
            <a:off x="621792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模型只寫句子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結構化輸出；理財習慣標成「資料，不是指令」</a:t>
            </a:r>
            <a:endParaRPr lang="en-US" sz="1300" dirty="0"/>
          </a:p>
        </p:txBody>
      </p:sp>
      <p:sp>
        <p:nvSpPr>
          <p:cNvPr id="14" name="adv-a-2"/>
          <p:cNvSpPr/>
          <p:nvPr/>
        </p:nvSpPr>
        <p:spPr>
          <a:xfrm>
            <a:off x="885139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adv-3"/>
          <p:cNvSpPr/>
          <p:nvPr/>
        </p:nvSpPr>
        <p:spPr>
          <a:xfrm>
            <a:off x="905256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檢查數字出處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找不到出處的那一則，信心度壓到 30%</a:t>
            </a:r>
            <a:endParaRPr lang="en-US" sz="1300" dirty="0"/>
          </a:p>
        </p:txBody>
      </p:sp>
      <p:sp>
        <p:nvSpPr>
          <p:cNvPr id="18" name="adv-ex-0"/>
          <p:cNvSpPr/>
          <p:nvPr/>
        </p:nvSpPr>
        <p:spPr>
          <a:xfrm>
            <a:off x="54864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19" name="adv-ex-ic-0-circle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adv-ex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605479"/>
            <a:ext cx="241402" cy="24140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有出處，照常顯示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「這個月已經用掉 86% 的可支配上限」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86% 是程式先算好的比例 → 信心度照模型給的</a:t>
            </a:r>
            <a:endParaRPr lang="en-US" sz="1300" dirty="0"/>
          </a:p>
        </p:txBody>
      </p:sp>
      <p:sp>
        <p:nvSpPr>
          <p:cNvPr id="24" name="adv-ex-1"/>
          <p:cNvSpPr/>
          <p:nvPr/>
        </p:nvSpPr>
        <p:spPr>
          <a:xfrm>
            <a:off x="617220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25" name="adv-ex-ic-1-circle"/>
          <p:cNvSpPr/>
          <p:nvPr/>
        </p:nvSpPr>
        <p:spPr>
          <a:xfrm>
            <a:off x="6446520" y="3474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6" name="adv-ex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279" y="3605479"/>
            <a:ext cx="241402" cy="24140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3232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沒出處，標成要自己驗算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44652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「照這樣一年會花 103,200 元」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446520" y="4572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103,200 是模型自己乘出來的 → 信心度 30%，畫面標出來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邊界規則：不給投資、保險、稅務建議；不對個人做價值判斷（不說「你太浪費」）；使用者填的理財習慣只當背景。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怎麼量 AI 解析的成績</a:t>
            </a:r>
            <a:endParaRPr lang="en-US" sz="3200" dirty="0"/>
          </a:p>
        </p:txBody>
      </p:sp>
      <p:graphicFrame>
        <p:nvGraphicFramePr>
          <p:cNvPr id="3" name="chart-tags" descr=""/>
          <p:cNvGraphicFramePr/>
          <p:nvPr/>
        </p:nvGraphicFramePr>
        <p:xfrm>
          <a:off x="548640" y="137160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0" y="1417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看什麼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切分正確率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切出來的筆數跟答案一樣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4871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整題完全正確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筆數對、每一筆四欄都對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305409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日期／金額／收支／分類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逐欄正確率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362102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分類 Macro-F1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小分類跟大分類一樣重要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沒講金額卻填數字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幻覺率：答案是空的、模型卻給了數字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7548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延遲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p50／p95 秒數</a:t>
            </a:r>
            <a:endParaRPr lang="en-US" sz="1400" dirty="0"/>
          </a:p>
        </p:txBody>
      </p:sp>
      <p:sp>
        <p:nvSpPr>
          <p:cNvPr id="11" name="eval-note"/>
          <p:cNvSpPr/>
          <p:nvPr/>
        </p:nvSpPr>
        <p:spPr>
          <a:xfrm>
            <a:off x="6583680" y="5440680"/>
            <a:ext cx="502920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54864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答案由 AI 產生，再用程式獨立驗算金額、日期、收支（0 錯）；人工抽查 0 題。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評測結果：模型 vs 前端規則</a:t>
            </a:r>
            <a:endParaRPr lang="en-US" sz="3200" dirty="0"/>
          </a:p>
        </p:txBody>
      </p:sp>
      <p:graphicFrame>
        <p:nvGraphicFramePr>
          <p:cNvPr id="3" name="chart-eval" descr=""/>
          <p:cNvGraphicFramePr/>
          <p:nvPr/>
        </p:nvGraphicFramePr>
        <p:xfrm>
          <a:off x="548640" y="137160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val-side"/>
          <p:cNvSpPr/>
          <p:nvPr/>
        </p:nvSpPr>
        <p:spPr>
          <a:xfrm>
            <a:off x="7863840" y="1463040"/>
            <a:ext cx="3749040" cy="4617720"/>
          </a:xfrm>
          <a:prstGeom prst="roundRect">
            <a:avLst>
              <a:gd name="adj" fmla="val 341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數字背後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194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整題完全正確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63.4%（規則）vs 6.9%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8529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分類正確率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1272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86.4% vs 24.8%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511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沒講金額卻填數字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37856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0.0% vs 50.0%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169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每句要等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44439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27.27 秒（p50，本機 CPU）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892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1.5B 的推理模型零樣本做記帳抽欄位，全面輸給規則；日期差不多，是因為日期本來就由程式依原句重算。上線要用大模型（商業 API）或先微調。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錯誤分析：deepseek-r1:1.5b 錯在哪</a:t>
            </a:r>
            <a:endParaRPr lang="en-US" sz="3200" dirty="0"/>
          </a:p>
        </p:txBody>
      </p:sp>
      <p:graphicFrame>
        <p:nvGraphicFramePr>
          <p:cNvPr id="17" name="mis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句子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錯在哪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早餐55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分類：居住 → 應為 餐飲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不會照分類清單挑，常挑到不相干的分類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宵夜鹽酥雞150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切成 2 筆（答案 1 筆）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把一筆切成兩筆，或把兩筆併成一筆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Uber 回家 270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收支：（沒填） → 應為 支出；分類：薪資 → 應為 交通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收支沒填或填反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全家一起吃火鍋 1800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金額：（沒填） → 應為 1800；分類：醫療 → 應為 餐飲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金額漏抄或抄錯；沒講金額時反而自己補一個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小孩補習費四千五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日期：（沒填） → 應為 2026-10-14；分類：（沒填） → 應為 教育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整筆欄位都沒交出來（有時間詞的日期由程式依原句重算）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miss-take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5321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小模型零樣本：分類幾乎亂挑、沒講金額一半會自己補數字，還會把原句轉成簡體。上線要用大模型，或先微調。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加分項：微調自己的小模型當對照組</a:t>
            </a:r>
            <a:endParaRPr lang="en-US" sz="3200" dirty="0"/>
          </a:p>
        </p:txBody>
      </p:sp>
      <p:sp>
        <p:nvSpPr>
          <p:cNvPr id="3" name="ft-0"/>
          <p:cNvSpPr/>
          <p:nvPr/>
        </p:nvSpPr>
        <p:spPr>
          <a:xfrm>
            <a:off x="5486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t-ic-0-circle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f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132" y="1710660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產生訓練資料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1,500 題，一半是一段多筆</a:t>
            </a:r>
            <a:endParaRPr lang="en-US" sz="1300" dirty="0"/>
          </a:p>
        </p:txBody>
      </p:sp>
      <p:sp>
        <p:nvSpPr>
          <p:cNvPr id="8" name="ft-1"/>
          <p:cNvSpPr/>
          <p:nvPr/>
        </p:nvSpPr>
        <p:spPr>
          <a:xfrm>
            <a:off x="242316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t-ic-1-circle"/>
          <p:cNvSpPr/>
          <p:nvPr/>
        </p:nvSpPr>
        <p:spPr>
          <a:xfrm>
            <a:off x="265176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652" y="1710660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0604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轉成對話格式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prompt 直接用上線那一支，一字不差</a:t>
            </a:r>
            <a:endParaRPr lang="en-US" sz="1300" dirty="0"/>
          </a:p>
        </p:txBody>
      </p:sp>
      <p:sp>
        <p:nvSpPr>
          <p:cNvPr id="13" name="ft-2"/>
          <p:cNvSpPr/>
          <p:nvPr/>
        </p:nvSpPr>
        <p:spPr>
          <a:xfrm>
            <a:off x="429768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t-ic-2-circle"/>
          <p:cNvSpPr/>
          <p:nvPr/>
        </p:nvSpPr>
        <p:spPr>
          <a:xfrm>
            <a:off x="4526280" y="1572768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ft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172" y="1710660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48056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Colab 免費 T4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48056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Unsloth QLoRA 微調 Qwen2.5-1.5B</a:t>
            </a:r>
            <a:endParaRPr lang="en-US" sz="1300" dirty="0"/>
          </a:p>
        </p:txBody>
      </p:sp>
      <p:sp>
        <p:nvSpPr>
          <p:cNvPr id="18" name="ft-3"/>
          <p:cNvSpPr/>
          <p:nvPr/>
        </p:nvSpPr>
        <p:spPr>
          <a:xfrm>
            <a:off x="617220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t-ic-3-circle"/>
          <p:cNvSpPr/>
          <p:nvPr/>
        </p:nvSpPr>
        <p:spPr>
          <a:xfrm>
            <a:off x="640080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ft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692" y="1710660"/>
            <a:ext cx="254569" cy="25456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 GGUF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5508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q4_k_m，約 1 GB</a:t>
            </a:r>
            <a:endParaRPr lang="en-US" sz="1300" dirty="0"/>
          </a:p>
        </p:txBody>
      </p:sp>
      <p:sp>
        <p:nvSpPr>
          <p:cNvPr id="23" name="ft-4"/>
          <p:cNvSpPr/>
          <p:nvPr/>
        </p:nvSpPr>
        <p:spPr>
          <a:xfrm>
            <a:off x="804672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t-ic-4-circle"/>
          <p:cNvSpPr/>
          <p:nvPr/>
        </p:nvSpPr>
        <p:spPr>
          <a:xfrm>
            <a:off x="827532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t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212" y="1710660"/>
            <a:ext cx="254569" cy="25456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上線服務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Ollama 或 Hugging Face Space</a:t>
            </a:r>
            <a:endParaRPr lang="en-US" sz="1300" dirty="0"/>
          </a:p>
        </p:txBody>
      </p:sp>
      <p:sp>
        <p:nvSpPr>
          <p:cNvPr id="28" name="ft-5"/>
          <p:cNvSpPr/>
          <p:nvPr/>
        </p:nvSpPr>
        <p:spPr>
          <a:xfrm>
            <a:off x="99212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ft-ic-5-circle"/>
          <p:cNvSpPr/>
          <p:nvPr/>
        </p:nvSpPr>
        <p:spPr>
          <a:xfrm>
            <a:off x="101498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ft-ic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732" y="1710660"/>
            <a:ext cx="254569" cy="254569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041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同一份題目評分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101041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跟商業 API、規則放在同一張圖</a:t>
            </a:r>
            <a:endParaRPr lang="en-US" sz="1300" dirty="0"/>
          </a:p>
        </p:txBody>
      </p:sp>
      <p:sp>
        <p:nvSpPr>
          <p:cNvPr id="33" name="ft-pt-0"/>
          <p:cNvSpPr/>
          <p:nvPr/>
        </p:nvSpPr>
        <p:spPr>
          <a:xfrm>
            <a:off x="54864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分類 id 每題打亂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82296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逼模型讀 prompt 裡的清單，不是背「餐飲＝1」。每個家庭的自訂分類 id 都不一樣。</a:t>
            </a:r>
            <a:endParaRPr lang="en-US" sz="1500" dirty="0"/>
          </a:p>
        </p:txBody>
      </p:sp>
      <p:sp>
        <p:nvSpPr>
          <p:cNvPr id="36" name="ft-pt-1"/>
          <p:cNvSpPr/>
          <p:nvPr/>
        </p:nvSpPr>
        <p:spPr>
          <a:xfrm>
            <a:off x="429768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457200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只學回答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457200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prompt 很長（規則＋分類＋工具定義），loss 不花在背 prompt 上。</a:t>
            </a:r>
            <a:endParaRPr lang="en-US" sz="1500" dirty="0"/>
          </a:p>
        </p:txBody>
      </p:sp>
      <p:sp>
        <p:nvSpPr>
          <p:cNvPr id="39" name="ft-pt-2"/>
          <p:cNvSpPr/>
          <p:nvPr/>
        </p:nvSpPr>
        <p:spPr>
          <a:xfrm>
            <a:off x="804672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832104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訓練跟上線一字不差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訓練資料直接 import 上線的 build_prompt；改了 prompt，測試會紅燈提醒重產資料。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測試：自動測試＋真的伺服器走一遍</a:t>
            </a:r>
            <a:endParaRPr lang="en-US" sz="3200" dirty="0"/>
          </a:p>
        </p:txBody>
      </p:sp>
      <p:sp>
        <p:nvSpPr>
          <p:cNvPr id="3" name="test-unit"/>
          <p:cNvSpPr/>
          <p:nvPr/>
        </p:nvSpPr>
        <p:spPr>
          <a:xfrm>
            <a:off x="548640" y="1417320"/>
            <a:ext cx="3383280" cy="2194560"/>
          </a:xfrm>
          <a:prstGeom prst="roundRect">
            <a:avLst>
              <a:gd name="adj" fmla="val 58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738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個自動測試，全部通過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每一支路由都有驗收測試，模型呼叫層、日期換算、資料品質也有</a:t>
            </a:r>
            <a:endParaRPr lang="en-US" sz="1200" dirty="0"/>
          </a:p>
        </p:txBody>
      </p:sp>
      <p:sp>
        <p:nvSpPr>
          <p:cNvPr id="7" name="test-e2e"/>
          <p:cNvSpPr/>
          <p:nvPr/>
        </p:nvSpPr>
        <p:spPr>
          <a:xfrm>
            <a:off x="548640" y="3840480"/>
            <a:ext cx="3383280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85/85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端到端步驟通過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49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認證 32/32　家庭 17/17　記帳 23/23　數字 13/13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端到端測試驗到的幾件事</a:t>
            </a:r>
            <a:endParaRPr lang="en-US" sz="1800" dirty="0"/>
          </a:p>
        </p:txBody>
      </p:sp>
      <p:sp>
        <p:nvSpPr>
          <p:cNvPr id="12" name="chk-0-circle"/>
          <p:cNvSpPr/>
          <p:nvPr/>
        </p:nvSpPr>
        <p:spPr>
          <a:xfrm>
            <a:off x="43434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chk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3252" y="2111532"/>
            <a:ext cx="184343" cy="18434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8463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沒登入打 API 一律 401</a:t>
            </a:r>
            <a:endParaRPr lang="en-US" sz="1400" dirty="0"/>
          </a:p>
        </p:txBody>
      </p:sp>
      <p:sp>
        <p:nvSpPr>
          <p:cNvPr id="15" name="chk-1-circle"/>
          <p:cNvSpPr/>
          <p:nvPr/>
        </p:nvSpPr>
        <p:spPr>
          <a:xfrm>
            <a:off x="80010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hk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852" y="2111532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039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子女看不到家長的帳（403）</a:t>
            </a:r>
            <a:endParaRPr lang="en-US" sz="1400" dirty="0"/>
          </a:p>
        </p:txBody>
      </p:sp>
      <p:sp>
        <p:nvSpPr>
          <p:cNvPr id="18" name="chk-2-circle"/>
          <p:cNvSpPr/>
          <p:nvPr/>
        </p:nvSpPr>
        <p:spPr>
          <a:xfrm>
            <a:off x="43434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chk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52" y="2897916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463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外人改不了別人的帳</a:t>
            </a:r>
            <a:endParaRPr lang="en-US" sz="1400" dirty="0"/>
          </a:p>
        </p:txBody>
      </p:sp>
      <p:sp>
        <p:nvSpPr>
          <p:cNvPr id="21" name="chk-3-circle"/>
          <p:cNvSpPr/>
          <p:nvPr/>
        </p:nvSpPr>
        <p:spPr>
          <a:xfrm>
            <a:off x="80010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chk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852" y="2897916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5039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平台管理員讀不到任何人的帳</a:t>
            </a:r>
            <a:endParaRPr lang="en-US" sz="1400" dirty="0"/>
          </a:p>
        </p:txBody>
      </p:sp>
      <p:sp>
        <p:nvSpPr>
          <p:cNvPr id="24" name="chk-4-circle"/>
          <p:cNvSpPr/>
          <p:nvPr/>
        </p:nvSpPr>
        <p:spPr>
          <a:xfrm>
            <a:off x="43434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hk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252" y="3684300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8463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邀請碼用過、刪掉就不能再用</a:t>
            </a:r>
            <a:endParaRPr lang="en-US" sz="1400" dirty="0"/>
          </a:p>
        </p:txBody>
      </p:sp>
      <p:sp>
        <p:nvSpPr>
          <p:cNvPr id="27" name="chk-5-circle"/>
          <p:cNvSpPr/>
          <p:nvPr/>
        </p:nvSpPr>
        <p:spPr>
          <a:xfrm>
            <a:off x="80010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chk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852" y="3684300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5039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結算後的活動帳本不能再記</a:t>
            </a:r>
            <a:endParaRPr lang="en-US" sz="1400" dirty="0"/>
          </a:p>
        </p:txBody>
      </p:sp>
      <p:sp>
        <p:nvSpPr>
          <p:cNvPr id="30" name="chk-6-circle"/>
          <p:cNvSpPr/>
          <p:nvPr/>
        </p:nvSpPr>
        <p:spPr>
          <a:xfrm>
            <a:off x="43434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chk-6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3252" y="4470684"/>
            <a:ext cx="184343" cy="18434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8463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改密碼後其他裝置被登出</a:t>
            </a:r>
            <a:endParaRPr lang="en-US" sz="1400" dirty="0"/>
          </a:p>
        </p:txBody>
      </p:sp>
      <p:sp>
        <p:nvSpPr>
          <p:cNvPr id="33" name="chk-7-circle"/>
          <p:cNvSpPr/>
          <p:nvPr/>
        </p:nvSpPr>
        <p:spPr>
          <a:xfrm>
            <a:off x="80010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chk-7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0852" y="4470684"/>
            <a:ext cx="184343" cy="184343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5039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段落確認寫入：全部成功或全部不寫</a:t>
            </a:r>
            <a:endParaRPr lang="en-US" sz="1400" dirty="0"/>
          </a:p>
        </p:txBody>
      </p:sp>
      <p:sp>
        <p:nvSpPr>
          <p:cNvPr id="36" name="chk-8-circle"/>
          <p:cNvSpPr/>
          <p:nvPr/>
        </p:nvSpPr>
        <p:spPr>
          <a:xfrm>
            <a:off x="43434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7" name="chk-8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3252" y="5257068"/>
            <a:ext cx="184343" cy="184343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8463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跨過提醒門檻，鈴鐺出現提醒</a:t>
            </a:r>
            <a:endParaRPr lang="en-US" sz="1400" dirty="0"/>
          </a:p>
        </p:txBody>
      </p:sp>
      <p:sp>
        <p:nvSpPr>
          <p:cNvPr id="39" name="chk-9-circle"/>
          <p:cNvSpPr/>
          <p:nvPr/>
        </p:nvSpPr>
        <p:spPr>
          <a:xfrm>
            <a:off x="80010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0" name="chk-9-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0852" y="5257068"/>
            <a:ext cx="184343" cy="184343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5039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停權的人登不進去，解除後恢復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限制與下一步</a:t>
            </a:r>
            <a:endParaRPr lang="en-US" sz="3200" dirty="0"/>
          </a:p>
        </p:txBody>
      </p:sp>
      <p:sp>
        <p:nvSpPr>
          <p:cNvPr id="3" name="lim-0"/>
          <p:cNvSpPr/>
          <p:nvPr/>
        </p:nvSpPr>
        <p:spPr>
          <a:xfrm>
            <a:off x="54864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ic-0-circle"/>
          <p:cNvSpPr/>
          <p:nvPr/>
        </p:nvSpPr>
        <p:spPr>
          <a:xfrm>
            <a:off x="868680" y="16459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lim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18004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限制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留出集與訓練資料由 AI 產生；程式驗算過金額、日期、收支，但句型比真人整齊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只在本機測了 deepseek-r1:1.5b；商業 API 與微調模型還沒跑同一份題目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數字出處檢查只確認數字有來源，不確認套在對的對象上（本機模型把總支出的 24.9% 說成交通）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免費主機會休眠：第一次開要等一下；CPU 跑開源模型一段話要十幾秒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財務建議沒有標準答案，只能用規則檢查（數字出處、邊界）加上人看</a:t>
            </a:r>
            <a:endParaRPr lang="en-US" sz="1500" dirty="0"/>
          </a:p>
        </p:txBody>
      </p:sp>
      <p:sp>
        <p:nvSpPr>
          <p:cNvPr id="8" name="lim-1"/>
          <p:cNvSpPr/>
          <p:nvPr/>
        </p:nvSpPr>
        <p:spPr>
          <a:xfrm>
            <a:off x="617220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-ic-1-circle"/>
          <p:cNvSpPr/>
          <p:nvPr/>
        </p:nvSpPr>
        <p:spPr>
          <a:xfrm>
            <a:off x="6492240" y="16459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im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774" y="18004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下一步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把使用者改過的解析（nlp_parses.user_corrected）收進下一版留出集與訓練資料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微調模型與商業 API 在同一張表比較，決定哪一個上線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建議加上「跟上個月比」的趨勢敘述（數字一樣由資料庫先算）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家長端的零用金超支即時通知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謝謝聆聽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github.com/cbes502034/final_project　｜　fambudget-web.onrender.com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期末報告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2026-10-15T06:12:34Z</dcterms:created>
  <dcterms:modified xsi:type="dcterms:W3CDTF">2026-10-15T06:12:34Z</dcterms:modified>
</cp:coreProperties>
</file>