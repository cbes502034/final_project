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2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開場" id="{51b2b6bf-1969-dc11-8cd7-ee936ea0507e}">
          <p14:sldIdLst>
            <p14:sldId id="256"/>
            <p14:sldId id="257"/>
            <p14:sldId id="258"/>
          </p14:sldIdLst>
        </p14:section>
        <p14:section name="系統" id="{7e7ad0ed-4edd-47b3-6fa4-58bdcfed2aa2}">
          <p14:sldIdLst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AI 功能" id="{714282e9-3de9-1a31-dce4-72a096c64203}">
          <p14:sldIdLst>
            <p14:sldId id="266"/>
            <p14:sldId id="267"/>
            <p14:sldId id="268"/>
            <p14:sldId id="269"/>
            <p14:sldId id="270"/>
          </p14:sldIdLst>
        </p14:section>
        <p14:section name="評測與測試" id="{126ae269-941a-fe38-d412-31f0e36b8af6}">
          <p14:sldIdLst>
            <p14:sldId id="271"/>
            <p14:sldId id="272"/>
            <p14:sldId id="273"/>
            <p14:sldId id="274"/>
            <p14:sldId id="275"/>
            <p14:sldId id="276"/>
          </p14:sldIdLst>
        </p14:section>
        <p14:section name="結語" id="{bc94f67e-ea57-d0f9-c430-29fce81fc02d}">
          <p14:sldIdLst>
            <p14:sldId id="277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0B2A5B"/>
                </a:solidFill>
                <a:latin typeface="+mn-lt"/>
              </a:defRPr>
            </a:pPr>
            <a:r>
              <a:rPr sz="1500" b="0" i="0" u="none" strike="noStrike">
                <a:solidFill>
                  <a:srgbClr val="0B2A5B"/>
                </a:solidFill>
                <a:latin typeface="+mn-lt"/>
              </a:rPr>
              <a:t>留出集 101 題（125 筆）的題型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題數</c:v>
                </c:pt>
              </c:strCache>
            </c:strRef>
          </c:tx>
          <c:spPr>
            <a:solidFill>
              <a:srgbClr val="1F5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6B7A99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單筆</c:v>
                  </c:pt>
                  <c:pt idx="1">
                    <c:v>一段多筆</c:v>
                  </c:pt>
                  <c:pt idx="2">
                    <c:v>收入</c:v>
                  </c:pt>
                  <c:pt idx="3">
                    <c:v>中文數字</c:v>
                  </c:pt>
                  <c:pt idx="4">
                    <c:v>店名陷阱</c:v>
                  </c:pt>
                  <c:pt idx="5">
                    <c:v>難題</c:v>
                  </c:pt>
                  <c:pt idx="6">
                    <c:v>相對日期</c:v>
                  </c:pt>
                  <c:pt idx="7">
                    <c:v>絕對日期</c:v>
                  </c:pt>
                  <c:pt idx="8">
                    <c:v>沒講金額</c:v>
                  </c:pt>
                  <c:pt idx="9">
                    <c:v>星期幾</c:v>
                  </c:pt>
                  <c:pt idx="10">
                    <c:v>沒有標點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83</c:v>
                </c:pt>
                <c:pt idx="1">
                  <c:v>18</c:v>
                </c:pt>
                <c:pt idx="2">
                  <c:v>16</c:v>
                </c:pt>
                <c:pt idx="3">
                  <c:v>15</c:v>
                </c:pt>
                <c:pt idx="4">
                  <c:v>9</c:v>
                </c:pt>
                <c:pt idx="5">
                  <c:v>9</c:v>
                </c:pt>
                <c:pt idx="6">
                  <c:v>9</c:v>
                </c:pt>
                <c:pt idx="7">
                  <c:v>7</c:v>
                </c:pt>
                <c:pt idx="8">
                  <c:v>6</c:v>
                </c:pt>
                <c:pt idx="9">
                  <c:v>6</c:v>
                </c:pt>
                <c:pt idx="10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6B7A99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6233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2A5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B2A5B"/>
                </a:solidFill>
                <a:latin typeface="+mn-lt"/>
              </a:rPr>
              <a:t>正確率（%）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前端規則（基準）</c:v>
                </c:pt>
              </c:strCache>
            </c:strRef>
          </c:tx>
          <c:spPr>
            <a:solidFill>
              <a:srgbClr val="6B7A99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33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切分</c:v>
                  </c:pt>
                  <c:pt idx="1">
                    <c:v>整題完全正確</c:v>
                  </c:pt>
                  <c:pt idx="2">
                    <c:v>日期</c:v>
                  </c:pt>
                  <c:pt idx="3">
                    <c:v>金額</c:v>
                  </c:pt>
                  <c:pt idx="4">
                    <c:v>分類</c:v>
                  </c:pt>
                  <c:pt idx="5">
                    <c:v>分類 Macro-F1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96</c:v>
                </c:pt>
                <c:pt idx="1">
                  <c:v>63.4</c:v>
                </c:pt>
                <c:pt idx="2">
                  <c:v>84.8</c:v>
                </c:pt>
                <c:pt idx="3">
                  <c:v>90.4</c:v>
                </c:pt>
                <c:pt idx="4">
                  <c:v>86.4</c:v>
                </c:pt>
                <c:pt idx="5">
                  <c:v>79.1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Claude（線上，含輸出檢查）</c:v>
                </c:pt>
              </c:strCache>
            </c:strRef>
          </c:tx>
          <c:spPr>
            <a:solidFill>
              <a:srgbClr val="1F5FB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33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切分</c:v>
                  </c:pt>
                  <c:pt idx="1">
                    <c:v>整題完全正確</c:v>
                  </c:pt>
                  <c:pt idx="2">
                    <c:v>日期</c:v>
                  </c:pt>
                  <c:pt idx="3">
                    <c:v>金額</c:v>
                  </c:pt>
                  <c:pt idx="4">
                    <c:v>分類</c:v>
                  </c:pt>
                  <c:pt idx="5">
                    <c:v>分類 Macro-F1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deepseek-r1:1.5b</c:v>
                </c:pt>
              </c:strCache>
            </c:strRef>
          </c:tx>
          <c:spPr>
            <a:solidFill>
              <a:srgbClr val="13A07A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33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切分</c:v>
                  </c:pt>
                  <c:pt idx="1">
                    <c:v>整題完全正確</c:v>
                  </c:pt>
                  <c:pt idx="2">
                    <c:v>日期</c:v>
                  </c:pt>
                  <c:pt idx="3">
                    <c:v>金額</c:v>
                  </c:pt>
                  <c:pt idx="4">
                    <c:v>分類</c:v>
                  </c:pt>
                  <c:pt idx="5">
                    <c:v>分類 Macro-F1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84.2</c:v>
                </c:pt>
                <c:pt idx="1">
                  <c:v>6.9</c:v>
                </c:pt>
                <c:pt idx="2">
                  <c:v>84</c:v>
                </c:pt>
                <c:pt idx="3">
                  <c:v>73.6</c:v>
                </c:pt>
                <c:pt idx="4">
                  <c:v>24.8</c:v>
                </c:pt>
                <c:pt idx="5">
                  <c:v>12.9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6233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6233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0"/>
        <c:axPos val="l"/>
        <c:majorGridlines>
          <c:spPr>
            <a:ln w="9525" cap="flat">
              <a:solidFill>
                <a:srgbClr val="E3E9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99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6233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大家好，我們的題目是家庭記帳 FamBudget。一句話：使用者說一段話，系統用大型語言模型切成好幾筆帳，家人之間依權限看得到彼此，財務建議的每一個數字都有出處。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記帳 App 很多，但大家還是記不下去。我們觀察到三個問題：輸入太麻煩、家人各記各的、AI 建議沒有根據。後面每一段都對應其中一個問題。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先講成果。79 支 API、22 張表、850 個自動測試全部通過；端到端測試用真的伺服器把四個領域走一遍，96 個步驟全部通過。AI 解析有 101 題的留出集來量成績。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架構是前後端分離。前端是純靜態網頁，所有資料都經過 api.js 這一個入口。後端用 FastAPI，依領域分成認證、記帳、數字、家庭四塊。模型服務可以換，叫不動的時候系統不會壞，前端會退回規則解析。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這是登入後的首頁。最重要的數字是「這個月還可以花多少」：收入減掉每月想存的錢，就是可以花的上限。右邊是常用功能。整個網站在手機上也能用。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左邊是收支明細，每一筆都標了來源，看得出是段落記帳還是手動記的。右邊是統計，按月對照、近六個月的趨勢，還有錢花在哪。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家庭功能的重點是權限。這張表是後端實際的規則：家長看得到照看中孩子的帳，子女看不到家長的；平台管理員只能停權、看帳號狀態與安全事件，讀不到任何人的帳。家長切換成孩子帳號這個功能，我們刻意不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帳號這一塊有兩個重點。第一，註冊完不會直接登入：畫面回到登入頁、請他去收信，點了信裡的按鈕才登入，接著做個人化設定和新手導覽；還沒驗證的人進不了設定。第二，使用者登記的東西都能自己刪：收支、建議、通知、自訂分類，連帳號本身都可以。刪分類不會讓帳消失，會改到「其他」；刪帳號要再輸入密碼和確認碼，還在家庭裡的要先退出，才不會讓家人的帳本少一個人卻沒人知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平台管理員的畫面。上面是即時的數字，左邊每個帳號一個燈號，右邊是被規則擋下的安全事件。規則都是數次數，例如同一個帳號十五分鐘錯五次密碼就先鎖十五分鐘；帳號不存在也一樣鎖，才不會洩漏帳號在不在。規則只暫時擋，要不要停權由管理員決定。我們刻意不讓 AI 自動封鎖：這些都是明確的事實，用規則判斷最準，AI 只會多出誤判跟費用。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資料庫一共 22 張表，跟 API 一樣依四個領域分。nlp_parses 會記下每一次 AI 解析的原始結果與使用者改了什麼，之後可以拿來當評測與訓練資料；security_events 與 error_logs 是平台管理頁即時看的兩張表，都不放任何金額。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接下來是 AI 的部分。整份設計只有一個原則：模型只做語意判斷，凡是能用程式確定的東西，都不交給模型。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段落記帳分五步。第三步是唯一交給模型的：用 record_transactions 這個工具把好幾筆交出來。為什麼用工具呼叫？因為參數有 schema 約束，格式由服務端保證。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這是解析完的畫面。每一筆都對照原句的哪一段；沒講金額的那一格是空的、標紅，使用者一定會發現，比猜一個錯的數字安全。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是整個設計的核心，也是我們的輸出管理：模型說的不算，原句寫的才算。左邊是模型擅長的語意判斷；右邊是程式逐筆對事實。例如句子裡寫上禮拜三，模型就算給錯日期，程式也會依原句重算；原句裡沒有任何數字，模型填的金額一律清掉。備註也一樣：模型常把整段原句當備註，程式會拿掉連接詞、時間、地點、金額和動詞，只留買了什麼。使用者改過的分類也會記下來，下次同一個品項先照他的習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財務建議的原則是數字由資料庫算，模型只寫句子。模型寫回來之後，程式會把每一個數字拿去比對出處，也檢查有沒有套錯分類。像一年會花十萬三千二這種模型自己乘出來的數字，那一則就不顯示——以前是壓低信心度，但畫面上沒有顯示信心度，錯的數字照樣被當成事實，所以改成直接不要。上線實測時，每一則建議的數字我們都手算對過，11 個數字全對。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我們用 101 題、125 筆的留出集來量解析的成績，題型包含一段多筆、中文數字、相對日期、沒講金額這些難點。只比日期、金額、收支、分類四欄。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這是評測結果，三套系統用同一份 101 題。前端規則的整題完全正確率是 63.4%。線上那一套是 Claude 加上我們的輸出管理，直接打部署好的 API 量的，整題完全正確 100.0%。本機的 1.5B 小模型零樣本只有 6.9%，分類幾乎亂挑，每句還要等二三十秒。要提醒的是，題目是 AI 產生的，比真人說話整齊，所以一百分不代表不會錯；上線後使用者改過的解析，會收回來當新的題目。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這幾題是deepseek-r1:1.5b錯的例子，每一種錯誤類型挑一題。線上那一套在這份題目沒有錯題，所以這裡看小模型錯在哪，說明為什麼不能拿它直接上線。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微調是加分項。資料用模板產生 1500 題，prompt 跟上線用的是同一支函式。設計上最重要的一點是分類 id 每題打亂，讓模型學會讀清單。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測試分兩層。850 個自動測試在每次改程式時跑；端到端測試則是真的開一台伺服器、用全新的資料庫，從註冊一路走到停權，96 個步驟全部通過。右邊是其中幾個跟安全有關的檢查。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自動測試之外，我們在部署好的正式網站上，用測試工程師的角度把每個功能實測一遍：收得到的信、寫進資料庫的資料、過期之後關不關得掉、AI 的每一個數字對不對。兩輪一共找到 26 個問題，全部修正、重新部署，再到線上驗一次；第二輪補的是平台管理、防濫用、註冊收信、刪除功能和 AI 的備註。接著換成一般使用者的角度逐項打分，平均從 57.6 分到 85.7 分，低於六十分的功能歸零。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最後是限制與下一步。最重要的限制是資料由 AI 產生；下一步是把使用者真的改過的解析收回來，變成真實的評測與訓練資料。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展示前根據使用者回饋定案的下一版。使用者說：這不應該是管理、控制子女的系統，而是開放式的。所以成員一律平等，家庭的帳來自每個人自己選擇併進去的明細，兩邊都算。後端第一段已經完成、測試全部通過，前端會在下一版上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謝謝大家，歡迎提問。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828800"/>
            <a:ext cx="10515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154680"/>
            <a:ext cx="10515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家庭記帳 FamBudget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377440"/>
            <a:ext cx="105156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520440"/>
            <a:ext cx="10515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6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8" Type="http://schemas.openxmlformats.org/officeDocument/2006/relationships/image" Target="../media/image-20-8.png"/><Relationship Id="rId9" Type="http://schemas.openxmlformats.org/officeDocument/2006/relationships/image" Target="../media/image-20-9.png"/><Relationship Id="rId10" Type="http://schemas.openxmlformats.org/officeDocument/2006/relationships/image" Target="../media/image-20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828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家庭記帳 FamBudget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154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accent6"/>
                </a:solidFill>
              </a:rPr>
              <a:t>說一段話就記好帳、全家看得到彼此的家庭財務系統</a:t>
            </a: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冠文・宇傑・明樺・囷洧　｜　2026 年 10 月　｜　LLM 應用期末專題</a:t>
            </a:r>
            <a:endParaRPr lang="en-US" sz="1600" dirty="0"/>
          </a:p>
        </p:txBody>
      </p:sp>
      <p:sp>
        <p:nvSpPr>
          <p:cNvPr id="5" name="qr-cover-card"/>
          <p:cNvSpPr/>
          <p:nvPr/>
        </p:nvSpPr>
        <p:spPr>
          <a:xfrm>
            <a:off x="9464040" y="685800"/>
            <a:ext cx="2103120" cy="251460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qr-cover" descr="C:\Users\User\Desktop\agent\final_project\report\assets\qr_s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822960"/>
            <a:ext cx="1737360" cy="1737360"/>
          </a:xfrm>
          <a:prstGeom prst="rect">
            <a:avLst/>
          </a:prstGeom>
        </p:spPr>
      </p:pic>
      <p:sp>
        <p:nvSpPr>
          <p:cNvPr id="7" name="qr-cover-cap"/>
          <p:cNvSpPr/>
          <p:nvPr/>
        </p:nvSpPr>
        <p:spPr>
          <a:xfrm>
            <a:off x="9555480" y="258775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33F"/>
                </a:solidFill>
              </a:rPr>
              <a:t>掃描開啟網站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6233F"/>
                </a:solidFill>
              </a:rPr>
              <a:t>fambudget-web.onrender.com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記帳難在三件事</a:t>
            </a:r>
            <a:endParaRPr lang="en-US" sz="3200" dirty="0"/>
          </a:p>
        </p:txBody>
      </p:sp>
      <p:sp>
        <p:nvSpPr>
          <p:cNvPr id="3" name="pain-card-0"/>
          <p:cNvSpPr/>
          <p:nvPr/>
        </p:nvSpPr>
        <p:spPr>
          <a:xfrm>
            <a:off x="548640" y="1417320"/>
            <a:ext cx="3520440" cy="466344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pain-0-circle"/>
          <p:cNvSpPr/>
          <p:nvPr/>
        </p:nvSpPr>
        <p:spPr>
          <a:xfrm>
            <a:off x="868680" y="17373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pain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875" y="1927555"/>
            <a:ext cx="351130" cy="3511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6974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懶得一筆一筆填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24612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早餐、午餐、加油……每一筆都要選日期、分類、填金額，三天就放棄。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45720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我們的做法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8920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說一段話，模型切成好幾筆、欄位自動填好，人只要檢查</a:t>
            </a:r>
            <a:endParaRPr lang="en-US" sz="1500" dirty="0"/>
          </a:p>
        </p:txBody>
      </p:sp>
      <p:sp>
        <p:nvSpPr>
          <p:cNvPr id="10" name="pain-card-1"/>
          <p:cNvSpPr/>
          <p:nvPr/>
        </p:nvSpPr>
        <p:spPr>
          <a:xfrm>
            <a:off x="4297680" y="1417320"/>
            <a:ext cx="3520440" cy="466344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pain-1-circle"/>
          <p:cNvSpPr/>
          <p:nvPr/>
        </p:nvSpPr>
        <p:spPr>
          <a:xfrm>
            <a:off x="4617720" y="1737360"/>
            <a:ext cx="731520" cy="7315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pain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7915" y="192755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617720" y="26974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家人各記各的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4617720" y="324612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爸媽各有一本帳、孩子的零用錢沒人知道，全家花多少錢沒人說得出來。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617720" y="45720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我們的做法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4617720" y="48920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家庭、帳本、照看孩子；誰看得到誰由權限決定</a:t>
            </a:r>
            <a:endParaRPr lang="en-US" sz="1500" dirty="0"/>
          </a:p>
        </p:txBody>
      </p:sp>
      <p:sp>
        <p:nvSpPr>
          <p:cNvPr id="17" name="pain-card-2"/>
          <p:cNvSpPr/>
          <p:nvPr/>
        </p:nvSpPr>
        <p:spPr>
          <a:xfrm>
            <a:off x="8046720" y="1417320"/>
            <a:ext cx="3520440" cy="466344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pain-2-circle"/>
          <p:cNvSpPr/>
          <p:nvPr/>
        </p:nvSpPr>
        <p:spPr>
          <a:xfrm>
            <a:off x="8366760" y="173736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9" name="pain-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6955" y="1927555"/>
            <a:ext cx="351130" cy="35113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366760" y="26974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建議沒有根據</a:t>
            </a:r>
            <a:endParaRPr lang="en-US" sz="2200" dirty="0"/>
          </a:p>
        </p:txBody>
      </p:sp>
      <p:sp>
        <p:nvSpPr>
          <p:cNvPr id="21" name="Text 16"/>
          <p:cNvSpPr txBox="1"/>
          <p:nvPr/>
        </p:nvSpPr>
        <p:spPr>
          <a:xfrm>
            <a:off x="8366760" y="324612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叫 AI 給理財建議，它可能隨口編一個數字，使用者根本無法驗算。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8366760" y="45720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我們的做法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8366760" y="48920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數字全部由資料庫算，模型只寫句子，每個數字都要找得到出處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做出來的東西</a:t>
            </a:r>
            <a:endParaRPr lang="en-US" sz="3200" dirty="0"/>
          </a:p>
        </p:txBody>
      </p:sp>
      <p:sp>
        <p:nvSpPr>
          <p:cNvPr id="3" name="stat-0"/>
          <p:cNvSpPr/>
          <p:nvPr/>
        </p:nvSpPr>
        <p:spPr>
          <a:xfrm>
            <a:off x="548640" y="1554480"/>
            <a:ext cx="2066544" cy="3200400"/>
          </a:xfrm>
          <a:prstGeom prst="roundRect">
            <a:avLst>
              <a:gd name="adj" fmla="val 61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8745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880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支 API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38328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認證 25・記帳 20・數字 12・家庭 22</a:t>
            </a:r>
            <a:endParaRPr lang="en-US" sz="1400" dirty="0"/>
          </a:p>
        </p:txBody>
      </p:sp>
      <p:sp>
        <p:nvSpPr>
          <p:cNvPr id="7" name="stat-1"/>
          <p:cNvSpPr/>
          <p:nvPr/>
        </p:nvSpPr>
        <p:spPr>
          <a:xfrm>
            <a:off x="2798064" y="1554480"/>
            <a:ext cx="2066544" cy="3200400"/>
          </a:xfrm>
          <a:prstGeom prst="roundRect">
            <a:avLst>
              <a:gd name="adj" fmla="val 61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026664" y="18745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3026664" y="2880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張資料表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3026664" y="338328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PostgreSQL，Alembic 管遷移</a:t>
            </a:r>
            <a:endParaRPr lang="en-US" sz="1400" dirty="0"/>
          </a:p>
        </p:txBody>
      </p:sp>
      <p:sp>
        <p:nvSpPr>
          <p:cNvPr id="11" name="stat-2"/>
          <p:cNvSpPr/>
          <p:nvPr/>
        </p:nvSpPr>
        <p:spPr>
          <a:xfrm>
            <a:off x="5047488" y="1554480"/>
            <a:ext cx="2066544" cy="3200400"/>
          </a:xfrm>
          <a:prstGeom prst="roundRect">
            <a:avLst>
              <a:gd name="adj" fmla="val 61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76088" y="18745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850</a:t>
            </a:r>
            <a:endParaRPr lang="en-US" sz="4800" dirty="0"/>
          </a:p>
        </p:txBody>
      </p:sp>
      <p:sp>
        <p:nvSpPr>
          <p:cNvPr id="13" name="Text 11"/>
          <p:cNvSpPr txBox="1"/>
          <p:nvPr/>
        </p:nvSpPr>
        <p:spPr>
          <a:xfrm>
            <a:off x="5276088" y="2880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個自動測試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276088" y="338328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全部通過，每一支路由都有驗收測試</a:t>
            </a:r>
            <a:endParaRPr lang="en-US" sz="1400" dirty="0"/>
          </a:p>
        </p:txBody>
      </p:sp>
      <p:sp>
        <p:nvSpPr>
          <p:cNvPr id="15" name="stat-3"/>
          <p:cNvSpPr/>
          <p:nvPr/>
        </p:nvSpPr>
        <p:spPr>
          <a:xfrm>
            <a:off x="7296912" y="1554480"/>
            <a:ext cx="2066544" cy="3200400"/>
          </a:xfrm>
          <a:prstGeom prst="roundRect">
            <a:avLst>
              <a:gd name="adj" fmla="val 61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525512" y="18745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96/96</a:t>
            </a:r>
            <a:endParaRPr lang="en-US" sz="4800" dirty="0"/>
          </a:p>
        </p:txBody>
      </p:sp>
      <p:sp>
        <p:nvSpPr>
          <p:cNvPr id="17" name="Text 15"/>
          <p:cNvSpPr txBox="1"/>
          <p:nvPr/>
        </p:nvSpPr>
        <p:spPr>
          <a:xfrm>
            <a:off x="7525512" y="2880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端到端步驟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525512" y="338328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真的伺服器、真的資料庫走完四個領域</a:t>
            </a:r>
            <a:endParaRPr lang="en-US" sz="1400" dirty="0"/>
          </a:p>
        </p:txBody>
      </p:sp>
      <p:sp>
        <p:nvSpPr>
          <p:cNvPr id="19" name="stat-4"/>
          <p:cNvSpPr/>
          <p:nvPr/>
        </p:nvSpPr>
        <p:spPr>
          <a:xfrm>
            <a:off x="9546336" y="1554480"/>
            <a:ext cx="2066544" cy="3200400"/>
          </a:xfrm>
          <a:prstGeom prst="roundRect">
            <a:avLst>
              <a:gd name="adj" fmla="val 619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774936" y="1874520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</a:t>
            </a:r>
            <a:endParaRPr lang="en-US" sz="4800" dirty="0"/>
          </a:p>
        </p:txBody>
      </p:sp>
      <p:sp>
        <p:nvSpPr>
          <p:cNvPr id="21" name="Text 19"/>
          <p:cNvSpPr txBox="1"/>
          <p:nvPr/>
        </p:nvSpPr>
        <p:spPr>
          <a:xfrm>
            <a:off x="9774936" y="288036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題留出集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9774936" y="3383280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量 AI 解析的成績；另有 1,500 題微調資料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1663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前端：純靜態網頁（HTML／CSS／JS）　後端：FastAPI　資料庫：PostgreSQL　部署：Render　模型：Claude／OpenAI／開源模型（Ollama、Hugging Face）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系統架構：前後端分離，模型可以換</a:t>
            </a:r>
            <a:endParaRPr lang="en-US" sz="3200" dirty="0"/>
          </a:p>
        </p:txBody>
      </p:sp>
      <p:sp>
        <p:nvSpPr>
          <p:cNvPr id="3" name="arch-browser"/>
          <p:cNvSpPr/>
          <p:nvPr/>
        </p:nvSpPr>
        <p:spPr>
          <a:xfrm>
            <a:off x="548640" y="1463040"/>
            <a:ext cx="2651760" cy="2377440"/>
          </a:xfrm>
          <a:prstGeom prst="roundRect">
            <a:avLst>
              <a:gd name="adj" fmla="val 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arch-browser-circle"/>
          <p:cNvSpPr/>
          <p:nvPr/>
        </p:nvSpPr>
        <p:spPr>
          <a:xfrm>
            <a:off x="777240" y="1691640"/>
            <a:ext cx="566928" cy="566928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arch-browser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641" y="1839041"/>
            <a:ext cx="272125" cy="27212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691640"/>
            <a:ext cx="1554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瀏覽器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3774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手機、電腦都能用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（RWD：375／768／1280 寬都測過）</a:t>
            </a:r>
            <a:endParaRPr lang="en-US" sz="1400" dirty="0"/>
          </a:p>
        </p:txBody>
      </p:sp>
      <p:sp>
        <p:nvSpPr>
          <p:cNvPr id="8" name="arch-front"/>
          <p:cNvSpPr/>
          <p:nvPr/>
        </p:nvSpPr>
        <p:spPr>
          <a:xfrm>
            <a:off x="3657600" y="1463040"/>
            <a:ext cx="2926080" cy="2377440"/>
          </a:xfrm>
          <a:prstGeom prst="roundRect">
            <a:avLst>
              <a:gd name="adj" fmla="val 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arch-front-circle"/>
          <p:cNvSpPr/>
          <p:nvPr/>
        </p:nvSpPr>
        <p:spPr>
          <a:xfrm>
            <a:off x="3886200" y="169164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arch-front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3601" y="1839041"/>
            <a:ext cx="272125" cy="27212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72000" y="16916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前端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931920" y="237744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純靜態網頁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api.js 是唯一的資料入口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後端沒做好的功能不顯示假資料</a:t>
            </a:r>
            <a:endParaRPr lang="en-US" sz="1400" dirty="0"/>
          </a:p>
        </p:txBody>
      </p:sp>
      <p:sp>
        <p:nvSpPr>
          <p:cNvPr id="13" name="arch-back"/>
          <p:cNvSpPr/>
          <p:nvPr/>
        </p:nvSpPr>
        <p:spPr>
          <a:xfrm>
            <a:off x="7040880" y="1463040"/>
            <a:ext cx="4572000" cy="2377440"/>
          </a:xfrm>
          <a:prstGeom prst="roundRect">
            <a:avLst>
              <a:gd name="adj" fmla="val 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arch-back-circle"/>
          <p:cNvSpPr/>
          <p:nvPr/>
        </p:nvSpPr>
        <p:spPr>
          <a:xfrm>
            <a:off x="7269480" y="169164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arch-back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6881" y="1839041"/>
            <a:ext cx="272125" cy="27212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955280" y="1691640"/>
            <a:ext cx="3474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後端 FastAPI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0" y="237744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8" name="dom-0"/>
          <p:cNvSpPr/>
          <p:nvPr/>
        </p:nvSpPr>
        <p:spPr>
          <a:xfrm>
            <a:off x="7315200" y="2423160"/>
            <a:ext cx="91440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7315200" y="25146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認證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7315200" y="2926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25 支</a:t>
            </a:r>
            <a:endParaRPr lang="en-US" sz="1300" dirty="0"/>
          </a:p>
        </p:txBody>
      </p:sp>
      <p:sp>
        <p:nvSpPr>
          <p:cNvPr id="21" name="dom-1"/>
          <p:cNvSpPr/>
          <p:nvPr/>
        </p:nvSpPr>
        <p:spPr>
          <a:xfrm>
            <a:off x="8366760" y="2423160"/>
            <a:ext cx="91440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8366760" y="25146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記帳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8366760" y="2926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20 支</a:t>
            </a:r>
            <a:endParaRPr lang="en-US" sz="1300" dirty="0"/>
          </a:p>
        </p:txBody>
      </p:sp>
      <p:sp>
        <p:nvSpPr>
          <p:cNvPr id="24" name="dom-2"/>
          <p:cNvSpPr/>
          <p:nvPr/>
        </p:nvSpPr>
        <p:spPr>
          <a:xfrm>
            <a:off x="9418320" y="2423160"/>
            <a:ext cx="91440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9418320" y="25146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數字</a:t>
            </a:r>
            <a:endParaRPr lang="en-US" sz="1600" dirty="0"/>
          </a:p>
        </p:txBody>
      </p:sp>
      <p:sp>
        <p:nvSpPr>
          <p:cNvPr id="26" name="Text 21"/>
          <p:cNvSpPr txBox="1"/>
          <p:nvPr/>
        </p:nvSpPr>
        <p:spPr>
          <a:xfrm>
            <a:off x="9418320" y="2926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12 支</a:t>
            </a:r>
            <a:endParaRPr lang="en-US" sz="1300" dirty="0"/>
          </a:p>
        </p:txBody>
      </p:sp>
      <p:sp>
        <p:nvSpPr>
          <p:cNvPr id="27" name="dom-3"/>
          <p:cNvSpPr/>
          <p:nvPr/>
        </p:nvSpPr>
        <p:spPr>
          <a:xfrm>
            <a:off x="10469880" y="2423160"/>
            <a:ext cx="914400" cy="109728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10469880" y="25146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家庭</a:t>
            </a:r>
            <a:endParaRPr lang="en-US" sz="1600" dirty="0"/>
          </a:p>
        </p:txBody>
      </p:sp>
      <p:sp>
        <p:nvSpPr>
          <p:cNvPr id="29" name="Text 24"/>
          <p:cNvSpPr txBox="1"/>
          <p:nvPr/>
        </p:nvSpPr>
        <p:spPr>
          <a:xfrm>
            <a:off x="10469880" y="29260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22 支</a:t>
            </a:r>
            <a:endParaRPr lang="en-US" sz="1300" dirty="0"/>
          </a:p>
        </p:txBody>
      </p:sp>
      <p:sp>
        <p:nvSpPr>
          <p:cNvPr id="30" name="arch-a1"/>
          <p:cNvSpPr/>
          <p:nvPr/>
        </p:nvSpPr>
        <p:spPr>
          <a:xfrm>
            <a:off x="3246120" y="2651760"/>
            <a:ext cx="36576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1" name="arch-a2"/>
          <p:cNvSpPr/>
          <p:nvPr/>
        </p:nvSpPr>
        <p:spPr>
          <a:xfrm>
            <a:off x="6629400" y="2651760"/>
            <a:ext cx="36576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2" name="arch-db"/>
          <p:cNvSpPr/>
          <p:nvPr/>
        </p:nvSpPr>
        <p:spPr>
          <a:xfrm>
            <a:off x="7040880" y="4434840"/>
            <a:ext cx="2148840" cy="1691640"/>
          </a:xfrm>
          <a:prstGeom prst="roundRect">
            <a:avLst>
              <a:gd name="adj" fmla="val 756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3" name="arch-db-circle"/>
          <p:cNvSpPr/>
          <p:nvPr/>
        </p:nvSpPr>
        <p:spPr>
          <a:xfrm>
            <a:off x="7269480" y="466344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4" name="arch-db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6881" y="4810841"/>
            <a:ext cx="272125" cy="272125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7955280" y="4663440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資料庫</a:t>
            </a:r>
            <a:endParaRPr lang="en-US" sz="1800" dirty="0"/>
          </a:p>
        </p:txBody>
      </p:sp>
      <p:sp>
        <p:nvSpPr>
          <p:cNvPr id="36" name="Text 30"/>
          <p:cNvSpPr txBox="1"/>
          <p:nvPr/>
        </p:nvSpPr>
        <p:spPr>
          <a:xfrm>
            <a:off x="7315200" y="53492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PostgreSQL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22 張表</a:t>
            </a:r>
            <a:endParaRPr lang="en-US" sz="1400" dirty="0"/>
          </a:p>
        </p:txBody>
      </p:sp>
      <p:sp>
        <p:nvSpPr>
          <p:cNvPr id="37" name="arch-model"/>
          <p:cNvSpPr/>
          <p:nvPr/>
        </p:nvSpPr>
        <p:spPr>
          <a:xfrm>
            <a:off x="9464040" y="4434840"/>
            <a:ext cx="2148840" cy="1691640"/>
          </a:xfrm>
          <a:prstGeom prst="roundRect">
            <a:avLst>
              <a:gd name="adj" fmla="val 756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8" name="arch-model-circle"/>
          <p:cNvSpPr/>
          <p:nvPr/>
        </p:nvSpPr>
        <p:spPr>
          <a:xfrm>
            <a:off x="9692640" y="4663440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9" name="arch-model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0041" y="4810841"/>
            <a:ext cx="272125" cy="272125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10378440" y="4663440"/>
            <a:ext cx="1051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模型服務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9738360" y="53492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Claude／OpenAI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或自架開源模型</a:t>
            </a:r>
            <a:endParaRPr lang="en-US" sz="1400" dirty="0"/>
          </a:p>
        </p:txBody>
      </p:sp>
      <p:sp>
        <p:nvSpPr>
          <p:cNvPr id="42" name="arch-a3"/>
          <p:cNvSpPr/>
          <p:nvPr/>
        </p:nvSpPr>
        <p:spPr>
          <a:xfrm>
            <a:off x="8092440" y="3886200"/>
            <a:ext cx="0" cy="50292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43" name="arch-a4"/>
          <p:cNvSpPr/>
          <p:nvPr/>
        </p:nvSpPr>
        <p:spPr>
          <a:xfrm>
            <a:off x="10515600" y="3886200"/>
            <a:ext cx="0" cy="50292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44" name="arch-note"/>
          <p:cNvSpPr/>
          <p:nvPr/>
        </p:nvSpPr>
        <p:spPr>
          <a:xfrm>
            <a:off x="548640" y="4434840"/>
            <a:ext cx="6035040" cy="1691640"/>
          </a:xfrm>
          <a:prstGeom prst="roundRect">
            <a:avLst>
              <a:gd name="adj" fmla="val 7568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45" name="Text 38"/>
          <p:cNvSpPr txBox="1"/>
          <p:nvPr/>
        </p:nvSpPr>
        <p:spPr>
          <a:xfrm>
            <a:off x="822960" y="4617720"/>
            <a:ext cx="5577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部署在 Render：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前端靜態站、後端、資料庫各一個服務。
</a:t>
            </a:r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模型可以換：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設定檔改 MODEL_PROVIDER 就能在 Claude、OpenAI、自己的模型之間切換，程式不用動。
</a:t>
            </a:r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模型叫不動：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後端回 503，前端改用規則解析，系統照常能用。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首頁：一眼看到這個月還可以花多少</a:t>
            </a:r>
            <a:endParaRPr lang="en-US" sz="3200" dirty="0"/>
          </a:p>
        </p:txBody>
      </p:sp>
      <p:sp>
        <p:nvSpPr>
          <p:cNvPr id="3" name="shot-home-frame"/>
          <p:cNvSpPr/>
          <p:nvPr/>
        </p:nvSpPr>
        <p:spPr>
          <a:xfrm>
            <a:off x="557784" y="1289304"/>
            <a:ext cx="7388352" cy="4679442"/>
          </a:xfrm>
          <a:prstGeom prst="roundRect">
            <a:avLst>
              <a:gd name="adj" fmla="val 2345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4" name="shot-home" descr="C:\Users\User\Desktop\agent\final_project\report\assets\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7223760" cy="4514850"/>
          </a:xfrm>
          <a:prstGeom prst="rect">
            <a:avLst/>
          </a:prstGeom>
        </p:spPr>
      </p:pic>
      <p:sp>
        <p:nvSpPr>
          <p:cNvPr id="5" name="home-c0-circle"/>
          <p:cNvSpPr/>
          <p:nvPr/>
        </p:nvSpPr>
        <p:spPr>
          <a:xfrm>
            <a:off x="8275320" y="1417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home-c0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7966" y="1559966"/>
            <a:ext cx="263347" cy="26334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961120" y="139903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嗨，名字＋家庭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8961120" y="178308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像銀行 App 一樣先打招呼，下面寫是哪個家庭的誰</a:t>
            </a:r>
            <a:endParaRPr lang="en-US" sz="1300" dirty="0"/>
          </a:p>
        </p:txBody>
      </p:sp>
      <p:sp>
        <p:nvSpPr>
          <p:cNvPr id="9" name="home-c1-circle"/>
          <p:cNvSpPr/>
          <p:nvPr/>
        </p:nvSpPr>
        <p:spPr>
          <a:xfrm>
            <a:off x="8275320" y="26060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home-c1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966" y="2748686"/>
            <a:ext cx="263347" cy="263347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961120" y="258775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這個月還可以花</a:t>
            </a:r>
            <a:endParaRPr lang="en-US" sz="1700" dirty="0"/>
          </a:p>
        </p:txBody>
      </p:sp>
      <p:sp>
        <p:nvSpPr>
          <p:cNvPr id="12" name="Text 7"/>
          <p:cNvSpPr txBox="1"/>
          <p:nvPr/>
        </p:nvSpPr>
        <p:spPr>
          <a:xfrm>
            <a:off x="8961120" y="297180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收入 − 每月想存＝可支配；用掉幾成一條進度條看完</a:t>
            </a:r>
            <a:endParaRPr lang="en-US" sz="1300" dirty="0"/>
          </a:p>
        </p:txBody>
      </p:sp>
      <p:sp>
        <p:nvSpPr>
          <p:cNvPr id="13" name="home-c2-circle"/>
          <p:cNvSpPr/>
          <p:nvPr/>
        </p:nvSpPr>
        <p:spPr>
          <a:xfrm>
            <a:off x="8275320" y="3794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home-c2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7966" y="3937406"/>
            <a:ext cx="263347" cy="263347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961120" y="377647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常用功能</a:t>
            </a:r>
            <a:endParaRPr lang="en-US" sz="1700" dirty="0"/>
          </a:p>
        </p:txBody>
      </p:sp>
      <p:sp>
        <p:nvSpPr>
          <p:cNvPr id="16" name="Text 10"/>
          <p:cNvSpPr txBox="1"/>
          <p:nvPr/>
        </p:nvSpPr>
        <p:spPr>
          <a:xfrm>
            <a:off x="8961120" y="416052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記一筆、明細、帳本、統計、建議，一格一個入口</a:t>
            </a:r>
            <a:endParaRPr lang="en-US" sz="1300" dirty="0"/>
          </a:p>
        </p:txBody>
      </p:sp>
      <p:sp>
        <p:nvSpPr>
          <p:cNvPr id="17" name="home-c3-circle"/>
          <p:cNvSpPr/>
          <p:nvPr/>
        </p:nvSpPr>
        <p:spPr>
          <a:xfrm>
            <a:off x="8275320" y="498348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home-c3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7966" y="5126126"/>
            <a:ext cx="263347" cy="263347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961120" y="496519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手機也能用</a:t>
            </a:r>
            <a:endParaRPr lang="en-US" sz="1700" dirty="0"/>
          </a:p>
        </p:txBody>
      </p:sp>
      <p:sp>
        <p:nvSpPr>
          <p:cNvPr id="20" name="Text 13"/>
          <p:cNvSpPr txBox="1"/>
          <p:nvPr/>
        </p:nvSpPr>
        <p:spPr>
          <a:xfrm>
            <a:off x="8961120" y="534924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版面在手機寬度重新排，沒有左右捲動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收支明細與統計</a:t>
            </a:r>
            <a:endParaRPr lang="en-US" sz="3200" dirty="0"/>
          </a:p>
        </p:txBody>
      </p:sp>
      <p:sp>
        <p:nvSpPr>
          <p:cNvPr id="3" name="shot-entry-frame"/>
          <p:cNvSpPr/>
          <p:nvPr/>
        </p:nvSpPr>
        <p:spPr>
          <a:xfrm>
            <a:off x="557784" y="1335024"/>
            <a:ext cx="5513832" cy="3507867"/>
          </a:xfrm>
          <a:prstGeom prst="roundRect">
            <a:avLst>
              <a:gd name="adj" fmla="val 3128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4" name="shot-entry" descr="C:\Users\User\Desktop\agent\final_project\report\assets\ent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5349240" cy="3343275"/>
          </a:xfrm>
          <a:prstGeom prst="rect">
            <a:avLst/>
          </a:prstGeom>
        </p:spPr>
      </p:pic>
      <p:sp>
        <p:nvSpPr>
          <p:cNvPr id="5" name="shot-stats-frame"/>
          <p:cNvSpPr/>
          <p:nvPr/>
        </p:nvSpPr>
        <p:spPr>
          <a:xfrm>
            <a:off x="6135624" y="1335024"/>
            <a:ext cx="5513832" cy="3507867"/>
          </a:xfrm>
          <a:prstGeom prst="roundRect">
            <a:avLst>
              <a:gd name="adj" fmla="val 3128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6" name="shot-stats" descr="C:\Users\User\Desktop\agent\final_project\report\assets\sta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17320"/>
            <a:ext cx="5349240" cy="334327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40080" y="498348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收支明細　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依帳本、收支、來源（段落記帳／手動）篩選；可以改、可以多選刪除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6217920" y="4983480"/>
            <a:ext cx="5349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統計　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按月收支對照、近六個月趨勢、錢花在哪（分類比例）；全家模式看加總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家庭與權限：誰看得到誰，由後端決定</a:t>
            </a:r>
            <a:endParaRPr lang="en-US" sz="3200" dirty="0"/>
          </a:p>
        </p:txBody>
      </p:sp>
      <p:sp>
        <p:nvSpPr>
          <p:cNvPr id="3" name="shot-members-frame"/>
          <p:cNvSpPr/>
          <p:nvPr/>
        </p:nvSpPr>
        <p:spPr>
          <a:xfrm>
            <a:off x="557784" y="1335024"/>
            <a:ext cx="5285232" cy="3364992"/>
          </a:xfrm>
          <a:prstGeom prst="roundRect">
            <a:avLst>
              <a:gd name="adj" fmla="val 3261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4" name="shot-members" descr="C:\Users\User\Desktop\agent\final_project\report\assets\memb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5120640" cy="3200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484632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邀請碼只顯示一次、可以命名、有效期 7 天、沒用的可以刪；家長可以「照看」孩子並設零用金。</a:t>
            </a:r>
            <a:endParaRPr lang="en-US" sz="1400" dirty="0"/>
          </a:p>
        </p:txBody>
      </p:sp>
      <p:graphicFrame>
        <p:nvGraphicFramePr>
          <p:cNvPr id="8" name="perm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72200" y="1417320"/>
          <a:ext cx="5440680" cy="914400"/>
        </p:xfrm>
        <a:graphic>
          <a:graphicData uri="http://schemas.openxmlformats.org/drawingml/2006/table">
            <a:tbl>
              <a:tblPr/>
              <a:tblGrid>
                <a:gridCol w="2514600"/>
                <a:gridCol w="914400"/>
                <a:gridCol w="914400"/>
                <a:gridCol w="109728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能做的事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家長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子女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平台管理員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看自己的帳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看照看中孩子的帳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看全家的總覽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自己的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產生邀請碼、設零用金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停權、看帳號狀態與安全事件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chemeClr val="accent2"/>
                          </a:solidFill>
                        </a:rPr>
                        <a:t>✓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讀任何人的帳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chemeClr val="accent5"/>
                          </a:solidFill>
                        </a:rPr>
                        <a:t>—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perm-note"/>
          <p:cNvSpPr/>
          <p:nvPr/>
        </p:nvSpPr>
        <p:spPr>
          <a:xfrm>
            <a:off x="6172200" y="5120640"/>
            <a:ext cx="5440680" cy="868680"/>
          </a:xfrm>
          <a:prstGeom prst="roundRect">
            <a:avLst>
              <a:gd name="adj" fmla="val 14737"/>
            </a:avLst>
          </a:prstGeom>
          <a:solidFill>
            <a:srgbClr val="FFF4EC"/>
          </a:solidFill>
          <a:ln w="12700">
            <a:solidFill>
              <a:srgbClr val="FFF4EC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400800" y="523036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家長不能切換成孩子的帳號、平台管理員讀不到任何人的帳——刻意不做，不是沒做完。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帳號與資料：點了驗證信才開始，登記的都能刪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註冊流程</a:t>
            </a:r>
            <a:endParaRPr lang="en-US" sz="1800" dirty="0"/>
          </a:p>
        </p:txBody>
      </p:sp>
      <p:sp>
        <p:nvSpPr>
          <p:cNvPr id="4" name="reg-0"/>
          <p:cNvSpPr/>
          <p:nvPr/>
        </p:nvSpPr>
        <p:spPr>
          <a:xfrm>
            <a:off x="548640" y="1874520"/>
            <a:ext cx="2057400" cy="1874520"/>
          </a:xfrm>
          <a:prstGeom prst="roundRect">
            <a:avLst>
              <a:gd name="adj" fmla="val 68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reg-ic-0-circle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reg-ic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7999" y="2188159"/>
            <a:ext cx="241402" cy="2414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263347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填資料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01752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名字、email、密碼</a:t>
            </a:r>
            <a:endParaRPr lang="en-US" sz="1200" dirty="0"/>
          </a:p>
        </p:txBody>
      </p:sp>
      <p:sp>
        <p:nvSpPr>
          <p:cNvPr id="9" name="reg-a-0"/>
          <p:cNvSpPr/>
          <p:nvPr/>
        </p:nvSpPr>
        <p:spPr>
          <a:xfrm>
            <a:off x="2624328" y="2697480"/>
            <a:ext cx="192024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0" name="reg-1"/>
          <p:cNvSpPr/>
          <p:nvPr/>
        </p:nvSpPr>
        <p:spPr>
          <a:xfrm>
            <a:off x="2834640" y="1874520"/>
            <a:ext cx="2057400" cy="1874520"/>
          </a:xfrm>
          <a:prstGeom prst="roundRect">
            <a:avLst>
              <a:gd name="adj" fmla="val 68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reg-ic-1-circle"/>
          <p:cNvSpPr/>
          <p:nvPr/>
        </p:nvSpPr>
        <p:spPr>
          <a:xfrm>
            <a:off x="3063240" y="20574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reg-ic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3999" y="2188159"/>
            <a:ext cx="241402" cy="24140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063240" y="263347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回登入頁去收信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3063240" y="301752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這時還沒登入，email 先幫他填好</a:t>
            </a:r>
            <a:endParaRPr lang="en-US" sz="1200" dirty="0"/>
          </a:p>
        </p:txBody>
      </p:sp>
      <p:sp>
        <p:nvSpPr>
          <p:cNvPr id="15" name="reg-a-1"/>
          <p:cNvSpPr/>
          <p:nvPr/>
        </p:nvSpPr>
        <p:spPr>
          <a:xfrm>
            <a:off x="4910328" y="2697480"/>
            <a:ext cx="192024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6" name="reg-2"/>
          <p:cNvSpPr/>
          <p:nvPr/>
        </p:nvSpPr>
        <p:spPr>
          <a:xfrm>
            <a:off x="5120640" y="1874520"/>
            <a:ext cx="2057400" cy="1874520"/>
          </a:xfrm>
          <a:prstGeom prst="roundRect">
            <a:avLst>
              <a:gd name="adj" fmla="val 68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reg-ic-2-circle"/>
          <p:cNvSpPr/>
          <p:nvPr/>
        </p:nvSpPr>
        <p:spPr>
          <a:xfrm>
            <a:off x="5349240" y="205740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8" name="reg-ic-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9999" y="2188159"/>
            <a:ext cx="241402" cy="24140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349240" y="263347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點信裡的按鈕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5349240" y="301752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第一次點就直接登入；連結 24 小時有效</a:t>
            </a:r>
            <a:endParaRPr lang="en-US" sz="1200" dirty="0"/>
          </a:p>
        </p:txBody>
      </p:sp>
      <p:sp>
        <p:nvSpPr>
          <p:cNvPr id="21" name="reg-a-2"/>
          <p:cNvSpPr/>
          <p:nvPr/>
        </p:nvSpPr>
        <p:spPr>
          <a:xfrm>
            <a:off x="7196328" y="2697480"/>
            <a:ext cx="192024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2" name="reg-3"/>
          <p:cNvSpPr/>
          <p:nvPr/>
        </p:nvSpPr>
        <p:spPr>
          <a:xfrm>
            <a:off x="7406640" y="1874520"/>
            <a:ext cx="2057400" cy="1874520"/>
          </a:xfrm>
          <a:prstGeom prst="roundRect">
            <a:avLst>
              <a:gd name="adj" fmla="val 68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reg-ic-3-circle"/>
          <p:cNvSpPr/>
          <p:nvPr/>
        </p:nvSpPr>
        <p:spPr>
          <a:xfrm>
            <a:off x="7635240" y="20574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reg-ic-3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5999" y="2188159"/>
            <a:ext cx="241402" cy="24140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635240" y="263347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個人化設定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7635240" y="301752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每月想存多少、理財習慣、主題；沒驗證的進不來</a:t>
            </a:r>
            <a:endParaRPr lang="en-US" sz="1200" dirty="0"/>
          </a:p>
        </p:txBody>
      </p:sp>
      <p:sp>
        <p:nvSpPr>
          <p:cNvPr id="27" name="reg-a-3"/>
          <p:cNvSpPr/>
          <p:nvPr/>
        </p:nvSpPr>
        <p:spPr>
          <a:xfrm>
            <a:off x="9482328" y="2697480"/>
            <a:ext cx="192024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8" name="reg-4"/>
          <p:cNvSpPr/>
          <p:nvPr/>
        </p:nvSpPr>
        <p:spPr>
          <a:xfrm>
            <a:off x="9692640" y="1874520"/>
            <a:ext cx="2057400" cy="1874520"/>
          </a:xfrm>
          <a:prstGeom prst="roundRect">
            <a:avLst>
              <a:gd name="adj" fmla="val 68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reg-ic-4-circle"/>
          <p:cNvSpPr/>
          <p:nvPr/>
        </p:nvSpPr>
        <p:spPr>
          <a:xfrm>
            <a:off x="9921240" y="20574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reg-ic-4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1999" y="2188159"/>
            <a:ext cx="241402" cy="241402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921240" y="2633472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新手導覽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9921240" y="3017520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照畫面上看得到的東西帶一遍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548640" y="39776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登記的資料都能刪</a:t>
            </a:r>
            <a:endParaRPr lang="en-US" sz="1800" dirty="0"/>
          </a:p>
        </p:txBody>
      </p:sp>
      <p:graphicFrame>
        <p:nvGraphicFramePr>
          <p:cNvPr id="9" name="del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3484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840480"/>
                <a:gridCol w="54864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資料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怎麼刪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刪了之後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收支明細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每列刪除，或多選一次刪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數字、統計跟著重算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財務建議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展開後「刪除這則建議」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6 秒內可以按「復原」；全家的只有家長能刪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通知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每則右邊的 ×、「清除已讀」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只刪自己收到的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自訂分類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標籤後面的 ×（要再輸入密碼）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用它記的帳改到「其他」，不會消失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tx2"/>
                          </a:solidFill>
                        </a:rPr>
                        <a:t>帳號本身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個人資料最下面（密碼＋確認碼）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帳全部刪掉、email 空出來；還在家庭裡要先退出</a:t>
                      </a:r>
                      <a:endParaRPr lang="en-US" sz="12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平台管理：即時看狀態，規則先擋、人來決定</a:t>
            </a:r>
            <a:endParaRPr lang="en-US" sz="3200" dirty="0"/>
          </a:p>
        </p:txBody>
      </p:sp>
      <p:sp>
        <p:nvSpPr>
          <p:cNvPr id="3" name="shot-admin-frame"/>
          <p:cNvSpPr/>
          <p:nvPr/>
        </p:nvSpPr>
        <p:spPr>
          <a:xfrm>
            <a:off x="557784" y="1289304"/>
            <a:ext cx="7388352" cy="4679442"/>
          </a:xfrm>
          <a:prstGeom prst="roundRect">
            <a:avLst>
              <a:gd name="adj" fmla="val 2345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4" name="shot-admin" descr="C:\Users\User\Desktop\agent\final_project\report\assets\adm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7223760" cy="4514850"/>
          </a:xfrm>
          <a:prstGeom prst="rect">
            <a:avLst/>
          </a:prstGeom>
        </p:spPr>
      </p:pic>
      <p:sp>
        <p:nvSpPr>
          <p:cNvPr id="5" name="adm-c0-circle"/>
          <p:cNvSpPr/>
          <p:nvPr/>
        </p:nvSpPr>
        <p:spPr>
          <a:xfrm>
            <a:off x="8275320" y="1417320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adm-c0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7966" y="1559966"/>
            <a:ext cx="263347" cy="26334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961120" y="139903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紅綠燈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8961120" y="178308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每個帳號在不在線上，每 10 秒更新；按了登出馬上變紅燈</a:t>
            </a:r>
            <a:endParaRPr lang="en-US" sz="1300" dirty="0"/>
          </a:p>
        </p:txBody>
      </p:sp>
      <p:sp>
        <p:nvSpPr>
          <p:cNvPr id="9" name="adm-c1-circle"/>
          <p:cNvSpPr/>
          <p:nvPr/>
        </p:nvSpPr>
        <p:spPr>
          <a:xfrm>
            <a:off x="8275320" y="260604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adm-c1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966" y="2748686"/>
            <a:ext cx="263347" cy="263347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961120" y="258775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錯誤訊息</a:t>
            </a:r>
            <a:endParaRPr lang="en-US" sz="1700" dirty="0"/>
          </a:p>
        </p:txBody>
      </p:sp>
      <p:sp>
        <p:nvSpPr>
          <p:cNvPr id="12" name="Text 7"/>
          <p:cNvSpPr txBox="1"/>
          <p:nvPr/>
        </p:nvSpPr>
        <p:spPr>
          <a:xfrm>
            <a:off x="8961120" y="297180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後端的 5xx、使用者畫面上出的錯即時列出；使用者只看到白話，技術細節只到這裡</a:t>
            </a:r>
            <a:endParaRPr lang="en-US" sz="1300" dirty="0"/>
          </a:p>
        </p:txBody>
      </p:sp>
      <p:sp>
        <p:nvSpPr>
          <p:cNvPr id="13" name="adm-c2-circle"/>
          <p:cNvSpPr/>
          <p:nvPr/>
        </p:nvSpPr>
        <p:spPr>
          <a:xfrm>
            <a:off x="8275320" y="3794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4" name="adm-c2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7966" y="3937406"/>
            <a:ext cx="263347" cy="263347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961120" y="377647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規則先擋</a:t>
            </a:r>
            <a:endParaRPr lang="en-US" sz="1700" dirty="0"/>
          </a:p>
        </p:txBody>
      </p:sp>
      <p:sp>
        <p:nvSpPr>
          <p:cNvPr id="16" name="Text 10"/>
          <p:cNvSpPr txBox="1"/>
          <p:nvPr/>
        </p:nvSpPr>
        <p:spPr>
          <a:xfrm>
            <a:off x="8961120" y="416052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同一帳號 15 分鐘錯 5 次鎖 15 分鐘、同一來源大量註冊、AI 每人每日額度</a:t>
            </a:r>
            <a:endParaRPr lang="en-US" sz="1300" dirty="0"/>
          </a:p>
        </p:txBody>
      </p:sp>
      <p:sp>
        <p:nvSpPr>
          <p:cNvPr id="17" name="adm-c3-circle"/>
          <p:cNvSpPr/>
          <p:nvPr/>
        </p:nvSpPr>
        <p:spPr>
          <a:xfrm>
            <a:off x="8275320" y="498348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8" name="adm-c3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7966" y="5126126"/>
            <a:ext cx="263347" cy="263347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961120" y="496519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停權由人按</a:t>
            </a:r>
            <a:endParaRPr lang="en-US" sz="1700" dirty="0"/>
          </a:p>
        </p:txBody>
      </p:sp>
      <p:sp>
        <p:nvSpPr>
          <p:cNvPr id="20" name="Text 13"/>
          <p:cNvSpPr txBox="1"/>
          <p:nvPr/>
        </p:nvSpPr>
        <p:spPr>
          <a:xfrm>
            <a:off x="8961120" y="534924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規則只暫時擋下、時間到自己解開；要不要停權由管理員決定，每一次都寫稽核</a:t>
            </a:r>
            <a:endParaRPr lang="en-US" sz="1300" dirty="0"/>
          </a:p>
        </p:txBody>
      </p:sp>
      <p:sp>
        <p:nvSpPr>
          <p:cNvPr id="21" name="Text 14"/>
          <p:cNvSpPr txBox="1"/>
          <p:nvPr/>
        </p:nvSpPr>
        <p:spPr>
          <a:xfrm>
            <a:off x="640080" y="605332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管理員一樣讀不到任何人的帳：這一頁只有身分欄位、狀態與次數（停權是關門，不是配鑰匙）。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資料庫：22 張表，依四個領域分</a:t>
            </a:r>
            <a:endParaRPr lang="en-US" sz="3200" dirty="0"/>
          </a:p>
        </p:txBody>
      </p:sp>
      <p:sp>
        <p:nvSpPr>
          <p:cNvPr id="3" name="db-col-0"/>
          <p:cNvSpPr/>
          <p:nvPr/>
        </p:nvSpPr>
        <p:spPr>
          <a:xfrm>
            <a:off x="548640" y="1417320"/>
            <a:ext cx="2633472" cy="4663440"/>
          </a:xfrm>
          <a:prstGeom prst="roundRect">
            <a:avLst>
              <a:gd name="adj" fmla="val 48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認證</a:t>
            </a:r>
            <a:endParaRPr lang="en-US" sz="2000" dirty="0"/>
          </a:p>
        </p:txBody>
      </p:sp>
      <p:sp>
        <p:nvSpPr>
          <p:cNvPr id="5" name="tbl-users"/>
          <p:cNvSpPr/>
          <p:nvPr/>
        </p:nvSpPr>
        <p:spPr>
          <a:xfrm>
            <a:off x="777240" y="2148840"/>
            <a:ext cx="21762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216712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使用者</a:t>
            </a:r>
            <a:endParaRPr lang="en-US" sz="1500" dirty="0"/>
          </a:p>
        </p:txBody>
      </p:sp>
      <p:sp>
        <p:nvSpPr>
          <p:cNvPr id="7" name="tbl-sessions"/>
          <p:cNvSpPr/>
          <p:nvPr/>
        </p:nvSpPr>
        <p:spPr>
          <a:xfrm>
            <a:off x="777240" y="2697480"/>
            <a:ext cx="21762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271576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sessions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登入中的裝置</a:t>
            </a:r>
            <a:endParaRPr lang="en-US" sz="1500" dirty="0"/>
          </a:p>
        </p:txBody>
      </p:sp>
      <p:sp>
        <p:nvSpPr>
          <p:cNvPr id="9" name="tbl-password_resets"/>
          <p:cNvSpPr/>
          <p:nvPr/>
        </p:nvSpPr>
        <p:spPr>
          <a:xfrm>
            <a:off x="777240" y="3246120"/>
            <a:ext cx="21762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6112" y="326440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password_resets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重設密碼</a:t>
            </a:r>
            <a:endParaRPr lang="en-US" sz="1500" dirty="0"/>
          </a:p>
        </p:txBody>
      </p:sp>
      <p:sp>
        <p:nvSpPr>
          <p:cNvPr id="11" name="tbl-security_events"/>
          <p:cNvSpPr/>
          <p:nvPr/>
        </p:nvSpPr>
        <p:spPr>
          <a:xfrm>
            <a:off x="777240" y="3794760"/>
            <a:ext cx="21762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96112" y="381304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security_events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安全事件</a:t>
            </a:r>
            <a:endParaRPr lang="en-US" sz="1500" dirty="0"/>
          </a:p>
        </p:txBody>
      </p:sp>
      <p:sp>
        <p:nvSpPr>
          <p:cNvPr id="13" name="tbl-error_logs"/>
          <p:cNvSpPr/>
          <p:nvPr/>
        </p:nvSpPr>
        <p:spPr>
          <a:xfrm>
            <a:off x="777240" y="4343400"/>
            <a:ext cx="21762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6112" y="436168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error_logs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錯誤紀錄</a:t>
            </a:r>
            <a:endParaRPr lang="en-US" sz="1500" dirty="0"/>
          </a:p>
        </p:txBody>
      </p:sp>
      <p:sp>
        <p:nvSpPr>
          <p:cNvPr id="15" name="db-col-1"/>
          <p:cNvSpPr/>
          <p:nvPr/>
        </p:nvSpPr>
        <p:spPr>
          <a:xfrm>
            <a:off x="3364992" y="1417320"/>
            <a:ext cx="2633472" cy="4663440"/>
          </a:xfrm>
          <a:prstGeom prst="roundRect">
            <a:avLst>
              <a:gd name="adj" fmla="val 48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639312" y="1600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記帳</a:t>
            </a:r>
            <a:endParaRPr lang="en-US" sz="2000" dirty="0"/>
          </a:p>
        </p:txBody>
      </p:sp>
      <p:sp>
        <p:nvSpPr>
          <p:cNvPr id="17" name="tbl-transactions"/>
          <p:cNvSpPr/>
          <p:nvPr/>
        </p:nvSpPr>
        <p:spPr>
          <a:xfrm>
            <a:off x="3593592" y="2148840"/>
            <a:ext cx="21762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712464" y="216712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transactions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收支明細</a:t>
            </a:r>
            <a:endParaRPr lang="en-US" sz="1500" dirty="0"/>
          </a:p>
        </p:txBody>
      </p:sp>
      <p:sp>
        <p:nvSpPr>
          <p:cNvPr id="19" name="tbl-accounts"/>
          <p:cNvSpPr/>
          <p:nvPr/>
        </p:nvSpPr>
        <p:spPr>
          <a:xfrm>
            <a:off x="3593592" y="2697480"/>
            <a:ext cx="21762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712464" y="271576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accounts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帳戶（錢包）</a:t>
            </a:r>
            <a:endParaRPr lang="en-US" sz="1500" dirty="0"/>
          </a:p>
        </p:txBody>
      </p:sp>
      <p:sp>
        <p:nvSpPr>
          <p:cNvPr id="21" name="tbl-categories"/>
          <p:cNvSpPr/>
          <p:nvPr/>
        </p:nvSpPr>
        <p:spPr>
          <a:xfrm>
            <a:off x="3593592" y="3246120"/>
            <a:ext cx="21762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712464" y="326440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categories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分類</a:t>
            </a:r>
            <a:endParaRPr lang="en-US" sz="1500" dirty="0"/>
          </a:p>
        </p:txBody>
      </p:sp>
      <p:sp>
        <p:nvSpPr>
          <p:cNvPr id="23" name="tbl-groups"/>
          <p:cNvSpPr/>
          <p:nvPr/>
        </p:nvSpPr>
        <p:spPr>
          <a:xfrm>
            <a:off x="3593592" y="3794760"/>
            <a:ext cx="21762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712464" y="381304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groups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帳本</a:t>
            </a:r>
            <a:endParaRPr lang="en-US" sz="1500" dirty="0"/>
          </a:p>
        </p:txBody>
      </p:sp>
      <p:sp>
        <p:nvSpPr>
          <p:cNvPr id="25" name="tbl-group_members"/>
          <p:cNvSpPr/>
          <p:nvPr/>
        </p:nvSpPr>
        <p:spPr>
          <a:xfrm>
            <a:off x="3593592" y="4343400"/>
            <a:ext cx="21762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712464" y="436168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group_members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帳本成員</a:t>
            </a:r>
            <a:endParaRPr lang="en-US" sz="1500" dirty="0"/>
          </a:p>
        </p:txBody>
      </p:sp>
      <p:sp>
        <p:nvSpPr>
          <p:cNvPr id="27" name="tbl-nlp_parses"/>
          <p:cNvSpPr/>
          <p:nvPr/>
        </p:nvSpPr>
        <p:spPr>
          <a:xfrm>
            <a:off x="3593592" y="4892040"/>
            <a:ext cx="21762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712464" y="491032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nlp_parses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AI 解析紀錄</a:t>
            </a:r>
            <a:endParaRPr lang="en-US" sz="1500" dirty="0"/>
          </a:p>
        </p:txBody>
      </p:sp>
      <p:sp>
        <p:nvSpPr>
          <p:cNvPr id="29" name="db-col-2"/>
          <p:cNvSpPr/>
          <p:nvPr/>
        </p:nvSpPr>
        <p:spPr>
          <a:xfrm>
            <a:off x="6181344" y="1417320"/>
            <a:ext cx="2633472" cy="4663440"/>
          </a:xfrm>
          <a:prstGeom prst="roundRect">
            <a:avLst>
              <a:gd name="adj" fmla="val 48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55664" y="1600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數字</a:t>
            </a:r>
            <a:endParaRPr lang="en-US" sz="2000" dirty="0"/>
          </a:p>
        </p:txBody>
      </p:sp>
      <p:sp>
        <p:nvSpPr>
          <p:cNvPr id="31" name="tbl-budgets"/>
          <p:cNvSpPr/>
          <p:nvPr/>
        </p:nvSpPr>
        <p:spPr>
          <a:xfrm>
            <a:off x="6409944" y="2148840"/>
            <a:ext cx="21762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528816" y="216712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budgets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預算</a:t>
            </a:r>
            <a:endParaRPr lang="en-US" sz="1500" dirty="0"/>
          </a:p>
        </p:txBody>
      </p:sp>
      <p:sp>
        <p:nvSpPr>
          <p:cNvPr id="33" name="tbl-savings_goals"/>
          <p:cNvSpPr/>
          <p:nvPr/>
        </p:nvSpPr>
        <p:spPr>
          <a:xfrm>
            <a:off x="6409944" y="2697480"/>
            <a:ext cx="21762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528816" y="271576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savings_goals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存款目標</a:t>
            </a:r>
            <a:endParaRPr lang="en-US" sz="1500" dirty="0"/>
          </a:p>
        </p:txBody>
      </p:sp>
      <p:sp>
        <p:nvSpPr>
          <p:cNvPr id="35" name="tbl-alert_rules"/>
          <p:cNvSpPr/>
          <p:nvPr/>
        </p:nvSpPr>
        <p:spPr>
          <a:xfrm>
            <a:off x="6409944" y="3246120"/>
            <a:ext cx="21762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528816" y="326440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alert_rules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提醒門檻</a:t>
            </a:r>
            <a:endParaRPr lang="en-US" sz="1500" dirty="0"/>
          </a:p>
        </p:txBody>
      </p:sp>
      <p:sp>
        <p:nvSpPr>
          <p:cNvPr id="37" name="tbl-advices"/>
          <p:cNvSpPr/>
          <p:nvPr/>
        </p:nvSpPr>
        <p:spPr>
          <a:xfrm>
            <a:off x="6409944" y="3794760"/>
            <a:ext cx="21762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528816" y="381304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advices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財務建議</a:t>
            </a:r>
            <a:endParaRPr lang="en-US" sz="1500" dirty="0"/>
          </a:p>
        </p:txBody>
      </p:sp>
      <p:sp>
        <p:nvSpPr>
          <p:cNvPr id="39" name="db-col-3"/>
          <p:cNvSpPr/>
          <p:nvPr/>
        </p:nvSpPr>
        <p:spPr>
          <a:xfrm>
            <a:off x="8997696" y="1417320"/>
            <a:ext cx="2633472" cy="4663440"/>
          </a:xfrm>
          <a:prstGeom prst="roundRect">
            <a:avLst>
              <a:gd name="adj" fmla="val 48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272016" y="1600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家庭</a:t>
            </a:r>
            <a:endParaRPr lang="en-US" sz="2000" dirty="0"/>
          </a:p>
        </p:txBody>
      </p:sp>
      <p:sp>
        <p:nvSpPr>
          <p:cNvPr id="41" name="tbl-families"/>
          <p:cNvSpPr/>
          <p:nvPr/>
        </p:nvSpPr>
        <p:spPr>
          <a:xfrm>
            <a:off x="9226296" y="2148840"/>
            <a:ext cx="21762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9345168" y="216712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families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家庭</a:t>
            </a:r>
            <a:endParaRPr lang="en-US" sz="1500" dirty="0"/>
          </a:p>
        </p:txBody>
      </p:sp>
      <p:sp>
        <p:nvSpPr>
          <p:cNvPr id="43" name="tbl-family_members"/>
          <p:cNvSpPr/>
          <p:nvPr/>
        </p:nvSpPr>
        <p:spPr>
          <a:xfrm>
            <a:off x="9226296" y="2697480"/>
            <a:ext cx="21762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345168" y="271576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family_members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家庭成員</a:t>
            </a:r>
            <a:endParaRPr lang="en-US" sz="1500" dirty="0"/>
          </a:p>
        </p:txBody>
      </p:sp>
      <p:sp>
        <p:nvSpPr>
          <p:cNvPr id="45" name="tbl-family_invites"/>
          <p:cNvSpPr/>
          <p:nvPr/>
        </p:nvSpPr>
        <p:spPr>
          <a:xfrm>
            <a:off x="9226296" y="3246120"/>
            <a:ext cx="21762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345168" y="326440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family_invites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邀請</a:t>
            </a:r>
            <a:endParaRPr lang="en-US" sz="1500" dirty="0"/>
          </a:p>
        </p:txBody>
      </p:sp>
      <p:sp>
        <p:nvSpPr>
          <p:cNvPr id="47" name="tbl-guardianships"/>
          <p:cNvSpPr/>
          <p:nvPr/>
        </p:nvSpPr>
        <p:spPr>
          <a:xfrm>
            <a:off x="9226296" y="3794760"/>
            <a:ext cx="21762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345168" y="381304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guardianships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照看關係</a:t>
            </a:r>
            <a:endParaRPr lang="en-US" sz="1500" dirty="0"/>
          </a:p>
        </p:txBody>
      </p:sp>
      <p:sp>
        <p:nvSpPr>
          <p:cNvPr id="49" name="tbl-allowances"/>
          <p:cNvSpPr/>
          <p:nvPr/>
        </p:nvSpPr>
        <p:spPr>
          <a:xfrm>
            <a:off x="9226296" y="4343400"/>
            <a:ext cx="21762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9345168" y="436168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allowances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零用金</a:t>
            </a:r>
            <a:endParaRPr lang="en-US" sz="1500" dirty="0"/>
          </a:p>
        </p:txBody>
      </p:sp>
      <p:sp>
        <p:nvSpPr>
          <p:cNvPr id="51" name="tbl-notifications"/>
          <p:cNvSpPr/>
          <p:nvPr/>
        </p:nvSpPr>
        <p:spPr>
          <a:xfrm>
            <a:off x="9226296" y="4892040"/>
            <a:ext cx="21762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9345168" y="491032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notifications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通知</a:t>
            </a:r>
            <a:endParaRPr lang="en-US" sz="1500" dirty="0"/>
          </a:p>
        </p:txBody>
      </p:sp>
      <p:sp>
        <p:nvSpPr>
          <p:cNvPr id="53" name="tbl-audit_logs"/>
          <p:cNvSpPr/>
          <p:nvPr/>
        </p:nvSpPr>
        <p:spPr>
          <a:xfrm>
            <a:off x="9226296" y="5440680"/>
            <a:ext cx="2176272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9345168" y="5458968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audit_logs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稽核紀錄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3774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兩個 AI 功能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5204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段落記帳（抽取）與財務建議（生成）——模型只做語意判斷，能用程式確定的都不交給模型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段落記帳：一段話變成好幾筆</a:t>
            </a:r>
            <a:endParaRPr lang="en-US" sz="3200" dirty="0"/>
          </a:p>
        </p:txBody>
      </p:sp>
      <p:sp>
        <p:nvSpPr>
          <p:cNvPr id="3" name="step-0"/>
          <p:cNvSpPr/>
          <p:nvPr/>
        </p:nvSpPr>
        <p:spPr>
          <a:xfrm>
            <a:off x="548640" y="1371600"/>
            <a:ext cx="2057400" cy="2514600"/>
          </a:xfrm>
          <a:prstGeom prst="roundRect">
            <a:avLst>
              <a:gd name="adj" fmla="val 6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ep-ic-0-circle"/>
          <p:cNvSpPr/>
          <p:nvPr/>
        </p:nvSpPr>
        <p:spPr>
          <a:xfrm>
            <a:off x="777240" y="1572768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step-ic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641" y="1720169"/>
            <a:ext cx="272125" cy="27212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77240" y="22402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一段話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670048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「昨天全聯買衛生紙199，晚上加油」</a:t>
            </a:r>
            <a:endParaRPr lang="en-US" sz="1400" dirty="0"/>
          </a:p>
        </p:txBody>
      </p:sp>
      <p:sp>
        <p:nvSpPr>
          <p:cNvPr id="8" name="step-a-0"/>
          <p:cNvSpPr/>
          <p:nvPr/>
        </p:nvSpPr>
        <p:spPr>
          <a:xfrm>
            <a:off x="2624328" y="2624328"/>
            <a:ext cx="192024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9" name="step-1"/>
          <p:cNvSpPr/>
          <p:nvPr/>
        </p:nvSpPr>
        <p:spPr>
          <a:xfrm>
            <a:off x="2834640" y="1371600"/>
            <a:ext cx="2057400" cy="2514600"/>
          </a:xfrm>
          <a:prstGeom prst="roundRect">
            <a:avLst>
              <a:gd name="adj" fmla="val 6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tep-ic-1-circle"/>
          <p:cNvSpPr/>
          <p:nvPr/>
        </p:nvSpPr>
        <p:spPr>
          <a:xfrm>
            <a:off x="3063240" y="1572768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step-ic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0641" y="1720169"/>
            <a:ext cx="272125" cy="27212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063240" y="22402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組 prompt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3063240" y="2670048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規則＋今天日期＋這個家的分類清單＋一組範例</a:t>
            </a:r>
            <a:endParaRPr lang="en-US" sz="1400" dirty="0"/>
          </a:p>
        </p:txBody>
      </p:sp>
      <p:sp>
        <p:nvSpPr>
          <p:cNvPr id="14" name="step-a-1"/>
          <p:cNvSpPr/>
          <p:nvPr/>
        </p:nvSpPr>
        <p:spPr>
          <a:xfrm>
            <a:off x="4910328" y="2624328"/>
            <a:ext cx="192024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5" name="step-2"/>
          <p:cNvSpPr/>
          <p:nvPr/>
        </p:nvSpPr>
        <p:spPr>
          <a:xfrm>
            <a:off x="5120640" y="1371600"/>
            <a:ext cx="2057400" cy="2514600"/>
          </a:xfrm>
          <a:prstGeom prst="roundRect">
            <a:avLst>
              <a:gd name="adj" fmla="val 6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tep-ic-2-circle"/>
          <p:cNvSpPr/>
          <p:nvPr/>
        </p:nvSpPr>
        <p:spPr>
          <a:xfrm>
            <a:off x="5349240" y="1572768"/>
            <a:ext cx="566928" cy="566928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7" name="step-ic-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6641" y="1720169"/>
            <a:ext cx="272125" cy="27212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349240" y="22402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模型用工具交出</a:t>
            </a:r>
            <a:endParaRPr lang="en-US" sz="1700" dirty="0"/>
          </a:p>
        </p:txBody>
      </p:sp>
      <p:sp>
        <p:nvSpPr>
          <p:cNvPr id="19" name="Text 14"/>
          <p:cNvSpPr txBox="1"/>
          <p:nvPr/>
        </p:nvSpPr>
        <p:spPr>
          <a:xfrm>
            <a:off x="5349240" y="2670048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record_transactions：每一筆每一欄都要表態，沒講就填 null</a:t>
            </a:r>
            <a:endParaRPr lang="en-US" sz="1400" dirty="0"/>
          </a:p>
        </p:txBody>
      </p:sp>
      <p:sp>
        <p:nvSpPr>
          <p:cNvPr id="20" name="step-a-2"/>
          <p:cNvSpPr/>
          <p:nvPr/>
        </p:nvSpPr>
        <p:spPr>
          <a:xfrm>
            <a:off x="7196328" y="2624328"/>
            <a:ext cx="192024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1" name="step-3"/>
          <p:cNvSpPr/>
          <p:nvPr/>
        </p:nvSpPr>
        <p:spPr>
          <a:xfrm>
            <a:off x="7406640" y="1371600"/>
            <a:ext cx="2057400" cy="2514600"/>
          </a:xfrm>
          <a:prstGeom prst="roundRect">
            <a:avLst>
              <a:gd name="adj" fmla="val 6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tep-ic-3-circle"/>
          <p:cNvSpPr/>
          <p:nvPr/>
        </p:nvSpPr>
        <p:spPr>
          <a:xfrm>
            <a:off x="7635240" y="1572768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step-ic-3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2641" y="1720169"/>
            <a:ext cx="272125" cy="27212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635240" y="22402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程式逐欄驗證</a:t>
            </a:r>
            <a:endParaRPr lang="en-US" sz="1700" dirty="0"/>
          </a:p>
        </p:txBody>
      </p:sp>
      <p:sp>
        <p:nvSpPr>
          <p:cNvPr id="25" name="Text 19"/>
          <p:cNvSpPr txBox="1"/>
          <p:nvPr/>
        </p:nvSpPr>
        <p:spPr>
          <a:xfrm>
            <a:off x="7635240" y="2670048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日期重算、金額對原句、分類要在清單裡</a:t>
            </a:r>
            <a:endParaRPr lang="en-US" sz="1400" dirty="0"/>
          </a:p>
        </p:txBody>
      </p:sp>
      <p:sp>
        <p:nvSpPr>
          <p:cNvPr id="26" name="step-a-3"/>
          <p:cNvSpPr/>
          <p:nvPr/>
        </p:nvSpPr>
        <p:spPr>
          <a:xfrm>
            <a:off x="9482328" y="2624328"/>
            <a:ext cx="192024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7" name="step-4"/>
          <p:cNvSpPr/>
          <p:nvPr/>
        </p:nvSpPr>
        <p:spPr>
          <a:xfrm>
            <a:off x="9692640" y="1371600"/>
            <a:ext cx="2057400" cy="2514600"/>
          </a:xfrm>
          <a:prstGeom prst="roundRect">
            <a:avLst>
              <a:gd name="adj" fmla="val 6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step-ic-4-circle"/>
          <p:cNvSpPr/>
          <p:nvPr/>
        </p:nvSpPr>
        <p:spPr>
          <a:xfrm>
            <a:off x="9921240" y="1572768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9" name="step-ic-4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68641" y="1720169"/>
            <a:ext cx="272125" cy="272125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9921240" y="22402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人確認才寫入</a:t>
            </a:r>
            <a:endParaRPr lang="en-US" sz="1700" dirty="0"/>
          </a:p>
        </p:txBody>
      </p:sp>
      <p:sp>
        <p:nvSpPr>
          <p:cNvPr id="31" name="Text 24"/>
          <p:cNvSpPr txBox="1"/>
          <p:nvPr/>
        </p:nvSpPr>
        <p:spPr>
          <a:xfrm>
            <a:off x="9921240" y="2670048"/>
            <a:ext cx="1691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缺的標紅、沒把握的標黃，按確認才存</a:t>
            </a:r>
            <a:endParaRPr lang="en-US" sz="1400" dirty="0"/>
          </a:p>
        </p:txBody>
      </p:sp>
      <p:graphicFrame>
        <p:nvGraphicFramePr>
          <p:cNvPr id="13" name="parse-examp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1480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651760"/>
                <a:gridCol w="1371600"/>
                <a:gridCol w="1371600"/>
                <a:gridCol w="292608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原句的那一段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日期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金額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分類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畫面上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昨天全聯買衛生紙199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10/14（程式依「昨天」算）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199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日用品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正常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晚上加油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10/15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（沒講）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交通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金額標紅、補上才能送</a:t>
                      </a:r>
                      <a:endParaRPr lang="en-US" sz="13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3" name="tool-why"/>
          <p:cNvSpPr/>
          <p:nvPr/>
        </p:nvSpPr>
        <p:spPr>
          <a:xfrm>
            <a:off x="548640" y="5257800"/>
            <a:ext cx="11064240" cy="914400"/>
          </a:xfrm>
          <a:prstGeom prst="roundRect">
            <a:avLst>
              <a:gd name="adj" fmla="val 14000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822960" y="5330952"/>
            <a:ext cx="10515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為什麼用工具呼叫（function calling），不是叫模型「回 JSON」？
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工具的參數有 JSON Schema 約束：每一欄都 required、不收多的欄位，Claude 的 strict 模式保證格式一定對。模型要嘛交出合格的結構，要嘛交不出來——不會有「JSON 少一個括號」這種錯。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解析結果：人一眼看得出哪裡要補</a:t>
            </a:r>
            <a:endParaRPr lang="en-US" sz="3200" dirty="0"/>
          </a:p>
        </p:txBody>
      </p:sp>
      <p:sp>
        <p:nvSpPr>
          <p:cNvPr id="3" name="shot-parse-frame"/>
          <p:cNvSpPr/>
          <p:nvPr/>
        </p:nvSpPr>
        <p:spPr>
          <a:xfrm>
            <a:off x="557784" y="1289304"/>
            <a:ext cx="7388352" cy="4679442"/>
          </a:xfrm>
          <a:prstGeom prst="roundRect">
            <a:avLst>
              <a:gd name="adj" fmla="val 2345"/>
            </a:avLst>
          </a:prstGeom>
          <a:solidFill>
            <a:schemeClr val="bg1"/>
          </a:solidFill>
          <a:ln w="9525">
            <a:solidFill>
              <a:srgbClr val="D6E0EE"/>
            </a:solidFill>
            <a:prstDash val="solid"/>
          </a:ln>
          <a:effectLst>
            <a:outerShdw sx="100000" sy="100000" kx="0" ky="0" algn="bl" rotWithShape="0" blurRad="127000" dist="38100" dir="5400000">
              <a:srgbClr val="0B2A5B">
                <a:alpha val="14000"/>
              </a:srgbClr>
            </a:outerShdw>
          </a:effectLst>
        </p:spPr>
      </p:sp>
      <p:pic>
        <p:nvPicPr>
          <p:cNvPr id="4" name="shot-parse" descr="C:\Users\User\Desktop\agent\final_project\report\assets\par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7223760" cy="451485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" y="6053328"/>
            <a:ext cx="7223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截圖：本機沒接模型時的備援結果（標紅、標黃的方式跟接模型時一樣；線上接的是 Claude）</a:t>
            </a:r>
            <a:endParaRPr lang="en-US" sz="1100" dirty="0"/>
          </a:p>
        </p:txBody>
      </p:sp>
      <p:sp>
        <p:nvSpPr>
          <p:cNvPr id="6" name="parse-c0-circle"/>
          <p:cNvSpPr/>
          <p:nvPr/>
        </p:nvSpPr>
        <p:spPr>
          <a:xfrm>
            <a:off x="8275320" y="1417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parse-c0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7966" y="1559966"/>
            <a:ext cx="263347" cy="26334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961120" y="139903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只留項目、附原句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8961120" y="178308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備註只寫買了什麼，例如「自動鉛筆」；原句那一段小字附在下面，切錯一眼就看得到</a:t>
            </a:r>
            <a:endParaRPr lang="en-US" sz="1300" dirty="0"/>
          </a:p>
        </p:txBody>
      </p:sp>
      <p:sp>
        <p:nvSpPr>
          <p:cNvPr id="10" name="parse-c1-circle"/>
          <p:cNvSpPr/>
          <p:nvPr/>
        </p:nvSpPr>
        <p:spPr>
          <a:xfrm>
            <a:off x="8275320" y="260604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1" name="parse-c1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7966" y="2748686"/>
            <a:ext cx="263347" cy="26334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961120" y="258775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缺的標紅</a:t>
            </a:r>
            <a:endParaRPr lang="en-US" sz="1700" dirty="0"/>
          </a:p>
        </p:txBody>
      </p:sp>
      <p:sp>
        <p:nvSpPr>
          <p:cNvPr id="13" name="Text 8"/>
          <p:cNvSpPr txBox="1"/>
          <p:nvPr/>
        </p:nvSpPr>
        <p:spPr>
          <a:xfrm>
            <a:off x="8961120" y="297180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沒講金額就是空的、標「必填」，不會猜一個數字；補上才能送出</a:t>
            </a:r>
            <a:endParaRPr lang="en-US" sz="1300" dirty="0"/>
          </a:p>
        </p:txBody>
      </p:sp>
      <p:sp>
        <p:nvSpPr>
          <p:cNvPr id="14" name="parse-c2-circle"/>
          <p:cNvSpPr/>
          <p:nvPr/>
        </p:nvSpPr>
        <p:spPr>
          <a:xfrm>
            <a:off x="8275320" y="3794760"/>
            <a:ext cx="548640" cy="54864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5" name="parse-c2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7966" y="3937406"/>
            <a:ext cx="263347" cy="263347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961120" y="377647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沒把握的標黃</a:t>
            </a:r>
            <a:endParaRPr lang="en-US" sz="1700" dirty="0"/>
          </a:p>
        </p:txBody>
      </p:sp>
      <p:sp>
        <p:nvSpPr>
          <p:cNvPr id="17" name="Text 11"/>
          <p:cNvSpPr txBox="1"/>
          <p:nvPr/>
        </p:nvSpPr>
        <p:spPr>
          <a:xfrm>
            <a:off x="8961120" y="416052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每一欄各自有信心度，低於 85% 標黃顯示百分比</a:t>
            </a:r>
            <a:endParaRPr lang="en-US" sz="1300" dirty="0"/>
          </a:p>
        </p:txBody>
      </p:sp>
      <p:sp>
        <p:nvSpPr>
          <p:cNvPr id="18" name="parse-c3-circle"/>
          <p:cNvSpPr/>
          <p:nvPr/>
        </p:nvSpPr>
        <p:spPr>
          <a:xfrm>
            <a:off x="8275320" y="4983480"/>
            <a:ext cx="548640" cy="54864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9" name="parse-c3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7966" y="5126126"/>
            <a:ext cx="263347" cy="263347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961120" y="496519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模型叫不動也能用</a:t>
            </a:r>
            <a:endParaRPr lang="en-US" sz="1700" dirty="0"/>
          </a:p>
        </p:txBody>
      </p:sp>
      <p:sp>
        <p:nvSpPr>
          <p:cNvPr id="21" name="Text 14"/>
          <p:cNvSpPr txBox="1"/>
          <p:nvPr/>
        </p:nvSpPr>
        <p:spPr>
          <a:xfrm>
            <a:off x="8961120" y="534924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後端回 503 時先用簡易規則拆好、畫面上講清楚，寫入照樣走後端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模型負責理解，程式負責確定的事</a:t>
            </a:r>
            <a:endParaRPr lang="en-US" sz="3200" dirty="0"/>
          </a:p>
        </p:txBody>
      </p:sp>
      <p:sp>
        <p:nvSpPr>
          <p:cNvPr id="3" name="split-0"/>
          <p:cNvSpPr/>
          <p:nvPr/>
        </p:nvSpPr>
        <p:spPr>
          <a:xfrm>
            <a:off x="548640" y="1417320"/>
            <a:ext cx="5440680" cy="3611880"/>
          </a:xfrm>
          <a:prstGeom prst="roundRect">
            <a:avLst>
              <a:gd name="adj" fmla="val 35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plit-ic-0-circle"/>
          <p:cNvSpPr/>
          <p:nvPr/>
        </p:nvSpPr>
        <p:spPr>
          <a:xfrm>
            <a:off x="868680" y="1645920"/>
            <a:ext cx="640080" cy="64008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split-ic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1" y="181234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6459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交給模型（語意判斷）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51460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把一段話切成幾筆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「全家」是店名還是家人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「退款」「賣二手」是收入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從分類清單挑最像的那一個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沒講的欄位老實填 null</a:t>
            </a:r>
            <a:endParaRPr lang="en-US" sz="1500" dirty="0"/>
          </a:p>
        </p:txBody>
      </p:sp>
      <p:sp>
        <p:nvSpPr>
          <p:cNvPr id="8" name="split-1"/>
          <p:cNvSpPr/>
          <p:nvPr/>
        </p:nvSpPr>
        <p:spPr>
          <a:xfrm>
            <a:off x="6172200" y="1417320"/>
            <a:ext cx="5440680" cy="3611880"/>
          </a:xfrm>
          <a:prstGeom prst="roundRect">
            <a:avLst>
              <a:gd name="adj" fmla="val 354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plit-ic-1-circle"/>
          <p:cNvSpPr/>
          <p:nvPr/>
        </p:nvSpPr>
        <p:spPr>
          <a:xfrm>
            <a:off x="6492240" y="164592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split-ic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8661" y="181234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15200" y="16459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交給程式（對事實）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251460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「昨天」「上禮拜三」「9/17」換成日期；這一段沒講就沿用前一段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原句沒有數字，金額一定是空的；跟原句（含「1.2 萬」）對不上就標出來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店家要在原句裡；備註只留項目（「自動鉛筆」）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分類要在清單裡、收支要對得上；照這個人以前的改法調整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確認後才寫資料庫（全部成功或全部不寫）</a:t>
            </a:r>
            <a:endParaRPr lang="en-US" sz="1500" dirty="0"/>
          </a:p>
        </p:txBody>
      </p:sp>
      <p:sp>
        <p:nvSpPr>
          <p:cNvPr id="13" name="date-why"/>
          <p:cNvSpPr/>
          <p:nvPr/>
        </p:nvSpPr>
        <p:spPr>
          <a:xfrm>
            <a:off x="548640" y="5257800"/>
            <a:ext cx="11064240" cy="822960"/>
          </a:xfrm>
          <a:prstGeom prst="roundRect">
            <a:avLst>
              <a:gd name="adj" fmla="val 15556"/>
            </a:avLst>
          </a:prstGeom>
          <a:solidFill>
            <a:srgbClr val="FFF4EC"/>
          </a:solidFill>
          <a:ln w="12700">
            <a:solidFill>
              <a:srgbClr val="FFF4EC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22960" y="5349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為什麼日期不給模型算：模型最常錯的就是差一天，而這種錯使用者幾乎不會發現，月統計卻已經跑掉。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財務建議：每一個數字都要找得到出處</a:t>
            </a:r>
            <a:endParaRPr lang="en-US" sz="3200" dirty="0"/>
          </a:p>
        </p:txBody>
      </p:sp>
      <p:sp>
        <p:nvSpPr>
          <p:cNvPr id="3" name="adv-0"/>
          <p:cNvSpPr/>
          <p:nvPr/>
        </p:nvSpPr>
        <p:spPr>
          <a:xfrm>
            <a:off x="548640" y="1417320"/>
            <a:ext cx="2606040" cy="16002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資料庫算數字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574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收入、支出、各分類、可支配上限</a:t>
            </a:r>
            <a:endParaRPr lang="en-US" sz="1300" dirty="0"/>
          </a:p>
        </p:txBody>
      </p:sp>
      <p:sp>
        <p:nvSpPr>
          <p:cNvPr id="6" name="adv-a-0"/>
          <p:cNvSpPr/>
          <p:nvPr/>
        </p:nvSpPr>
        <p:spPr>
          <a:xfrm>
            <a:off x="3182112" y="2212848"/>
            <a:ext cx="173736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7" name="adv-1"/>
          <p:cNvSpPr/>
          <p:nvPr/>
        </p:nvSpPr>
        <p:spPr>
          <a:xfrm>
            <a:off x="3383280" y="1417320"/>
            <a:ext cx="2606040" cy="16002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0" y="16002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先算好比例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657600" y="20574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支出佔收入、用掉幾成、各分類佔比</a:t>
            </a:r>
            <a:endParaRPr lang="en-US" sz="1300" dirty="0"/>
          </a:p>
        </p:txBody>
      </p:sp>
      <p:sp>
        <p:nvSpPr>
          <p:cNvPr id="10" name="adv-a-1"/>
          <p:cNvSpPr/>
          <p:nvPr/>
        </p:nvSpPr>
        <p:spPr>
          <a:xfrm>
            <a:off x="6016752" y="2212848"/>
            <a:ext cx="173736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1" name="adv-2"/>
          <p:cNvSpPr/>
          <p:nvPr/>
        </p:nvSpPr>
        <p:spPr>
          <a:xfrm>
            <a:off x="6217920" y="1417320"/>
            <a:ext cx="2606040" cy="16002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92240" y="16002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3"/>
                </a:solidFill>
              </a:rPr>
              <a:t>模型只寫句子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0574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結構化輸出；理財習慣標成「資料，不是指令」</a:t>
            </a:r>
            <a:endParaRPr lang="en-US" sz="1300" dirty="0"/>
          </a:p>
        </p:txBody>
      </p:sp>
      <p:sp>
        <p:nvSpPr>
          <p:cNvPr id="14" name="adv-a-2"/>
          <p:cNvSpPr/>
          <p:nvPr/>
        </p:nvSpPr>
        <p:spPr>
          <a:xfrm>
            <a:off x="8851392" y="2212848"/>
            <a:ext cx="173736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5" name="adv-3"/>
          <p:cNvSpPr/>
          <p:nvPr/>
        </p:nvSpPr>
        <p:spPr>
          <a:xfrm>
            <a:off x="9052560" y="1417320"/>
            <a:ext cx="2606040" cy="16002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326880" y="16002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檢查數字出處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9326880" y="205740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找不到出處、或套錯分類的那一則直接不顯示</a:t>
            </a:r>
            <a:endParaRPr lang="en-US" sz="1300" dirty="0"/>
          </a:p>
        </p:txBody>
      </p:sp>
      <p:sp>
        <p:nvSpPr>
          <p:cNvPr id="18" name="adv-ex-0"/>
          <p:cNvSpPr/>
          <p:nvPr/>
        </p:nvSpPr>
        <p:spPr>
          <a:xfrm>
            <a:off x="548640" y="3291840"/>
            <a:ext cx="5440680" cy="1920240"/>
          </a:xfrm>
          <a:prstGeom prst="roundRect">
            <a:avLst>
              <a:gd name="adj" fmla="val 6667"/>
            </a:avLst>
          </a:prstGeom>
          <a:solidFill>
            <a:srgbClr val="EAF7F2"/>
          </a:solidFill>
          <a:ln w="12700">
            <a:solidFill>
              <a:srgbClr val="EAF7F2"/>
            </a:solidFill>
            <a:prstDash val="solid"/>
          </a:ln>
        </p:spPr>
      </p:sp>
      <p:sp>
        <p:nvSpPr>
          <p:cNvPr id="19" name="adv-ex-ic-0-circle"/>
          <p:cNvSpPr/>
          <p:nvPr/>
        </p:nvSpPr>
        <p:spPr>
          <a:xfrm>
            <a:off x="822960" y="34747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0" name="adv-ex-ic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719" y="3605479"/>
            <a:ext cx="241402" cy="241402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508760" y="34747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有出處，照常顯示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" y="4114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「這個月已經用掉 86% 的可支配上限」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822960" y="457200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86% 是程式先算好的比例 → 信心度照模型給的</a:t>
            </a:r>
            <a:endParaRPr lang="en-US" sz="1250" dirty="0"/>
          </a:p>
        </p:txBody>
      </p:sp>
      <p:sp>
        <p:nvSpPr>
          <p:cNvPr id="24" name="adv-ex-1"/>
          <p:cNvSpPr/>
          <p:nvPr/>
        </p:nvSpPr>
        <p:spPr>
          <a:xfrm>
            <a:off x="6172200" y="3291840"/>
            <a:ext cx="5440680" cy="1920240"/>
          </a:xfrm>
          <a:prstGeom prst="roundRect">
            <a:avLst>
              <a:gd name="adj" fmla="val 6667"/>
            </a:avLst>
          </a:prstGeom>
          <a:solidFill>
            <a:srgbClr val="FFF4EC"/>
          </a:solidFill>
          <a:ln w="12700">
            <a:solidFill>
              <a:srgbClr val="FFF4EC"/>
            </a:solidFill>
            <a:prstDash val="solid"/>
          </a:ln>
        </p:spPr>
      </p:sp>
      <p:sp>
        <p:nvSpPr>
          <p:cNvPr id="25" name="adv-ex-ic-1-circle"/>
          <p:cNvSpPr/>
          <p:nvPr/>
        </p:nvSpPr>
        <p:spPr>
          <a:xfrm>
            <a:off x="6446520" y="3474720"/>
            <a:ext cx="502920" cy="5029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6" name="adv-ex-ic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7279" y="3605479"/>
            <a:ext cx="241402" cy="241402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7132320" y="34747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沒出處或套錯，整則不顯示</a:t>
            </a:r>
            <a:endParaRPr lang="en-US" sz="1700" dirty="0"/>
          </a:p>
        </p:txBody>
      </p:sp>
      <p:sp>
        <p:nvSpPr>
          <p:cNvPr id="28" name="Text 24"/>
          <p:cNvSpPr txBox="1"/>
          <p:nvPr/>
        </p:nvSpPr>
        <p:spPr>
          <a:xfrm>
            <a:off x="6446520" y="4114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tx1"/>
                </a:solidFill>
              </a:rPr>
              <a:t>「照這樣一年會花 103,200 元」</a:t>
            </a:r>
            <a:endParaRPr lang="en-US" sz="1600" dirty="0"/>
          </a:p>
        </p:txBody>
      </p:sp>
      <p:sp>
        <p:nvSpPr>
          <p:cNvPr id="29" name="Text 25"/>
          <p:cNvSpPr txBox="1"/>
          <p:nvPr/>
        </p:nvSpPr>
        <p:spPr>
          <a:xfrm>
            <a:off x="6446520" y="457200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103,200 是模型自己乘出來的；「交通花了 6,000」其實是餐飲的 → 都丟掉；一則都不剩就改用同一批數字整理的版本</a:t>
            </a:r>
            <a:endParaRPr lang="en-US" sz="1250" dirty="0"/>
          </a:p>
        </p:txBody>
      </p:sp>
      <p:sp>
        <p:nvSpPr>
          <p:cNvPr id="30" name="Text 26"/>
          <p:cNvSpPr txBox="1"/>
          <p:nvPr/>
        </p:nvSpPr>
        <p:spPr>
          <a:xfrm>
            <a:off x="548640" y="5440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邊界規則：不給投資、保險、稅務建議；不對個人做價值判斷（不說「你太浪費」）；使用者填的理財習慣只當背景。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怎麼量 AI 解析的成績</a:t>
            </a:r>
            <a:endParaRPr lang="en-US" sz="3200" dirty="0"/>
          </a:p>
        </p:txBody>
      </p:sp>
      <p:graphicFrame>
        <p:nvGraphicFramePr>
          <p:cNvPr id="3" name="chart-tags" descr=""/>
          <p:cNvGraphicFramePr/>
          <p:nvPr/>
        </p:nvGraphicFramePr>
        <p:xfrm>
          <a:off x="548640" y="1371600"/>
          <a:ext cx="566928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583680" y="14173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看什麼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6583680" y="19202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切分正確率　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切出來的筆數跟答案一樣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583680" y="2487168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整題完全正確　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筆數對、每一筆四欄都對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583680" y="3054096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日期／金額／收支／分類　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逐欄正確率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583680" y="362102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分類 Macro-F1　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小分類跟大分類一樣重要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583680" y="418795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沒講金額卻填數字　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幻覺率：答案是空的、模型卻給了數字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583680" y="47548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延遲　</a:t>
            </a:r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p50／p95 秒數</a:t>
            </a:r>
            <a:endParaRPr lang="en-US" sz="1400" dirty="0"/>
          </a:p>
        </p:txBody>
      </p:sp>
      <p:sp>
        <p:nvSpPr>
          <p:cNvPr id="11" name="eval-note"/>
          <p:cNvSpPr/>
          <p:nvPr/>
        </p:nvSpPr>
        <p:spPr>
          <a:xfrm>
            <a:off x="6583680" y="5440680"/>
            <a:ext cx="5029200" cy="685800"/>
          </a:xfrm>
          <a:prstGeom prst="roundRect">
            <a:avLst>
              <a:gd name="adj" fmla="val 18667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766560" y="5486400"/>
            <a:ext cx="4709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答案由 AI 產生，再用程式獨立驗算金額、日期、收支（0 錯）。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評測結果：同一份 101 題，三套系統</a:t>
            </a:r>
            <a:endParaRPr lang="en-US" sz="3200" dirty="0"/>
          </a:p>
        </p:txBody>
      </p:sp>
      <p:graphicFrame>
        <p:nvGraphicFramePr>
          <p:cNvPr id="3" name="chart-eval" descr=""/>
          <p:cNvGraphicFramePr/>
          <p:nvPr/>
        </p:nvGraphicFramePr>
        <p:xfrm>
          <a:off x="548640" y="1371600"/>
          <a:ext cx="69494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eval-side"/>
          <p:cNvSpPr/>
          <p:nvPr/>
        </p:nvSpPr>
        <p:spPr>
          <a:xfrm>
            <a:off x="7863840" y="1463040"/>
            <a:ext cx="3749040" cy="4617720"/>
          </a:xfrm>
          <a:prstGeom prst="roundRect">
            <a:avLst>
              <a:gd name="adj" fmla="val 3415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138160" y="16459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數字背後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2148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整題完全正確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138160" y="240487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100.0%（線上）／63.4%（規則）／6.9%（1.5B）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8138160" y="28346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分類 Macro-F1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138160" y="309067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100.0%（線上）／79.1%（規則）／12.9%（1.5B）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8138160" y="3520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沒講金額卻填數字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377647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0.0%（線上）／0.0%（規則）／50.0%（1.5B）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8138160" y="42062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每句要等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138160" y="4462272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chemeClr val="tx1"/>
                </a:solidFill>
              </a:rPr>
              <a:t>2.06 秒（線上 p50，p95 5.16）；1.5B 本機 27.27 秒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8138160" y="4937760"/>
            <a:ext cx="3291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線上量的是上線那一套：Claude＋輸出管理（程式逐筆對原句）。⚠️ 題目由 AI 產生、句型比真人整齊，100% 不代表不會錯。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錯誤分析：deepseek-r1:1.5b 錯在哪</a:t>
            </a:r>
            <a:endParaRPr lang="en-US" sz="3200" dirty="0"/>
          </a:p>
        </p:txBody>
      </p:sp>
      <p:graphicFrame>
        <p:nvGraphicFramePr>
          <p:cNvPr id="19" name="miss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657600"/>
                <a:gridCol w="4114800"/>
              </a:tblGrid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句子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錯在哪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原因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早餐55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分類：居住 → 應為 餐飲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5"/>
                          </a:solidFill>
                        </a:rPr>
                        <a:t>不會照分類清單挑，常挑到不相干的分類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宵夜鹽酥雞150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切成 2 筆（答案 1 筆）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5"/>
                          </a:solidFill>
                        </a:rPr>
                        <a:t>把一筆切成兩筆，或把兩筆併成一筆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Uber 回家 270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收支：（沒填） → 應為 支出；分類：薪資 → 應為 交通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5"/>
                          </a:solidFill>
                        </a:rPr>
                        <a:t>收支沒填或填反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全家一起吃火鍋 1800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金額：（沒填） → 應為 1800；分類：醫療 → 應為 餐飲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5"/>
                          </a:solidFill>
                        </a:rPr>
                        <a:t>金額漏抄或抄錯；沒講金額時反而自己補一個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小孩補習費四千五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3"/>
                          </a:solidFill>
                        </a:rPr>
                        <a:t>日期：（沒填） → 應為 2026-10-14；分類：（沒填） → 應為 教育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accent5"/>
                          </a:solidFill>
                        </a:rPr>
                        <a:t>整筆欄位都沒交出來（有時間詞的日期由程式依原句重算）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0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4" name="miss-take"/>
          <p:cNvSpPr/>
          <p:nvPr/>
        </p:nvSpPr>
        <p:spPr>
          <a:xfrm>
            <a:off x="548640" y="5486400"/>
            <a:ext cx="11064240" cy="685800"/>
          </a:xfrm>
          <a:prstGeom prst="roundRect">
            <a:avLst>
              <a:gd name="adj" fmla="val 18667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22960" y="553212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小模型零樣本：分類幾乎亂挑、沒講金額一半會自己補數字，還會把原句轉成簡體。所以上線用 Claude（同一份題目全對），小模型留作微調的對照組。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加分項：微調自己的小模型當對照組</a:t>
            </a:r>
            <a:endParaRPr lang="en-US" sz="3200" dirty="0"/>
          </a:p>
        </p:txBody>
      </p:sp>
      <p:sp>
        <p:nvSpPr>
          <p:cNvPr id="3" name="ft-0"/>
          <p:cNvSpPr/>
          <p:nvPr/>
        </p:nvSpPr>
        <p:spPr>
          <a:xfrm>
            <a:off x="548640" y="1371600"/>
            <a:ext cx="1691640" cy="2468880"/>
          </a:xfrm>
          <a:prstGeom prst="roundRect">
            <a:avLst>
              <a:gd name="adj" fmla="val 756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ft-ic-0-circle"/>
          <p:cNvSpPr/>
          <p:nvPr/>
        </p:nvSpPr>
        <p:spPr>
          <a:xfrm>
            <a:off x="777240" y="1572768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ft-ic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5132" y="1710660"/>
            <a:ext cx="254569" cy="25456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2402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產生訓練資料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88036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1,500 題，一半是一段多筆</a:t>
            </a:r>
            <a:endParaRPr lang="en-US" sz="1300" dirty="0"/>
          </a:p>
        </p:txBody>
      </p:sp>
      <p:sp>
        <p:nvSpPr>
          <p:cNvPr id="8" name="ft-1"/>
          <p:cNvSpPr/>
          <p:nvPr/>
        </p:nvSpPr>
        <p:spPr>
          <a:xfrm>
            <a:off x="2423160" y="1371600"/>
            <a:ext cx="1691640" cy="2468880"/>
          </a:xfrm>
          <a:prstGeom prst="roundRect">
            <a:avLst>
              <a:gd name="adj" fmla="val 756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ft-ic-1-circle"/>
          <p:cNvSpPr/>
          <p:nvPr/>
        </p:nvSpPr>
        <p:spPr>
          <a:xfrm>
            <a:off x="2651760" y="1572768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ft-ic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9652" y="1710660"/>
            <a:ext cx="254569" cy="25456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606040" y="22402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轉成對話格式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2606040" y="288036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prompt 直接用上線那一支，一字不差</a:t>
            </a:r>
            <a:endParaRPr lang="en-US" sz="1300" dirty="0"/>
          </a:p>
        </p:txBody>
      </p:sp>
      <p:sp>
        <p:nvSpPr>
          <p:cNvPr id="13" name="ft-2"/>
          <p:cNvSpPr/>
          <p:nvPr/>
        </p:nvSpPr>
        <p:spPr>
          <a:xfrm>
            <a:off x="4297680" y="1371600"/>
            <a:ext cx="1691640" cy="2468880"/>
          </a:xfrm>
          <a:prstGeom prst="roundRect">
            <a:avLst>
              <a:gd name="adj" fmla="val 756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ft-ic-2-circle"/>
          <p:cNvSpPr/>
          <p:nvPr/>
        </p:nvSpPr>
        <p:spPr>
          <a:xfrm>
            <a:off x="4526280" y="1572768"/>
            <a:ext cx="530352" cy="53035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ft-ic-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4172" y="1710660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480560" y="22402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Colab 免費 T4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4480560" y="288036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Unsloth QLoRA 微調 Qwen2.5-1.5B</a:t>
            </a:r>
            <a:endParaRPr lang="en-US" sz="1300" dirty="0"/>
          </a:p>
        </p:txBody>
      </p:sp>
      <p:sp>
        <p:nvSpPr>
          <p:cNvPr id="18" name="ft-3"/>
          <p:cNvSpPr/>
          <p:nvPr/>
        </p:nvSpPr>
        <p:spPr>
          <a:xfrm>
            <a:off x="6172200" y="1371600"/>
            <a:ext cx="1691640" cy="2468880"/>
          </a:xfrm>
          <a:prstGeom prst="roundRect">
            <a:avLst>
              <a:gd name="adj" fmla="val 756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ft-ic-3-circle"/>
          <p:cNvSpPr/>
          <p:nvPr/>
        </p:nvSpPr>
        <p:spPr>
          <a:xfrm>
            <a:off x="6400800" y="1572768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ft-ic-3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8692" y="1710660"/>
            <a:ext cx="254569" cy="254569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355080" y="22402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轉 GGUF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355080" y="288036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q4_k_m，約 1 GB</a:t>
            </a:r>
            <a:endParaRPr lang="en-US" sz="1300" dirty="0"/>
          </a:p>
        </p:txBody>
      </p:sp>
      <p:sp>
        <p:nvSpPr>
          <p:cNvPr id="23" name="ft-4"/>
          <p:cNvSpPr/>
          <p:nvPr/>
        </p:nvSpPr>
        <p:spPr>
          <a:xfrm>
            <a:off x="8046720" y="1371600"/>
            <a:ext cx="1691640" cy="2468880"/>
          </a:xfrm>
          <a:prstGeom prst="roundRect">
            <a:avLst>
              <a:gd name="adj" fmla="val 756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ft-ic-4-circle"/>
          <p:cNvSpPr/>
          <p:nvPr/>
        </p:nvSpPr>
        <p:spPr>
          <a:xfrm>
            <a:off x="8275320" y="1572768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ft-ic-4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3212" y="1710660"/>
            <a:ext cx="254569" cy="254569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8229600" y="22402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上線服務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8229600" y="288036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Ollama 或 Hugging Face Space</a:t>
            </a:r>
            <a:endParaRPr lang="en-US" sz="1300" dirty="0"/>
          </a:p>
        </p:txBody>
      </p:sp>
      <p:sp>
        <p:nvSpPr>
          <p:cNvPr id="28" name="ft-5"/>
          <p:cNvSpPr/>
          <p:nvPr/>
        </p:nvSpPr>
        <p:spPr>
          <a:xfrm>
            <a:off x="9921240" y="1371600"/>
            <a:ext cx="1691640" cy="2468880"/>
          </a:xfrm>
          <a:prstGeom prst="roundRect">
            <a:avLst>
              <a:gd name="adj" fmla="val 756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ft-ic-5-circle"/>
          <p:cNvSpPr/>
          <p:nvPr/>
        </p:nvSpPr>
        <p:spPr>
          <a:xfrm>
            <a:off x="10149840" y="1572768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ft-ic-5-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7732" y="1710660"/>
            <a:ext cx="254569" cy="254569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10104120" y="224028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同一份題目評分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10104120" y="2880360"/>
            <a:ext cx="1417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跟商業 API、規則放在同一張圖</a:t>
            </a:r>
            <a:endParaRPr lang="en-US" sz="1300" dirty="0"/>
          </a:p>
        </p:txBody>
      </p:sp>
      <p:sp>
        <p:nvSpPr>
          <p:cNvPr id="33" name="ft-pt-0"/>
          <p:cNvSpPr/>
          <p:nvPr/>
        </p:nvSpPr>
        <p:spPr>
          <a:xfrm>
            <a:off x="548640" y="4114800"/>
            <a:ext cx="3520440" cy="2011680"/>
          </a:xfrm>
          <a:prstGeom prst="roundRect">
            <a:avLst>
              <a:gd name="adj" fmla="val 6364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822960" y="4297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分類 id 每題打亂</a:t>
            </a:r>
            <a:endParaRPr lang="en-US" sz="1800" dirty="0"/>
          </a:p>
        </p:txBody>
      </p:sp>
      <p:sp>
        <p:nvSpPr>
          <p:cNvPr id="35" name="Text 27"/>
          <p:cNvSpPr txBox="1"/>
          <p:nvPr/>
        </p:nvSpPr>
        <p:spPr>
          <a:xfrm>
            <a:off x="822960" y="47548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逼模型讀 prompt 裡的清單，不是背「餐飲＝1」。每個家庭的自訂分類 id 都不一樣。</a:t>
            </a:r>
            <a:endParaRPr lang="en-US" sz="1500" dirty="0"/>
          </a:p>
        </p:txBody>
      </p:sp>
      <p:sp>
        <p:nvSpPr>
          <p:cNvPr id="36" name="ft-pt-1"/>
          <p:cNvSpPr/>
          <p:nvPr/>
        </p:nvSpPr>
        <p:spPr>
          <a:xfrm>
            <a:off x="4297680" y="4114800"/>
            <a:ext cx="3520440" cy="2011680"/>
          </a:xfrm>
          <a:prstGeom prst="roundRect">
            <a:avLst>
              <a:gd name="adj" fmla="val 6364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37" name="Text 29"/>
          <p:cNvSpPr txBox="1"/>
          <p:nvPr/>
        </p:nvSpPr>
        <p:spPr>
          <a:xfrm>
            <a:off x="4572000" y="4297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只學回答</a:t>
            </a:r>
            <a:endParaRPr lang="en-US" sz="1800" dirty="0"/>
          </a:p>
        </p:txBody>
      </p:sp>
      <p:sp>
        <p:nvSpPr>
          <p:cNvPr id="38" name="Text 30"/>
          <p:cNvSpPr txBox="1"/>
          <p:nvPr/>
        </p:nvSpPr>
        <p:spPr>
          <a:xfrm>
            <a:off x="4572000" y="47548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prompt 很長（規則＋分類＋工具定義），loss 不花在背 prompt 上。</a:t>
            </a:r>
            <a:endParaRPr lang="en-US" sz="1500" dirty="0"/>
          </a:p>
        </p:txBody>
      </p:sp>
      <p:sp>
        <p:nvSpPr>
          <p:cNvPr id="39" name="ft-pt-2"/>
          <p:cNvSpPr/>
          <p:nvPr/>
        </p:nvSpPr>
        <p:spPr>
          <a:xfrm>
            <a:off x="8046720" y="4114800"/>
            <a:ext cx="3520440" cy="2011680"/>
          </a:xfrm>
          <a:prstGeom prst="roundRect">
            <a:avLst>
              <a:gd name="adj" fmla="val 6364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40" name="Text 32"/>
          <p:cNvSpPr txBox="1"/>
          <p:nvPr/>
        </p:nvSpPr>
        <p:spPr>
          <a:xfrm>
            <a:off x="8321040" y="42976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訓練跟上線一字不差</a:t>
            </a:r>
            <a:endParaRPr lang="en-US" sz="1800" dirty="0"/>
          </a:p>
        </p:txBody>
      </p:sp>
      <p:sp>
        <p:nvSpPr>
          <p:cNvPr id="41" name="Text 33"/>
          <p:cNvSpPr txBox="1"/>
          <p:nvPr/>
        </p:nvSpPr>
        <p:spPr>
          <a:xfrm>
            <a:off x="8321040" y="47548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訓練資料直接 import 上線的 build_prompt；改了 prompt，測試會紅燈提醒重產資料。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測試：自動測試＋真的伺服器走一遍</a:t>
            </a:r>
            <a:endParaRPr lang="en-US" sz="3200" dirty="0"/>
          </a:p>
        </p:txBody>
      </p:sp>
      <p:sp>
        <p:nvSpPr>
          <p:cNvPr id="3" name="test-unit"/>
          <p:cNvSpPr/>
          <p:nvPr/>
        </p:nvSpPr>
        <p:spPr>
          <a:xfrm>
            <a:off x="548640" y="1417320"/>
            <a:ext cx="3383280" cy="2194560"/>
          </a:xfrm>
          <a:prstGeom prst="roundRect">
            <a:avLst>
              <a:gd name="adj" fmla="val 58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850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5146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個自動測試，全部通過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9260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每一支路由都有驗收測試，模型呼叫層、日期換算、資料品質也有</a:t>
            </a:r>
            <a:endParaRPr lang="en-US" sz="1200" dirty="0"/>
          </a:p>
        </p:txBody>
      </p:sp>
      <p:sp>
        <p:nvSpPr>
          <p:cNvPr id="7" name="test-e2e"/>
          <p:cNvSpPr/>
          <p:nvPr/>
        </p:nvSpPr>
        <p:spPr>
          <a:xfrm>
            <a:off x="548640" y="3840480"/>
            <a:ext cx="3383280" cy="224028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02336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96/96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9377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端到端步驟通過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3492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認證 36/36　家庭 20/20　記帳 26/26　數字 14/14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343400" y="1417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端到端測試驗到的幾件事</a:t>
            </a:r>
            <a:endParaRPr lang="en-US" sz="1800" dirty="0"/>
          </a:p>
        </p:txBody>
      </p:sp>
      <p:sp>
        <p:nvSpPr>
          <p:cNvPr id="12" name="chk-0-circle"/>
          <p:cNvSpPr/>
          <p:nvPr/>
        </p:nvSpPr>
        <p:spPr>
          <a:xfrm>
            <a:off x="4343400" y="20116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3" name="chk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3252" y="2111532"/>
            <a:ext cx="184343" cy="184343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846320" y="1993392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沒登入打 API 一律 401</a:t>
            </a:r>
            <a:endParaRPr lang="en-US" sz="1400" dirty="0"/>
          </a:p>
        </p:txBody>
      </p:sp>
      <p:sp>
        <p:nvSpPr>
          <p:cNvPr id="15" name="chk-1-circle"/>
          <p:cNvSpPr/>
          <p:nvPr/>
        </p:nvSpPr>
        <p:spPr>
          <a:xfrm>
            <a:off x="8001000" y="201168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chk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0852" y="2111532"/>
            <a:ext cx="184343" cy="184343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8503920" y="1993392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子女看不到家長的帳（403）</a:t>
            </a:r>
            <a:endParaRPr lang="en-US" sz="1400" dirty="0"/>
          </a:p>
        </p:txBody>
      </p:sp>
      <p:sp>
        <p:nvSpPr>
          <p:cNvPr id="18" name="chk-2-circle"/>
          <p:cNvSpPr/>
          <p:nvPr/>
        </p:nvSpPr>
        <p:spPr>
          <a:xfrm>
            <a:off x="4343400" y="2798064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9" name="chk-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252" y="2897916"/>
            <a:ext cx="184343" cy="184343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846320" y="2779776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外人改不了別人的帳</a:t>
            </a:r>
            <a:endParaRPr lang="en-US" sz="1400" dirty="0"/>
          </a:p>
        </p:txBody>
      </p:sp>
      <p:sp>
        <p:nvSpPr>
          <p:cNvPr id="21" name="chk-3-circle"/>
          <p:cNvSpPr/>
          <p:nvPr/>
        </p:nvSpPr>
        <p:spPr>
          <a:xfrm>
            <a:off x="8001000" y="2798064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2" name="chk-3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0852" y="2897916"/>
            <a:ext cx="184343" cy="184343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8503920" y="2779776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平台管理員讀不到任何人的帳</a:t>
            </a:r>
            <a:endParaRPr lang="en-US" sz="1400" dirty="0"/>
          </a:p>
        </p:txBody>
      </p:sp>
      <p:sp>
        <p:nvSpPr>
          <p:cNvPr id="24" name="chk-4-circle"/>
          <p:cNvSpPr/>
          <p:nvPr/>
        </p:nvSpPr>
        <p:spPr>
          <a:xfrm>
            <a:off x="4343400" y="358444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5" name="chk-4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3252" y="3684300"/>
            <a:ext cx="184343" cy="184343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846320" y="3566160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邀請碼用過、刪掉就不能再用</a:t>
            </a:r>
            <a:endParaRPr lang="en-US" sz="1400" dirty="0"/>
          </a:p>
        </p:txBody>
      </p:sp>
      <p:sp>
        <p:nvSpPr>
          <p:cNvPr id="27" name="chk-5-circle"/>
          <p:cNvSpPr/>
          <p:nvPr/>
        </p:nvSpPr>
        <p:spPr>
          <a:xfrm>
            <a:off x="8001000" y="358444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8" name="chk-5-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0852" y="3684300"/>
            <a:ext cx="184343" cy="184343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8503920" y="3566160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結算後的活動帳本不能再記</a:t>
            </a:r>
            <a:endParaRPr lang="en-US" sz="1400" dirty="0"/>
          </a:p>
        </p:txBody>
      </p:sp>
      <p:sp>
        <p:nvSpPr>
          <p:cNvPr id="30" name="chk-6-circle"/>
          <p:cNvSpPr/>
          <p:nvPr/>
        </p:nvSpPr>
        <p:spPr>
          <a:xfrm>
            <a:off x="4343400" y="4370832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1" name="chk-6-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3252" y="4470684"/>
            <a:ext cx="184343" cy="184343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4846320" y="4352544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改密碼後其他裝置被登出</a:t>
            </a:r>
            <a:endParaRPr lang="en-US" sz="1400" dirty="0"/>
          </a:p>
        </p:txBody>
      </p:sp>
      <p:sp>
        <p:nvSpPr>
          <p:cNvPr id="33" name="chk-7-circle"/>
          <p:cNvSpPr/>
          <p:nvPr/>
        </p:nvSpPr>
        <p:spPr>
          <a:xfrm>
            <a:off x="8001000" y="4370832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4" name="chk-7-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00852" y="4470684"/>
            <a:ext cx="184343" cy="184343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8503920" y="4352544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段落確認寫入：全部成功或全部不寫</a:t>
            </a:r>
            <a:endParaRPr lang="en-US" sz="1400" dirty="0"/>
          </a:p>
        </p:txBody>
      </p:sp>
      <p:sp>
        <p:nvSpPr>
          <p:cNvPr id="36" name="chk-8-circle"/>
          <p:cNvSpPr/>
          <p:nvPr/>
        </p:nvSpPr>
        <p:spPr>
          <a:xfrm>
            <a:off x="4343400" y="515721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37" name="chk-8-icon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43252" y="5257068"/>
            <a:ext cx="184343" cy="184343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4846320" y="5138928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跨過提醒門檻，鈴鐺出現提醒</a:t>
            </a:r>
            <a:endParaRPr lang="en-US" sz="1400" dirty="0"/>
          </a:p>
        </p:txBody>
      </p:sp>
      <p:sp>
        <p:nvSpPr>
          <p:cNvPr id="39" name="chk-9-circle"/>
          <p:cNvSpPr/>
          <p:nvPr/>
        </p:nvSpPr>
        <p:spPr>
          <a:xfrm>
            <a:off x="8001000" y="515721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0" name="chk-9-icon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00852" y="5257068"/>
            <a:ext cx="184343" cy="184343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8503920" y="5138928"/>
            <a:ext cx="3063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停權的人登不進去，解除後恢復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上線實測：測試工程師與使用者各走一遍</a:t>
            </a:r>
            <a:endParaRPr lang="en-US" sz="3200" dirty="0"/>
          </a:p>
        </p:txBody>
      </p:sp>
      <p:sp>
        <p:nvSpPr>
          <p:cNvPr id="3" name="qa-0"/>
          <p:cNvSpPr/>
          <p:nvPr/>
        </p:nvSpPr>
        <p:spPr>
          <a:xfrm>
            <a:off x="548640" y="1417320"/>
            <a:ext cx="2633472" cy="2468880"/>
          </a:xfrm>
          <a:prstGeom prst="roundRect">
            <a:avLst>
              <a:gd name="adj" fmla="val 51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個問題找到並修正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3464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兩輪合計 P0 2、P1 10、P2 9、P3 5；每一個都重新部署、到線上再驗一次</a:t>
            </a:r>
            <a:endParaRPr lang="en-US" sz="1250" dirty="0"/>
          </a:p>
        </p:txBody>
      </p:sp>
      <p:sp>
        <p:nvSpPr>
          <p:cNvPr id="7" name="qa-1"/>
          <p:cNvSpPr/>
          <p:nvPr/>
        </p:nvSpPr>
        <p:spPr>
          <a:xfrm>
            <a:off x="3364992" y="1417320"/>
            <a:ext cx="2633472" cy="2468880"/>
          </a:xfrm>
          <a:prstGeom prst="roundRect">
            <a:avLst>
              <a:gd name="adj" fmla="val 51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39312" y="16002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639312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過期後關閉存取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639312" y="283464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驗證信、重設密碼、邀請碼、登入權杖：時間到真的用不了</a:t>
            </a:r>
            <a:endParaRPr lang="en-US" sz="1250" dirty="0"/>
          </a:p>
        </p:txBody>
      </p:sp>
      <p:sp>
        <p:nvSpPr>
          <p:cNvPr id="11" name="qa-2"/>
          <p:cNvSpPr/>
          <p:nvPr/>
        </p:nvSpPr>
        <p:spPr>
          <a:xfrm>
            <a:off x="6181344" y="1417320"/>
            <a:ext cx="2633472" cy="2468880"/>
          </a:xfrm>
          <a:prstGeom prst="roundRect">
            <a:avLst>
              <a:gd name="adj" fmla="val 51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55664" y="16002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6455664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建議裡的數字全對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55664" y="283464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每一則財務建議的數字都拿帳上的資料手算對過</a:t>
            </a:r>
            <a:endParaRPr lang="en-US" sz="1250" dirty="0"/>
          </a:p>
        </p:txBody>
      </p:sp>
      <p:sp>
        <p:nvSpPr>
          <p:cNvPr id="15" name="qa-3"/>
          <p:cNvSpPr/>
          <p:nvPr/>
        </p:nvSpPr>
        <p:spPr>
          <a:xfrm>
            <a:off x="8997696" y="1417320"/>
            <a:ext cx="2633472" cy="2468880"/>
          </a:xfrm>
          <a:prstGeom prst="roundRect">
            <a:avLst>
              <a:gd name="adj" fmla="val 51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272016" y="16002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9272016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三種寬度橫向溢出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272016" y="283464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5"/>
                </a:solidFill>
              </a:rPr>
              <a:t>375／768／1280 寬，24 個畫面逐一量過</a:t>
            </a:r>
            <a:endParaRPr lang="en-US" sz="1250" dirty="0"/>
          </a:p>
        </p:txBody>
      </p:sp>
      <p:sp>
        <p:nvSpPr>
          <p:cNvPr id="19" name="qa-user"/>
          <p:cNvSpPr/>
          <p:nvPr/>
        </p:nvSpPr>
        <p:spPr>
          <a:xfrm>
            <a:off x="548640" y="4114800"/>
            <a:ext cx="5486400" cy="1965960"/>
          </a:xfrm>
          <a:prstGeom prst="roundRect">
            <a:avLst>
              <a:gd name="adj" fmla="val 65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4251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使用者評分（17 個功能，滿分 100）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4663440"/>
            <a:ext cx="5029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57.6 → 85.7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低於 60 分的功能 7 個 → 0 個；修正後最低 80 分。家長、子女各用一個帳號在正式網站上把每個功能實際用過。</a:t>
            </a:r>
            <a:endParaRPr lang="en-US" sz="1500" dirty="0"/>
          </a:p>
        </p:txBody>
      </p:sp>
      <p:sp>
        <p:nvSpPr>
          <p:cNvPr id="22" name="qa-files"/>
          <p:cNvSpPr/>
          <p:nvPr/>
        </p:nvSpPr>
        <p:spPr>
          <a:xfrm>
            <a:off x="6263640" y="4114800"/>
            <a:ext cx="5349240" cy="1965960"/>
          </a:xfrm>
          <a:prstGeom prst="roundRect">
            <a:avLst>
              <a:gd name="adj" fmla="val 6512"/>
            </a:avLst>
          </a:prstGeom>
          <a:solidFill>
            <a:srgbClr val="F7F9FC"/>
          </a:solidFill>
          <a:ln w="12700">
            <a:solidFill>
              <a:srgbClr val="F7F9F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37960" y="4251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交付的佐證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537960" y="4663440"/>
            <a:ext cx="4892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線上測試報告（PDF，每個問題附重現步驟與修正後的驗證）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使用者評分與改善建議（PDF）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完整測試流程影片（約 3 分鐘）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AI 線上評測結果與資料庫核對查詢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限制與下一步</a:t>
            </a:r>
            <a:endParaRPr lang="en-US" sz="3200" dirty="0"/>
          </a:p>
        </p:txBody>
      </p:sp>
      <p:sp>
        <p:nvSpPr>
          <p:cNvPr id="3" name="lim-0"/>
          <p:cNvSpPr/>
          <p:nvPr/>
        </p:nvSpPr>
        <p:spPr>
          <a:xfrm>
            <a:off x="548640" y="1417320"/>
            <a:ext cx="5440680" cy="4663440"/>
          </a:xfrm>
          <a:prstGeom prst="roundRect">
            <a:avLst>
              <a:gd name="adj" fmla="val 27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lim-ic-0-circle"/>
          <p:cNvSpPr/>
          <p:nvPr/>
        </p:nvSpPr>
        <p:spPr>
          <a:xfrm>
            <a:off x="868680" y="1645920"/>
            <a:ext cx="594360" cy="59436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lim-ic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3214" y="1800454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64592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限制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51460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留出集與訓練資料由 AI 產生；程式驗算過金額、日期、收支，但句型比真人整齊——線上那一套全對，不代表真人說的話都對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微調的小模型還沒跑同一份題目；本機 1.5B 零樣本只有 6.9%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財務建議沒有標準答案，只能用規則檢查（數字出處、套錯分類、邊界）加上人看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防濫用的規則只看次數：換來源的攻擊只擋得住「同一個帳號錯太多次」那一條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免費主機會休眠：第一次開要等一下</a:t>
            </a:r>
            <a:endParaRPr lang="en-US" sz="1500" dirty="0"/>
          </a:p>
        </p:txBody>
      </p:sp>
      <p:sp>
        <p:nvSpPr>
          <p:cNvPr id="8" name="lim-1"/>
          <p:cNvSpPr/>
          <p:nvPr/>
        </p:nvSpPr>
        <p:spPr>
          <a:xfrm>
            <a:off x="6172200" y="1417320"/>
            <a:ext cx="5440680" cy="4663440"/>
          </a:xfrm>
          <a:prstGeom prst="roundRect">
            <a:avLst>
              <a:gd name="adj" fmla="val 274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lim-ic-1-circle"/>
          <p:cNvSpPr/>
          <p:nvPr/>
        </p:nvSpPr>
        <p:spPr>
          <a:xfrm>
            <a:off x="6492240" y="16459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lim-ic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6774" y="180045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69480" y="164592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下一步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2514600"/>
            <a:ext cx="4846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把使用者改過的解析（nlp_parses.user_corrected）收進下一版留出集與訓練資料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微調模型跑同一份題目，跟線上那一套放在同一張表比較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建議加上「跟上個月比」的趨勢敘述（數字一樣由資料庫先算）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家庭改成開放式（下一頁）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下一版：從「照看子女」改成開放式家庭</a:t>
            </a:r>
            <a:endParaRPr lang="en-US" sz="3200" dirty="0"/>
          </a:p>
        </p:txBody>
      </p:sp>
      <p:sp>
        <p:nvSpPr>
          <p:cNvPr id="3" name="redo-0"/>
          <p:cNvSpPr/>
          <p:nvPr/>
        </p:nvSpPr>
        <p:spPr>
          <a:xfrm>
            <a:off x="548640" y="1371600"/>
            <a:ext cx="11064240" cy="822960"/>
          </a:xfrm>
          <a:prstGeom prst="roundRect">
            <a:avLst>
              <a:gd name="adj" fmla="val 15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redo-ic-0-circle"/>
          <p:cNvSpPr/>
          <p:nvPr/>
        </p:nvSpPr>
        <p:spPr>
          <a:xfrm>
            <a:off x="731520" y="15087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redo-ic-0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166" y="1651406"/>
            <a:ext cx="263347" cy="26334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63040" y="14630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成員一律平等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4389120" y="1444752"/>
            <a:ext cx="704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拿掉家長／子女與照看、零用金；誰看得到我的帳由我自己決定。動到別人的資料要輸入自己的密碼</a:t>
            </a:r>
            <a:endParaRPr lang="en-US" sz="1300" dirty="0"/>
          </a:p>
        </p:txBody>
      </p:sp>
      <p:sp>
        <p:nvSpPr>
          <p:cNvPr id="8" name="redo-1"/>
          <p:cNvSpPr/>
          <p:nvPr/>
        </p:nvSpPr>
        <p:spPr>
          <a:xfrm>
            <a:off x="548640" y="2304288"/>
            <a:ext cx="11064240" cy="822960"/>
          </a:xfrm>
          <a:prstGeom prst="roundRect">
            <a:avLst>
              <a:gd name="adj" fmla="val 15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redo-ic-1-circle"/>
          <p:cNvSpPr/>
          <p:nvPr/>
        </p:nvSpPr>
        <p:spPr>
          <a:xfrm>
            <a:off x="731520" y="2441448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redo-ic-1-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166" y="2584094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63040" y="239572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個人／家庭兩種模式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389120" y="2377440"/>
            <a:ext cx="704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功能一樣、各有基底與帳本；家庭的明細來自每個人自己選擇「併進家庭」的，個人照算、家庭也算</a:t>
            </a:r>
            <a:endParaRPr lang="en-US" sz="1300" dirty="0"/>
          </a:p>
        </p:txBody>
      </p:sp>
      <p:sp>
        <p:nvSpPr>
          <p:cNvPr id="13" name="redo-2"/>
          <p:cNvSpPr/>
          <p:nvPr/>
        </p:nvSpPr>
        <p:spPr>
          <a:xfrm>
            <a:off x="548640" y="3236976"/>
            <a:ext cx="11064240" cy="822960"/>
          </a:xfrm>
          <a:prstGeom prst="roundRect">
            <a:avLst>
              <a:gd name="adj" fmla="val 15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redo-ic-2-circle"/>
          <p:cNvSpPr/>
          <p:nvPr/>
        </p:nvSpPr>
        <p:spPr>
          <a:xfrm>
            <a:off x="731520" y="3374136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redo-ic-2-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166" y="3516782"/>
            <a:ext cx="263347" cy="26334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63040" y="3328416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家庭的初始化設定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4389120" y="3310128"/>
            <a:ext cx="704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建立的人先填家庭想存多少、收入怎麼估；AI 建議也能針對全家產生。家庭模式的主題每個人自己選</a:t>
            </a:r>
            <a:endParaRPr lang="en-US" sz="1300" dirty="0"/>
          </a:p>
        </p:txBody>
      </p:sp>
      <p:sp>
        <p:nvSpPr>
          <p:cNvPr id="18" name="redo-3"/>
          <p:cNvSpPr/>
          <p:nvPr/>
        </p:nvSpPr>
        <p:spPr>
          <a:xfrm>
            <a:off x="548640" y="4169664"/>
            <a:ext cx="11064240" cy="822960"/>
          </a:xfrm>
          <a:prstGeom prst="roundRect">
            <a:avLst>
              <a:gd name="adj" fmla="val 15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redo-ic-3-circle"/>
          <p:cNvSpPr/>
          <p:nvPr/>
        </p:nvSpPr>
        <p:spPr>
          <a:xfrm>
            <a:off x="731520" y="4306824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redo-ic-3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66" y="4449470"/>
            <a:ext cx="263347" cy="26334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463040" y="4261104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帳本只剩合併與刪除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4389120" y="4242816"/>
            <a:ext cx="704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一顆「開一本帳」；活動帳本可設存錢目標（綠光）、花費上限（紅光）與到期日，到期可合併或延長</a:t>
            </a:r>
            <a:endParaRPr lang="en-US" sz="1300" dirty="0"/>
          </a:p>
        </p:txBody>
      </p:sp>
      <p:sp>
        <p:nvSpPr>
          <p:cNvPr id="23" name="redo-4"/>
          <p:cNvSpPr/>
          <p:nvPr/>
        </p:nvSpPr>
        <p:spPr>
          <a:xfrm>
            <a:off x="548640" y="5102352"/>
            <a:ext cx="11064240" cy="822960"/>
          </a:xfrm>
          <a:prstGeom prst="roundRect">
            <a:avLst>
              <a:gd name="adj" fmla="val 15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redo-ic-4-circle"/>
          <p:cNvSpPr/>
          <p:nvPr/>
        </p:nvSpPr>
        <p:spPr>
          <a:xfrm>
            <a:off x="731520" y="5239512"/>
            <a:ext cx="548640" cy="54864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5" name="redo-ic-4-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166" y="5382158"/>
            <a:ext cx="263347" cy="263347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463040" y="5193792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每月自動打包</a:t>
            </a:r>
            <a:endParaRPr lang="en-US" sz="1700" dirty="0"/>
          </a:p>
        </p:txBody>
      </p:sp>
      <p:sp>
        <p:nvSpPr>
          <p:cNvPr id="27" name="Text 20"/>
          <p:cNvSpPr txBox="1"/>
          <p:nvPr/>
        </p:nvSpPr>
        <p:spPr>
          <a:xfrm>
            <a:off x="4389120" y="5175504"/>
            <a:ext cx="704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過去的月份收成一包：筆數、收入、支出合計，點開才看每一筆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1828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謝謝聆聽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154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chemeClr val="accent6"/>
                </a:solidFill>
              </a:rPr>
              <a:t>Q &amp; A</a:t>
            </a:r>
            <a:endParaRPr lang="en-US" sz="2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github.com/cbes502034/final_project　｜　fambudget-web.onrender.com</a:t>
            </a:r>
            <a:endParaRPr lang="en-US" sz="1600" dirty="0"/>
          </a:p>
        </p:txBody>
      </p:sp>
      <p:sp>
        <p:nvSpPr>
          <p:cNvPr id="5" name="qr-end-card"/>
          <p:cNvSpPr/>
          <p:nvPr/>
        </p:nvSpPr>
        <p:spPr>
          <a:xfrm>
            <a:off x="9464040" y="685800"/>
            <a:ext cx="2103120" cy="251460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qr-end" descr="C:\Users\User\Desktop\agent\final_project\report\assets\qr_s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822960"/>
            <a:ext cx="1737360" cy="1737360"/>
          </a:xfrm>
          <a:prstGeom prst="rect">
            <a:avLst/>
          </a:prstGeom>
        </p:spPr>
      </p:pic>
      <p:sp>
        <p:nvSpPr>
          <p:cNvPr id="7" name="qr-end-cap"/>
          <p:cNvSpPr/>
          <p:nvPr/>
        </p:nvSpPr>
        <p:spPr>
          <a:xfrm>
            <a:off x="9555480" y="258775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233F"/>
                </a:solidFill>
              </a:rPr>
              <a:t>掃描開啟網站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6233F"/>
                </a:solidFill>
              </a:rPr>
              <a:t>fambudget-web.onrender.com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mBudget">
  <a:themeElements>
    <a:clrScheme name="FamBudget">
      <a:dk1>
        <a:srgbClr val="16233F"/>
      </a:dk1>
      <a:lt1>
        <a:srgbClr val="FFFFFF"/>
      </a:lt1>
      <a:dk2>
        <a:srgbClr val="0B2A5B"/>
      </a:dk2>
      <a:lt2>
        <a:srgbClr val="EEF3FA"/>
      </a:lt2>
      <a:accent1>
        <a:srgbClr val="1F5FBF"/>
      </a:accent1>
      <a:accent2>
        <a:srgbClr val="13A07A"/>
      </a:accent2>
      <a:accent3>
        <a:srgbClr val="E8663D"/>
      </a:accent3>
      <a:accent4>
        <a:srgbClr val="F2B33D"/>
      </a:accent4>
      <a:accent5>
        <a:srgbClr val="6B7A99"/>
      </a:accent5>
      <a:accent6>
        <a:srgbClr val="9DBDF0"/>
      </a:accent6>
      <a:hlink>
        <a:srgbClr val="1F5FBF"/>
      </a:hlink>
      <a:folHlink>
        <a:srgbClr val="6B7A99"/>
      </a:folHlink>
    </a:clrScheme>
    <a:fontScheme name="FamBudget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家庭記帳 FamBudget 期末報告</dc:title>
  <dc:subject>PptxGenJS Presentation</dc:subject>
  <dc:creator>冠文、宇傑、明樺、囷洧</dc:creator>
  <cp:lastModifiedBy>冠文、宇傑、明樺、囷洧</cp:lastModifiedBy>
  <cp:revision>1</cp:revision>
  <dcterms:created xsi:type="dcterms:W3CDTF">2026-10-21T00:27:48Z</dcterms:created>
  <dcterms:modified xsi:type="dcterms:W3CDTF">2026-10-21T00:27:48Z</dcterms:modified>
</cp:coreProperties>
</file>